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Why this meeting is mandatory, what changes today: the OS is now how the practice works, not a pilot.</a:t>
            </a:r>
          </a:p>
          <a:p>
            <a:r>
              <a:t>One slide, no history lesson. Taha may be listening from a flight; do not hold for him.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Brass tacks. No vision statement; the vision lands through the narrative walk and the case studies.</a:t>
            </a:r>
          </a:p>
          <a:p>
            <a:r>
              <a:t>The third bullet is the frame for the whole session: the human owns what reaches a client.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Mike timekeeps. Hard 10-minute cap on each case study.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Assume nobody in the room has used Claude Code before, even if they have used Claude in a browser. Skip prerequisites; the PDF covered them and step zero was mandated.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one sentence each. The third one is what makes this different from "everyone gets a chatbot": the process is written down and the tool follows it, so the output comes up the same way regardless of who runs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Engagement types describe how work gets shaped. Most of the actual week is spent here, at the bench, with one specific piece of work in hand: a ticket, a draft, a question, a build.</a:t>
            </a:r>
          </a:p>
          <a:p>
            <a:r>
              <a:t>The four steps are the same whether the piece of work is a two-day assessment or a one-hour fix. The first one is the one people skip: bring the problem, not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for the person who has only ever used Claude or ChatGPT in a browser tab. The three differences that matter: it acts on files, it runs connectors, and it follows our written rules without being told.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CUE: do exactly these five steps on screen, slowly, in a client folder where session start has already been run once today so the second run is quick and predictable.</a:t>
            </a:r>
          </a:p>
          <a:p>
            <a:r>
              <a:t>Narrate what it reads while it runs: CONTEXT.md, the folder inventory, the account identity check, the tool check, the /rename suggestion.</a:t>
            </a:r>
          </a:p>
          <a:p>
            <a:r>
              <a:t>Fallback: walk CONTEXT.md in Explorer and describe what session start would have confirmed.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actual session on screen for each of the left-hand items while the demo from the previous slide is still running or just finished.</a:t>
            </a:r>
          </a:p>
          <a:p>
            <a:r>
              <a:t>The right-hand column is the mindset shift, and it is the one that decides who gets value out of this. Two failure modes to name out loud: the person who stares at the screen while it works, and the person who abandons the tool the first time a draft needs changes and does it by hand instead.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homework. Everyone brings one of their own clients into the OS by end of next week, which is also how the drive fills up with the practice's real book of work.</a:t>
            </a:r>
          </a:p>
          <a:p>
            <a:r>
              <a:t>For an old client, the setup interview asks about their historical folder under Power Cloud Project Folders and links it as read-only history rather than copying it over.</a:t>
            </a:r>
          </a:p>
          <a:p>
            <a:r>
              <a:t>The "what's your source" habit is the one that makes the answers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"Anybody continuing a conversation in that same folder will be talking to a being that understands it."</a:t>
            </a:r>
          </a:p>
          <a:p>
            <a:r>
              <a:t>CONTEXT.md is what makes a folder self-explaining: account IDs, sandbox refresh estimate, which connection was verified and when,</a:t>
            </a:r>
          </a:p>
          <a:p>
            <a:r>
              <a:t>engagement type, what was promised, contacts, dated decisions, open questions. A session reads it first, every time.</a:t>
            </a:r>
          </a:p>
          <a:p>
            <a:r>
              <a:t>working/ is not scratch paper. It is the record of how a conclusion was reached, and what makes a finding defensible months later.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The point for the room: the rules and the process are the thing we built. The model underneath will change.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skill is a written procedure that loads only when the work matches it, so the always-on rules stay short and the detailed procedure is in front of Claude exactly when it is needed.</a:t>
            </a:r>
          </a:p>
          <a:p>
            <a:r>
              <a:t>You never invoke one by name. Say what you need in plain English and the right one fires; the "fires when" column is what it is listening for.</a:t>
            </a:r>
          </a:p>
          <a:p>
            <a:r>
              <a:t>They live in one place at the root, carry a changelog, and anything several consultants run gets reviewed before it changes. Nothing client-specific is hard-coded into a skill; that lives in the client's CONTEXT.md.</a:t>
            </a:r>
          </a:p>
          <a:p>
            <a:r>
              <a:t>Developers: sdf-scaffold, sdf-deploy, execution and customization-docs are yours. Shopify's own seventeen skills are installed alongside rather than rewritten.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proof points fast, then move on. All four happened inside the OS, in client folders that exist on the drive today.</a:t>
            </a:r>
          </a:p>
          <a:p>
            <a:r>
              <a:t>The Shinesty discrepancy is the one that shows why we query the account instead of taking the call at face value.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ENGAGEMENT_LOG.md live if time allows: it answers "what is in flight" without opening ten folders.</a:t>
            </a:r>
          </a:p>
          <a:p>
            <a:r>
              <a:t>The counts are from the September 2 build; rerun python .claude/scripts/build_engagement_log.py before the meeting if you want them current.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minutes. This is the segment that hits home the most. Have the demo folder open in Explorer and a Claude Code session ready in it before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arc at this altitude first, then step through the stops on the following slides. Read the badges as who is acting: tool where Claude does the work, human where a person decides or signs, client where the customer has to act.</a:t>
            </a:r>
          </a:p>
          <a:p>
            <a:r>
              <a:t>The client here is a composite; the artifacts named in the right-hand column are the real ones the system writes. Put the demo folder's working/ on screen if you want to show those files exist.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8 to 12. Step 12 is the retro, and it is what stops the whole thing being twelve steps that produce the same quality forever.</a:t>
            </a:r>
          </a:p>
          <a:p>
            <a:r>
              <a:t>The next slides walk the stops in detail; if time is short, this pair of slides plus the six gates is the minimum.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option: show the folder you created for the demo client and the CONTEXT.md the setup interview produced.</a:t>
            </a:r>
          </a:p>
          <a:p>
            <a:r>
              <a:t>Adopting an in-flight project should take an hour, not a day.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of these involve other people and have lead time, which is why they all go out in one email at engagement start.</a:t>
            </a:r>
          </a:p>
          <a:p>
            <a:r>
              <a:t>Template: templates/engagement/access_and_consent_pack.md. The setup interview drafts it for you.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already ran session start live in section 01. Here, just recap what it confirmed and why the identity check matters: a connector has pointed at the wrong account before.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priority gap the roadmap keeps coming back to: discovery before the kickoff, not after.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slide. The read-only rule is the one that lets us ask for production access with a straight face.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 say when the interviews are done: "The interviews are complete. Produce the handover docs."</a:t>
            </a:r>
          </a:p>
          <a:p>
            <a:r>
              <a:t>Stage files load one at a time; the skill never works a stage without its file open. That is why the output is consistent across consultants.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discipline that separates a consultant's document from a transcription.</a:t>
            </a:r>
          </a:p>
          <a:p>
            <a:r>
              <a:t>Any number a person repeated casually (script counts, volumes, percentages) gets checked before it ships. The client's admin can check ours.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2 is where you do this: the complete candidate register, evidence log and verification log, before a word is drafted.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"Sprint Document" or "Work Item Document" promised to a client is the Assessment, not a fourth file.</a:t>
            </a:r>
          </a:p>
          <a:p>
            <a:r>
              <a:t>Triggers for the Use Case pair: new SuiteScripts, new custom applications, new integrations or flows. Not a custom field inside a larger configuration project.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 5 of the rules that never bend. This is also where the two-document pattern matters: the internal working files carry everything, the client file carries what you approved.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Developers: this is your slide. SDF by default, sdf-scaffold and sdf-deploy skills, ScriptReader for reading actual script bodies. Appendix has the detail.</a:t>
            </a:r>
          </a:p>
          <a:p>
            <a:r>
              <a:t>Announce the approval and dev-review gate as policy in effect by convention. Do NOT present it as mechanically enforced yet; the gate is not built.</a:t>
            </a:r>
          </a:p>
          <a:p>
            <a:r>
              <a:t>Support tickets run the same discipline in miniature: investigate, plan, approval, sandbox first.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process gets better every engagement instead of drifting. ENGAGEMENT_LOG shows the retro debt per client.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gates sit where the liability sits. Four in discovery, two per task in execution.</a:t>
            </a:r>
          </a:p>
          <a:p>
            <a:r>
              <a:t>The consultant is also in the loop between gates: the skill pauses and interviews you when it hits a material gap rather than writing a plausible sentence.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one-sentence version of the whole system, and it is the thing to say if someone asks "so what is actually different about this?"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rules are too important to leave as written instructions a session could talk itself past. These have mechanical backstops.</a:t>
            </a:r>
          </a:p>
          <a:p>
            <a:r>
              <a:t>The write guardrail keys off the connection name, not the session folder. That is why the "- Prod" / "- SB" naming matters.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Called out on its own because it is the OS feature most of the room will use most weeks. Five to seven minutes.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also triggers on "exec summary", "client status report", "biweekly customer update", or a customer name plus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here: the hours are not live. They are a snapshot taken Monday morning of whatever the team had logged in NetSuite by then. Two consequences to say out loud: log your time before Monday morning or it is invisible for a week, and read the as-of date on the page before quoting an hours number to a client.</a:t>
            </a:r>
          </a:p>
          <a:p>
            <a:r>
              <a:t>Announcement 4 lives here too. The per-client hours log was verified live on the August 24 Monday run, so say "live", not "rolling out".</a:t>
            </a:r>
          </a:p>
          <a:p>
            <a:r>
              <a:t>Full weeks beat a rolling fourteen days because consecutive summaries stay comparable and nothing falls in a gap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Announcement 2. The two-document split is the same pattern as an assessment: working/ carries everything, deliverables/ carries what you approved.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Asana stays the interim system of record until the work layer replaces it. The hygiene conventions are short; read them once.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CUE (optional): Teppermans Rapid Assessment has working/exec_summary_2026-08-28.md and deliverables/Teppermans_Executive_Summary_2026-08-28.docx.</a:t>
            </a:r>
          </a:p>
          <a:p>
            <a:r>
              <a:t>Do not run the summary live; it takes several minutes across five connectors. Show the pre-run pair instead.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off here. Presenters talk over their own client folder or deliverable; slides optional. Hard 10-minute cap, Mike timekeeps, two-minute warning at 8:00.</a:t>
            </a:r>
          </a:p>
          <a:p>
            <a:r>
              <a:t>Number 4 of the four questions is the one the room remembers: hours, days, the thing that would not have been caught, the client's reaction.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minutes for all six, in this order. The move to the new shared drive is not announced: nobody outside the pilot team knew the old location, and the pilot team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Item 3: announce as policy by convention. Do NOT present it as mechanically enforced; the gate is not built yet.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Item 4: the per-client hours log was verified live on the Aug 24 run, so "live" is accurate.</a:t>
            </a:r>
          </a:p>
          <a:p>
            <a:r>
              <a:t>Item 5: FEEDBACK.md at the root currently shows two open entries, both from Justin. A folder dominated by one name says more about who is not reporting than about what is broken.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ask, not on questions trailing off. Then open the floor.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floor. Appendix slides follow for anything that comes up: the function menu, session habits, prompting patterns, the developer view, gotchas, the rules.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your way; the skills carry the process. These are starting points.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 9's habit: when a claim smells off, ask "what's your source?" and make it trace the answer back.</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Part 4 of the how-to guide.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PROMPT_PATTERNS.md at the root. Written down because they were expensive to learn.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Scripting is worth mentioning, not the focus. Point developers to the execution, sdf-scaffold, sdf-deploy and customization-docs skills.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8 of the how-to guide.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of the how-to guide.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56032"/>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10332720" cy="3108960"/>
          </a:xfrm>
          <a:prstGeom prst="rect">
            <a:avLst/>
          </a:prstGeom>
          <a:noFill/>
        </p:spPr>
        <p:txBody>
          <a:bodyPr wrap="square" anchor="t" lIns="45720" rIns="45720" tIns="18288" bIns="18288">
            <a:spAutoFit/>
          </a:bodyPr>
          <a:lstStyle/>
          <a:p>
            <a:r>
              <a:rPr sz="4400" b="1" i="0">
                <a:solidFill>
                  <a:srgbClr val="FFFFFF"/>
                </a:solidFill>
                <a:latin typeface="Montserrat"/>
                <a:cs typeface="Montserrat"/>
              </a:rPr>
              <a:t>PowerCloud Roll Out</a:t>
            </a:r>
          </a:p>
          <a:p>
            <a:pPr>
              <a:spcBef>
                <a:spcPts val="1400"/>
              </a:spcBef>
            </a:pPr>
            <a:r>
              <a:rPr sz="2200" b="1" i="0">
                <a:solidFill>
                  <a:srgbClr val="31A4F3"/>
                </a:solidFill>
                <a:latin typeface="Montserrat"/>
                <a:cs typeface="Montserrat"/>
              </a:rPr>
              <a:t>How the practice works now: the Power Cloud OS</a:t>
            </a:r>
          </a:p>
          <a:p>
            <a:pPr>
              <a:spcBef>
                <a:spcPts val="800"/>
              </a:spcBef>
            </a:pPr>
            <a:r>
              <a:rPr sz="1600" b="0" i="0">
                <a:solidFill>
                  <a:srgbClr val="FFFFFF"/>
                </a:solidFill>
                <a:latin typeface="Barlow"/>
                <a:cs typeface="Barlow"/>
              </a:rPr>
              <a:t>All-hands, Thursday, September 3, 2026</a:t>
            </a:r>
          </a:p>
          <a:p>
            <a:pPr>
              <a:spcBef>
                <a:spcPts val="800"/>
              </a:spcBef>
            </a:pPr>
            <a:r>
              <a:rPr sz="1600" b="0" i="0">
                <a:solidFill>
                  <a:srgbClr val="FFFFFF"/>
                </a:solidFill>
                <a:latin typeface="Barlow"/>
                <a:cs typeface="Barlow"/>
              </a:rPr>
              <a:t>Internal. Client names are fine in this room.</a:t>
            </a:r>
          </a:p>
        </p:txBody>
      </p:sp>
      <p:sp>
        <p:nvSpPr>
          <p:cNvPr id="5" name="Rectangle 4"/>
          <p:cNvSpPr/>
          <p:nvPr/>
        </p:nvSpPr>
        <p:spPr>
          <a:xfrm>
            <a:off x="0" y="5760720"/>
            <a:ext cx="12191695" cy="1097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owercloud_Logo-01.png"/>
          <p:cNvPicPr>
            <a:picLocks noChangeAspect="1"/>
          </p:cNvPicPr>
          <p:nvPr/>
        </p:nvPicPr>
        <p:blipFill>
          <a:blip r:embed="rId2"/>
          <a:stretch>
            <a:fillRect/>
          </a:stretch>
        </p:blipFill>
        <p:spPr>
          <a:xfrm>
            <a:off x="10225833" y="5897880"/>
            <a:ext cx="1234341" cy="8229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Why this meeting is mandatory</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800" b="1" i="0">
                <a:solidFill>
                  <a:srgbClr val="31A4F3"/>
                </a:solidFill>
                <a:latin typeface="Barlow"/>
                <a:cs typeface="Barlow"/>
              </a:rPr>
              <a:t>▪  </a:t>
            </a:r>
            <a:r>
              <a:rPr sz="1800" b="0" i="0">
                <a:solidFill>
                  <a:srgbClr val="1E1E1E"/>
                </a:solidFill>
                <a:latin typeface="Barlow"/>
                <a:cs typeface="Barlow"/>
              </a:rPr>
              <a:t>Today the OS stops being a pilot. From here on it is how Power Cloud does client work: assessments, implementations, builds, support tickets, status reporting, data work.</a:t>
            </a:r>
          </a:p>
          <a:p>
            <a:pPr>
              <a:lnSpc>
                <a:spcPct val="106000"/>
              </a:lnSpc>
              <a:spcAft>
                <a:spcPts val="800"/>
              </a:spcAft>
            </a:pPr>
            <a:r>
              <a:rPr sz="1800" b="1" i="0">
                <a:solidFill>
                  <a:srgbClr val="31A4F3"/>
                </a:solidFill>
                <a:latin typeface="Barlow"/>
                <a:cs typeface="Barlow"/>
              </a:rPr>
              <a:t>▪  </a:t>
            </a:r>
            <a:r>
              <a:rPr sz="1800" b="0" i="0">
                <a:solidFill>
                  <a:srgbClr val="1E1E1E"/>
                </a:solidFill>
                <a:latin typeface="Barlow"/>
                <a:cs typeface="Barlow"/>
              </a:rPr>
              <a:t>You leave knowing what it does end to end, having watched colleagues show real work with it, and knowing exactly what you are expected to do next week.</a:t>
            </a:r>
          </a:p>
          <a:p>
            <a:pPr>
              <a:lnSpc>
                <a:spcPct val="106000"/>
              </a:lnSpc>
              <a:spcAft>
                <a:spcPts val="800"/>
              </a:spcAft>
            </a:pPr>
            <a:r>
              <a:rPr sz="1800" b="1" i="0">
                <a:solidFill>
                  <a:srgbClr val="31A4F3"/>
                </a:solidFill>
                <a:latin typeface="Barlow"/>
                <a:cs typeface="Barlow"/>
              </a:rPr>
              <a:t>▪  </a:t>
            </a:r>
            <a:r>
              <a:rPr sz="1800" b="0" i="0">
                <a:solidFill>
                  <a:srgbClr val="1E1E1E"/>
                </a:solidFill>
                <a:latin typeface="Barlow"/>
                <a:cs typeface="Barlow"/>
              </a:rPr>
              <a:t>What stays with you: judgment, proofreading, the numbers, the client relationship. What moves to the tool: the typing and the memory.</a:t>
            </a:r>
          </a:p>
        </p:txBody>
      </p:sp>
      <p:sp>
        <p:nvSpPr>
          <p:cNvPr id="7" name="Rounded Rectangle 6"/>
          <p:cNvSpPr/>
          <p:nvPr/>
        </p:nvSpPr>
        <p:spPr>
          <a:xfrm>
            <a:off x="640080" y="5440680"/>
            <a:ext cx="10881360" cy="8686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90 minutes: the system, one engagement end to end, the case studies, six announcements, one ask.</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Run of show</a:t>
            </a:r>
          </a:p>
        </p:txBody>
      </p:sp>
      <p:graphicFrame>
        <p:nvGraphicFramePr>
          <p:cNvPr id="6" name="Table 5"/>
          <p:cNvGraphicFramePr>
            <a:graphicFrameLocks noGrp="1"/>
          </p:cNvGraphicFramePr>
          <p:nvPr/>
        </p:nvGraphicFramePr>
        <p:xfrm>
          <a:off x="640080" y="1417320"/>
          <a:ext cx="10881360" cy="4617718"/>
        </p:xfrm>
        <a:graphic>
          <a:graphicData uri="http://schemas.openxmlformats.org/drawingml/2006/table">
            <a:tbl>
              <a:tblPr firstRow="1" bandRow="0"/>
              <a:tblGrid>
                <a:gridCol w="1097280"/>
                <a:gridCol w="7498080"/>
                <a:gridCol w="2286000"/>
              </a:tblGrid>
              <a:tr h="659674">
                <a:tc>
                  <a:txBody>
                    <a:bodyPr/>
                    <a:lstStyle/>
                    <a:p>
                      <a:r>
                        <a:rPr sz="1250" b="1" i="0">
                          <a:solidFill>
                            <a:srgbClr val="FFFFFF"/>
                          </a:solidFill>
                          <a:latin typeface="Montserrat"/>
                          <a:cs typeface="Montserrat"/>
                        </a:rPr>
                        <a:t>Time</a:t>
                      </a:r>
                    </a:p>
                  </a:txBody>
                  <a:tcPr marL="91440" marR="91440" marT="36576" marB="36576" anchor="ctr">
                    <a:solidFill>
                      <a:srgbClr val="002F59"/>
                    </a:solidFill>
                  </a:tcPr>
                </a:tc>
                <a:tc>
                  <a:txBody>
                    <a:bodyPr/>
                    <a:lstStyle/>
                    <a:p>
                      <a:r>
                        <a:rPr sz="1250" b="1" i="0">
                          <a:solidFill>
                            <a:srgbClr val="FFFFFF"/>
                          </a:solidFill>
                          <a:latin typeface="Montserrat"/>
                          <a:cs typeface="Montserrat"/>
                        </a:rPr>
                        <a:t>Segment</a:t>
                      </a:r>
                    </a:p>
                  </a:txBody>
                  <a:tcPr marL="91440" marR="91440" marT="36576" marB="36576" anchor="ctr">
                    <a:solidFill>
                      <a:srgbClr val="002F59"/>
                    </a:solidFill>
                  </a:tcPr>
                </a:tc>
                <a:tc>
                  <a:txBody>
                    <a:bodyPr/>
                    <a:lstStyle/>
                    <a:p>
                      <a:r>
                        <a:rPr sz="1250" b="1" i="0">
                          <a:solidFill>
                            <a:srgbClr val="FFFFFF"/>
                          </a:solidFill>
                          <a:latin typeface="Montserrat"/>
                          <a:cs typeface="Montserrat"/>
                        </a:rPr>
                        <a:t>Who</a:t>
                      </a:r>
                    </a:p>
                  </a:txBody>
                  <a:tcPr marL="91440" marR="91440" marT="36576" marB="36576" anchor="ctr">
                    <a:solidFill>
                      <a:srgbClr val="002F59"/>
                    </a:solidFill>
                  </a:tcPr>
                </a:tc>
              </a:tr>
              <a:tr h="659674">
                <a:tc>
                  <a:txBody>
                    <a:bodyPr/>
                    <a:lstStyle/>
                    <a:p>
                      <a:pPr>
                        <a:lnSpc>
                          <a:spcPct val="105000"/>
                        </a:lnSpc>
                      </a:pPr>
                      <a:r>
                        <a:rPr sz="1250" b="1" i="0">
                          <a:solidFill>
                            <a:srgbClr val="1E1E1E"/>
                          </a:solidFill>
                          <a:latin typeface="Barlow"/>
                          <a:cs typeface="Barlow"/>
                        </a:rPr>
                        <a:t>0:00</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Open. What changes today.</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Mike</a:t>
                      </a:r>
                    </a:p>
                  </a:txBody>
                  <a:tcPr marL="91440" marR="91440" marT="36576" marB="36576" anchor="ctr">
                    <a:solidFill>
                      <a:srgbClr val="EAF4FC"/>
                    </a:solidFill>
                  </a:tcPr>
                </a:tc>
              </a:tr>
              <a:tr h="659674">
                <a:tc>
                  <a:txBody>
                    <a:bodyPr/>
                    <a:lstStyle/>
                    <a:p>
                      <a:pPr>
                        <a:lnSpc>
                          <a:spcPct val="105000"/>
                        </a:lnSpc>
                      </a:pPr>
                      <a:r>
                        <a:rPr sz="1250" b="1" i="0">
                          <a:solidFill>
                            <a:srgbClr val="1E1E1E"/>
                          </a:solidFill>
                          <a:latin typeface="Barlow"/>
                          <a:cs typeface="Barlow"/>
                        </a:rPr>
                        <a:t>0:05</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What the OS is, how you get in, and your first session in Claude Code. Live on screen.</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Mike</a:t>
                      </a:r>
                    </a:p>
                  </a:txBody>
                  <a:tcPr marL="91440" marR="91440" marT="36576" marB="36576" anchor="ctr">
                    <a:solidFill>
                      <a:srgbClr val="FFFFFF"/>
                    </a:solidFill>
                  </a:tcPr>
                </a:tc>
              </a:tr>
              <a:tr h="659674">
                <a:tc>
                  <a:txBody>
                    <a:bodyPr/>
                    <a:lstStyle/>
                    <a:p>
                      <a:pPr>
                        <a:lnSpc>
                          <a:spcPct val="105000"/>
                        </a:lnSpc>
                      </a:pPr>
                      <a:r>
                        <a:rPr sz="1250" b="1" i="0">
                          <a:solidFill>
                            <a:srgbClr val="1E1E1E"/>
                          </a:solidFill>
                          <a:latin typeface="Barlow"/>
                          <a:cs typeface="Barlow"/>
                        </a:rPr>
                        <a:t>0:17</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What it has already done, then one engagement end to end with a real folder on screen.</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Mike</a:t>
                      </a:r>
                    </a:p>
                  </a:txBody>
                  <a:tcPr marL="91440" marR="91440" marT="36576" marB="36576" anchor="ctr">
                    <a:solidFill>
                      <a:srgbClr val="EAF4FC"/>
                    </a:solidFill>
                  </a:tcPr>
                </a:tc>
              </a:tr>
              <a:tr h="659674">
                <a:tc>
                  <a:txBody>
                    <a:bodyPr/>
                    <a:lstStyle/>
                    <a:p>
                      <a:pPr>
                        <a:lnSpc>
                          <a:spcPct val="105000"/>
                        </a:lnSpc>
                      </a:pPr>
                      <a:r>
                        <a:rPr sz="1250" b="1" i="0">
                          <a:solidFill>
                            <a:srgbClr val="1E1E1E"/>
                          </a:solidFill>
                          <a:latin typeface="Barlow"/>
                          <a:cs typeface="Barlow"/>
                        </a:rPr>
                        <a:t>0:40</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Case studies, ten minutes each. Real PS work, one client, one problem. Mike hands off.</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Imran, Justin</a:t>
                      </a:r>
                    </a:p>
                  </a:txBody>
                  <a:tcPr marL="91440" marR="91440" marT="36576" marB="36576" anchor="ctr">
                    <a:solidFill>
                      <a:srgbClr val="FFFFFF"/>
                    </a:solidFill>
                  </a:tcPr>
                </a:tc>
              </a:tr>
              <a:tr h="659674">
                <a:tc>
                  <a:txBody>
                    <a:bodyPr/>
                    <a:lstStyle/>
                    <a:p>
                      <a:pPr>
                        <a:lnSpc>
                          <a:spcPct val="105000"/>
                        </a:lnSpc>
                      </a:pPr>
                      <a:r>
                        <a:rPr sz="1250" b="1" i="0">
                          <a:solidFill>
                            <a:srgbClr val="1E1E1E"/>
                          </a:solidFill>
                          <a:latin typeface="Barlow"/>
                          <a:cs typeface="Barlow"/>
                        </a:rPr>
                        <a:t>1:10</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Six announcements.</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Mike</a:t>
                      </a:r>
                    </a:p>
                  </a:txBody>
                  <a:tcPr marL="91440" marR="91440" marT="36576" marB="36576" anchor="ctr">
                    <a:solidFill>
                      <a:srgbClr val="EAF4FC"/>
                    </a:solidFill>
                  </a:tcPr>
                </a:tc>
              </a:tr>
              <a:tr h="659674">
                <a:tc>
                  <a:txBody>
                    <a:bodyPr/>
                    <a:lstStyle/>
                    <a:p>
                      <a:pPr>
                        <a:lnSpc>
                          <a:spcPct val="105000"/>
                        </a:lnSpc>
                      </a:pPr>
                      <a:r>
                        <a:rPr sz="1250" b="1" i="0">
                          <a:solidFill>
                            <a:srgbClr val="1E1E1E"/>
                          </a:solidFill>
                          <a:latin typeface="Barlow"/>
                          <a:cs typeface="Barlow"/>
                        </a:rPr>
                        <a:t>1:22</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The ask, then open floor.</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Mike</a:t>
                      </a:r>
                    </a:p>
                  </a:txBody>
                  <a:tcPr marL="91440" marR="91440" marT="36576" marB="36576" anchor="ctr">
                    <a:solidFill>
                      <a:srgbClr val="FFFFFF"/>
                    </a:solidFill>
                  </a:tcPr>
                </a:tc>
              </a:tr>
            </a:tbl>
          </a:graphicData>
        </a:graphic>
      </p:graphicFrame>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058400" cy="914400"/>
          </a:xfrm>
          <a:prstGeom prst="rect">
            <a:avLst/>
          </a:prstGeom>
          <a:noFill/>
        </p:spPr>
        <p:txBody>
          <a:bodyPr wrap="square" anchor="t" lIns="45720" rIns="45720" tIns="18288" bIns="18288">
            <a:spAutoFit/>
          </a:bodyPr>
          <a:lstStyle/>
          <a:p>
            <a:r>
              <a:rPr sz="6000" b="1" i="0">
                <a:solidFill>
                  <a:srgbClr val="31A4F3"/>
                </a:solidFill>
                <a:latin typeface="Montserrat"/>
                <a:cs typeface="Montserrat"/>
              </a:rPr>
              <a:t>01</a:t>
            </a:r>
          </a:p>
        </p:txBody>
      </p:sp>
      <p:sp>
        <p:nvSpPr>
          <p:cNvPr id="5" name="TextBox 4"/>
          <p:cNvSpPr txBox="1"/>
          <p:nvPr/>
        </p:nvSpPr>
        <p:spPr>
          <a:xfrm>
            <a:off x="914400" y="2651760"/>
            <a:ext cx="10058400" cy="2286000"/>
          </a:xfrm>
          <a:prstGeom prst="rect">
            <a:avLst/>
          </a:prstGeom>
          <a:noFill/>
        </p:spPr>
        <p:txBody>
          <a:bodyPr wrap="square" anchor="t" lIns="45720" rIns="45720" tIns="18288" bIns="18288">
            <a:spAutoFit/>
          </a:bodyPr>
          <a:lstStyle/>
          <a:p>
            <a:r>
              <a:rPr sz="4000" b="1" i="0">
                <a:solidFill>
                  <a:srgbClr val="FFFFFF"/>
                </a:solidFill>
                <a:latin typeface="Montserrat"/>
                <a:cs typeface="Montserrat"/>
              </a:rPr>
              <a:t>What the Power Cloud OS is, and how you get in</a:t>
            </a:r>
          </a:p>
          <a:p>
            <a:pPr>
              <a:spcBef>
                <a:spcPts val="1400"/>
              </a:spcBef>
            </a:pPr>
            <a:r>
              <a:rPr sz="1800" b="0" i="0">
                <a:solidFill>
                  <a:srgbClr val="FFFFFF"/>
                </a:solidFill>
                <a:latin typeface="Barlow"/>
                <a:cs typeface="Barlow"/>
              </a:rPr>
              <a:t>For anyone opening Claude Code for the first time. The how-to PDF covered setup; this is the part after setup.</a:t>
            </a:r>
          </a:p>
        </p:txBody>
      </p:sp>
      <p:sp>
        <p:nvSpPr>
          <p:cNvPr id="6" name="Rounded Rectangle 5"/>
          <p:cNvSpPr/>
          <p:nvPr/>
        </p:nvSpPr>
        <p:spPr>
          <a:xfrm>
            <a:off x="9814255" y="5806440"/>
            <a:ext cx="20116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wercloud_Logo-01.png"/>
          <p:cNvPicPr>
            <a:picLocks noChangeAspect="1"/>
          </p:cNvPicPr>
          <p:nvPr/>
        </p:nvPicPr>
        <p:blipFill>
          <a:blip r:embed="rId2"/>
          <a:stretch>
            <a:fillRect/>
          </a:stretch>
        </p:blipFill>
        <p:spPr>
          <a:xfrm>
            <a:off x="9997135" y="5646376"/>
            <a:ext cx="1645920" cy="109736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OS is three things. You touch two of them.</a:t>
            </a:r>
          </a:p>
        </p:txBody>
      </p:sp>
      <p:sp>
        <p:nvSpPr>
          <p:cNvPr id="6" name="Rounded Rectangle 5"/>
          <p:cNvSpPr/>
          <p:nvPr/>
        </p:nvSpPr>
        <p:spPr>
          <a:xfrm>
            <a:off x="640080" y="1417320"/>
            <a:ext cx="344424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344424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37360"/>
            <a:ext cx="344424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17320"/>
            <a:ext cx="316992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A shared drive of client folders</a:t>
            </a:r>
          </a:p>
        </p:txBody>
      </p:sp>
      <p:sp>
        <p:nvSpPr>
          <p:cNvPr id="10" name="TextBox 9"/>
          <p:cNvSpPr txBox="1"/>
          <p:nvPr/>
        </p:nvSpPr>
        <p:spPr>
          <a:xfrm>
            <a:off x="804671" y="2194560"/>
            <a:ext cx="3115056" cy="2697480"/>
          </a:xfrm>
          <a:prstGeom prst="rect">
            <a:avLst/>
          </a:prstGeom>
          <a:noFill/>
        </p:spPr>
        <p:txBody>
          <a:bodyPr wrap="square" anchor="t" lIns="45720" rIns="45720" tIns="18288" bIns="18288">
            <a:spAutoFit/>
          </a:bodyPr>
          <a:lstStyle/>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G:\Shared drives\Power Cloud OS. One folder per client, the same shape every time.</a:t>
            </a:r>
          </a:p>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Everything about a client lives in their folder. That folder is the memory.</a:t>
            </a:r>
          </a:p>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You work here every day.</a:t>
            </a:r>
          </a:p>
        </p:txBody>
      </p:sp>
      <p:sp>
        <p:nvSpPr>
          <p:cNvPr id="11" name="Rounded Rectangle 10"/>
          <p:cNvSpPr/>
          <p:nvPr/>
        </p:nvSpPr>
        <p:spPr>
          <a:xfrm>
            <a:off x="4358640" y="1417320"/>
            <a:ext cx="344424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58640" y="1417320"/>
            <a:ext cx="3444240" cy="6400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737360"/>
            <a:ext cx="3444240" cy="32004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5800" y="1417320"/>
            <a:ext cx="316992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Claude Code, opened inside a folder</a:t>
            </a:r>
          </a:p>
        </p:txBody>
      </p:sp>
      <p:sp>
        <p:nvSpPr>
          <p:cNvPr id="15" name="TextBox 14"/>
          <p:cNvSpPr txBox="1"/>
          <p:nvPr/>
        </p:nvSpPr>
        <p:spPr>
          <a:xfrm>
            <a:off x="4523232" y="2194560"/>
            <a:ext cx="3115056" cy="2697480"/>
          </a:xfrm>
          <a:prstGeom prst="rect">
            <a:avLst/>
          </a:prstGeom>
          <a:noFill/>
        </p:spPr>
        <p:txBody>
          <a:bodyPr wrap="square" anchor="t" lIns="45720" rIns="45720" tIns="18288" bIns="18288">
            <a:spAutoFit/>
          </a:bodyPr>
          <a:lstStyle/>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The Code tab of the Claude desktop app. A chat attached to a folder: it reads and writes the files there, runs tools, and connects to NetSuite, Asana, Gmail and Drive.</a:t>
            </a:r>
          </a:p>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You talk to it in plain English. It does the typing and the digging.</a:t>
            </a:r>
          </a:p>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You work here every day.</a:t>
            </a:r>
          </a:p>
        </p:txBody>
      </p:sp>
      <p:sp>
        <p:nvSpPr>
          <p:cNvPr id="16" name="Rounded Rectangle 15"/>
          <p:cNvSpPr/>
          <p:nvPr/>
        </p:nvSpPr>
        <p:spPr>
          <a:xfrm>
            <a:off x="8077200" y="1417320"/>
            <a:ext cx="344424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77200" y="1417320"/>
            <a:ext cx="3444240" cy="640080"/>
          </a:xfrm>
          <a:prstGeom prst="roundRect">
            <a:avLst>
              <a:gd name="adj" fmla="val 8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7200" y="1737360"/>
            <a:ext cx="3444240" cy="3200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4360" y="1417320"/>
            <a:ext cx="316992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The written-down way we work</a:t>
            </a:r>
          </a:p>
        </p:txBody>
      </p:sp>
      <p:sp>
        <p:nvSpPr>
          <p:cNvPr id="20" name="TextBox 19"/>
          <p:cNvSpPr txBox="1"/>
          <p:nvPr/>
        </p:nvSpPr>
        <p:spPr>
          <a:xfrm>
            <a:off x="8241792" y="2194560"/>
            <a:ext cx="3115056" cy="2697480"/>
          </a:xfrm>
          <a:prstGeom prst="rect">
            <a:avLst/>
          </a:prstGeom>
          <a:noFill/>
        </p:spPr>
        <p:txBody>
          <a:bodyPr wrap="square" anchor="t" lIns="45720" rIns="45720" tIns="18288" bIns="18288">
            <a:spAutoFit/>
          </a:bodyPr>
          <a:lstStyle/>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Playbooks, writing standards, checklists, skills: markdown files at the root of the drive.</a:t>
            </a:r>
          </a:p>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Claude reads them automatically at the start of every session and stays inside their rules on its own.</a:t>
            </a:r>
          </a:p>
          <a:p>
            <a:pPr>
              <a:lnSpc>
                <a:spcPct val="106000"/>
              </a:lnSpc>
              <a:spcAft>
                <a:spcPts val="500"/>
              </a:spcAft>
            </a:pPr>
            <a:r>
              <a:rPr sz="1300" b="1" i="0">
                <a:solidFill>
                  <a:srgbClr val="31A4F3"/>
                </a:solidFill>
                <a:latin typeface="Barlow"/>
                <a:cs typeface="Barlow"/>
              </a:rPr>
              <a:t>▪  </a:t>
            </a:r>
            <a:r>
              <a:rPr sz="1300" b="0" i="0">
                <a:solidFill>
                  <a:srgbClr val="1E1E1E"/>
                </a:solidFill>
                <a:latin typeface="Barlow"/>
                <a:cs typeface="Barlow"/>
              </a:rPr>
              <a:t>You never need to open them.</a:t>
            </a:r>
          </a:p>
        </p:txBody>
      </p:sp>
      <p:sp>
        <p:nvSpPr>
          <p:cNvPr id="21" name="Rounded Rectangle 20"/>
          <p:cNvSpPr/>
          <p:nvPr/>
        </p:nvSpPr>
        <p:spPr>
          <a:xfrm>
            <a:off x="640080" y="5212080"/>
            <a:ext cx="10881360" cy="1005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Plainly: open Claude Code in a client's folder and say what you need. Everything else is machinery to make that safe and consistent.</a:t>
            </a:r>
          </a:p>
        </p:txBody>
      </p:sp>
      <p:sp>
        <p:nvSpPr>
          <p:cNvPr id="22" name="Rectangle 21"/>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4" name="TextBox 23"/>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At the workbench: the habit is the same every time</a:t>
            </a:r>
          </a:p>
        </p:txBody>
      </p:sp>
      <p:sp>
        <p:nvSpPr>
          <p:cNvPr id="6" name="Rounded Rectangle 5"/>
          <p:cNvSpPr/>
          <p:nvPr/>
        </p:nvSpPr>
        <p:spPr>
          <a:xfrm>
            <a:off x="640080" y="1417320"/>
            <a:ext cx="2548890" cy="233172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1</a:t>
            </a:r>
          </a:p>
        </p:txBody>
      </p:sp>
      <p:sp>
        <p:nvSpPr>
          <p:cNvPr id="8" name="TextBox 7"/>
          <p:cNvSpPr txBox="1"/>
          <p:nvPr/>
        </p:nvSpPr>
        <p:spPr>
          <a:xfrm>
            <a:off x="777240" y="2103120"/>
            <a:ext cx="2274570" cy="1554479"/>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Brainstorm</a:t>
            </a:r>
          </a:p>
          <a:p>
            <a:pPr>
              <a:lnSpc>
                <a:spcPct val="105000"/>
              </a:lnSpc>
              <a:spcBef>
                <a:spcPts val="400"/>
              </a:spcBef>
            </a:pPr>
            <a:r>
              <a:rPr sz="1300" b="0" i="0">
                <a:solidFill>
                  <a:srgbClr val="1E1E1E"/>
                </a:solidFill>
                <a:latin typeface="Barlow"/>
                <a:cs typeface="Barlow"/>
              </a:rPr>
              <a:t>Bring the problem and the constraint, not a preferred answer. Naming a solution up front is how you lose the second option.</a:t>
            </a:r>
          </a:p>
        </p:txBody>
      </p:sp>
      <p:sp>
        <p:nvSpPr>
          <p:cNvPr id="9" name="Rounded Rectangle 8"/>
          <p:cNvSpPr/>
          <p:nvPr/>
        </p:nvSpPr>
        <p:spPr>
          <a:xfrm>
            <a:off x="3417570" y="1417320"/>
            <a:ext cx="2548890" cy="233172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54729"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2</a:t>
            </a:r>
          </a:p>
        </p:txBody>
      </p:sp>
      <p:sp>
        <p:nvSpPr>
          <p:cNvPr id="11" name="TextBox 10"/>
          <p:cNvSpPr txBox="1"/>
          <p:nvPr/>
        </p:nvSpPr>
        <p:spPr>
          <a:xfrm>
            <a:off x="3554729" y="2103120"/>
            <a:ext cx="2274570" cy="1554479"/>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Plan</a:t>
            </a:r>
          </a:p>
          <a:p>
            <a:pPr>
              <a:lnSpc>
                <a:spcPct val="105000"/>
              </a:lnSpc>
              <a:spcBef>
                <a:spcPts val="400"/>
              </a:spcBef>
            </a:pPr>
            <a:r>
              <a:rPr sz="1300" b="0" i="0">
                <a:solidFill>
                  <a:srgbClr val="1E1E1E"/>
                </a:solidFill>
                <a:latin typeface="Barlow"/>
                <a:cs typeface="Barlow"/>
              </a:rPr>
              <a:t>Nothing gets built without a written plan: approach, assumptions, and what will be tested to prove them. House policy, not preference.</a:t>
            </a:r>
          </a:p>
        </p:txBody>
      </p:sp>
      <p:sp>
        <p:nvSpPr>
          <p:cNvPr id="12" name="Rounded Rectangle 11"/>
          <p:cNvSpPr/>
          <p:nvPr/>
        </p:nvSpPr>
        <p:spPr>
          <a:xfrm>
            <a:off x="6195060" y="1417320"/>
            <a:ext cx="2548890" cy="233172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32220"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3</a:t>
            </a:r>
          </a:p>
        </p:txBody>
      </p:sp>
      <p:sp>
        <p:nvSpPr>
          <p:cNvPr id="14" name="TextBox 13"/>
          <p:cNvSpPr txBox="1"/>
          <p:nvPr/>
        </p:nvSpPr>
        <p:spPr>
          <a:xfrm>
            <a:off x="6332220" y="2103120"/>
            <a:ext cx="2274570" cy="1554479"/>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Execute</a:t>
            </a:r>
          </a:p>
          <a:p>
            <a:pPr>
              <a:lnSpc>
                <a:spcPct val="105000"/>
              </a:lnSpc>
              <a:spcBef>
                <a:spcPts val="400"/>
              </a:spcBef>
            </a:pPr>
            <a:r>
              <a:rPr sz="1300" b="0" i="0">
                <a:solidFill>
                  <a:srgbClr val="1E1E1E"/>
                </a:solidFill>
                <a:latin typeface="Barlow"/>
                <a:cs typeface="Barlow"/>
              </a:rPr>
              <a:t>Sandbox first, version-controlled, with a human at the plan and again at production.</a:t>
            </a:r>
          </a:p>
        </p:txBody>
      </p:sp>
      <p:sp>
        <p:nvSpPr>
          <p:cNvPr id="15" name="Rounded Rectangle 14"/>
          <p:cNvSpPr/>
          <p:nvPr/>
        </p:nvSpPr>
        <p:spPr>
          <a:xfrm>
            <a:off x="8972550" y="1417320"/>
            <a:ext cx="2548890" cy="233172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09710"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4</a:t>
            </a:r>
          </a:p>
        </p:txBody>
      </p:sp>
      <p:sp>
        <p:nvSpPr>
          <p:cNvPr id="17" name="TextBox 16"/>
          <p:cNvSpPr txBox="1"/>
          <p:nvPr/>
        </p:nvSpPr>
        <p:spPr>
          <a:xfrm>
            <a:off x="9109710" y="2103120"/>
            <a:ext cx="2274570" cy="1554479"/>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Deliver</a:t>
            </a:r>
          </a:p>
          <a:p>
            <a:pPr>
              <a:lnSpc>
                <a:spcPct val="105000"/>
              </a:lnSpc>
              <a:spcBef>
                <a:spcPts val="400"/>
              </a:spcBef>
            </a:pPr>
            <a:r>
              <a:rPr sz="1300" b="0" i="0">
                <a:solidFill>
                  <a:srgbClr val="1E1E1E"/>
                </a:solidFill>
                <a:latin typeface="Barlow"/>
                <a:cs typeface="Barlow"/>
              </a:rPr>
              <a:t>The artifact renders from the same folder, branded, and every client-facing sentence gets human eyes before it leaves.</a:t>
            </a:r>
          </a:p>
        </p:txBody>
      </p:sp>
      <p:sp>
        <p:nvSpPr>
          <p:cNvPr id="18" name="Rounded Rectangle 17"/>
          <p:cNvSpPr/>
          <p:nvPr/>
        </p:nvSpPr>
        <p:spPr>
          <a:xfrm>
            <a:off x="640080" y="4023360"/>
            <a:ext cx="10881360" cy="1371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Anything to be strategized, planned or executed starts by opening Claude inside that customer's folder. Brainstorm there, plan there, build and deliver from there. There is no thinking tool and a separate doing tool, and no point where work leaves the folder to happen somewhere else. That is what makes the folder worth treating as the memory.</a:t>
            </a:r>
          </a:p>
        </p:txBody>
      </p:sp>
      <p:sp>
        <p:nvSpPr>
          <p:cNvPr id="19" name="Rectangle 18"/>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1" name="TextBox 20"/>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If this is your first time in Claude Code</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500" b="1" i="0">
                <a:solidFill>
                  <a:srgbClr val="31A4F3"/>
                </a:solidFill>
                <a:latin typeface="Barlow"/>
                <a:cs typeface="Barlow"/>
              </a:rPr>
              <a:t>▪  </a:t>
            </a:r>
            <a:r>
              <a:rPr sz="1500" b="0" i="0">
                <a:solidFill>
                  <a:srgbClr val="1E1E1E"/>
                </a:solidFill>
                <a:latin typeface="Barlow"/>
                <a:cs typeface="Barlow"/>
              </a:rPr>
              <a:t>It is a chat window attached to a folder. What makes it different from Claude in a browser: it can read and write the files in that folder, run scripts and connectors, and it loads the workspace rules automatically.</a:t>
            </a:r>
          </a:p>
          <a:p>
            <a:pPr>
              <a:lnSpc>
                <a:spcPct val="106000"/>
              </a:lnSpc>
              <a:spcAft>
                <a:spcPts val="800"/>
              </a:spcAft>
            </a:pPr>
            <a:r>
              <a:rPr sz="1500" b="1" i="0">
                <a:solidFill>
                  <a:srgbClr val="31A4F3"/>
                </a:solidFill>
                <a:latin typeface="Barlow"/>
                <a:cs typeface="Barlow"/>
              </a:rPr>
              <a:t>▪  </a:t>
            </a:r>
            <a:r>
              <a:rPr sz="1500" b="0" i="0">
                <a:solidFill>
                  <a:srgbClr val="1E1E1E"/>
                </a:solidFill>
                <a:latin typeface="Barlow"/>
                <a:cs typeface="Barlow"/>
              </a:rPr>
              <a:t>You type plain English. There are no commands to learn. The prompts on these slides are starting points; say it your way.</a:t>
            </a:r>
          </a:p>
          <a:p>
            <a:pPr>
              <a:lnSpc>
                <a:spcPct val="106000"/>
              </a:lnSpc>
              <a:spcAft>
                <a:spcPts val="800"/>
              </a:spcAft>
            </a:pPr>
            <a:r>
              <a:rPr sz="1500" b="1" i="0">
                <a:solidFill>
                  <a:srgbClr val="31A4F3"/>
                </a:solidFill>
                <a:latin typeface="Barlow"/>
                <a:cs typeface="Barlow"/>
              </a:rPr>
              <a:t>▪  </a:t>
            </a:r>
            <a:r>
              <a:rPr sz="1500" b="0" i="0">
                <a:solidFill>
                  <a:srgbClr val="1E1E1E"/>
                </a:solidFill>
                <a:latin typeface="Barlow"/>
                <a:cs typeface="Barlow"/>
              </a:rPr>
              <a:t>It works in the open. You watch it read files, run queries and write drafts, one step at a time in the conversation. You can interrupt and redirect at any point.</a:t>
            </a:r>
          </a:p>
          <a:p>
            <a:pPr>
              <a:lnSpc>
                <a:spcPct val="106000"/>
              </a:lnSpc>
              <a:spcAft>
                <a:spcPts val="800"/>
              </a:spcAft>
            </a:pPr>
            <a:r>
              <a:rPr sz="1500" b="1" i="0">
                <a:solidFill>
                  <a:srgbClr val="31A4F3"/>
                </a:solidFill>
                <a:latin typeface="Barlow"/>
                <a:cs typeface="Barlow"/>
              </a:rPr>
              <a:t>▪  </a:t>
            </a:r>
            <a:r>
              <a:rPr sz="1500" b="0" i="0">
                <a:solidFill>
                  <a:srgbClr val="1E1E1E"/>
                </a:solidFill>
                <a:latin typeface="Barlow"/>
                <a:cs typeface="Barlow"/>
              </a:rPr>
              <a:t>It asks before anything with consequences. A permission prompt is a question, not an error. Allow file edits in the client's working/ folder. Decline a production write during discovery, every time.</a:t>
            </a:r>
          </a:p>
          <a:p>
            <a:pPr>
              <a:lnSpc>
                <a:spcPct val="106000"/>
              </a:lnSpc>
              <a:spcAft>
                <a:spcPts val="800"/>
              </a:spcAft>
            </a:pPr>
            <a:r>
              <a:rPr sz="1500" b="1" i="0">
                <a:solidFill>
                  <a:srgbClr val="31A4F3"/>
                </a:solidFill>
                <a:latin typeface="Barlow"/>
                <a:cs typeface="Barlow"/>
              </a:rPr>
              <a:t>▪  </a:t>
            </a:r>
            <a:r>
              <a:rPr sz="1500" b="0" i="0">
                <a:solidFill>
                  <a:srgbClr val="1E1E1E"/>
                </a:solidFill>
                <a:latin typeface="Barlow"/>
                <a:cs typeface="Barlow"/>
              </a:rPr>
              <a:t>A session is one conversation. Start a new one for each task. Nothing is lost when you do: everything it wrote is in the folder, and the next session reads it.</a:t>
            </a:r>
          </a:p>
        </p:txBody>
      </p:sp>
      <p:sp>
        <p:nvSpPr>
          <p:cNvPr id="7" name="Rounded Rectangle 6"/>
          <p:cNvSpPr/>
          <p:nvPr/>
        </p:nvSpPr>
        <p:spPr>
          <a:xfrm>
            <a:off x="640080" y="5440680"/>
            <a:ext cx="10881360" cy="8686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You are managing, not typing. Give it the job, check its work, own what goes out.</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How you get in</a:t>
            </a:r>
          </a:p>
        </p:txBody>
      </p:sp>
      <p:sp>
        <p:nvSpPr>
          <p:cNvPr id="6" name="Rounded Rectangle 5"/>
          <p:cNvSpPr/>
          <p:nvPr/>
        </p:nvSpPr>
        <p:spPr>
          <a:xfrm>
            <a:off x="640080" y="1417320"/>
            <a:ext cx="1993392"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1</a:t>
            </a:r>
          </a:p>
        </p:txBody>
      </p:sp>
      <p:sp>
        <p:nvSpPr>
          <p:cNvPr id="8" name="TextBox 7"/>
          <p:cNvSpPr txBox="1"/>
          <p:nvPr/>
        </p:nvSpPr>
        <p:spPr>
          <a:xfrm>
            <a:off x="777240" y="2103120"/>
            <a:ext cx="1719072" cy="278892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Open Claude</a:t>
            </a:r>
          </a:p>
          <a:p>
            <a:pPr>
              <a:lnSpc>
                <a:spcPct val="105000"/>
              </a:lnSpc>
              <a:spcBef>
                <a:spcPts val="400"/>
              </a:spcBef>
            </a:pPr>
            <a:r>
              <a:rPr sz="1200" b="0" i="0">
                <a:solidFill>
                  <a:srgbClr val="1E1E1E"/>
                </a:solidFill>
                <a:latin typeface="Barlow"/>
                <a:cs typeface="Barlow"/>
              </a:rPr>
              <a:t>The Claude desktop app, then the Code tab at the top of the window.</a:t>
            </a:r>
          </a:p>
        </p:txBody>
      </p:sp>
      <p:sp>
        <p:nvSpPr>
          <p:cNvPr id="9" name="Rounded Rectangle 8"/>
          <p:cNvSpPr/>
          <p:nvPr/>
        </p:nvSpPr>
        <p:spPr>
          <a:xfrm>
            <a:off x="2862072" y="1417320"/>
            <a:ext cx="1993392"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999232"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2</a:t>
            </a:r>
          </a:p>
        </p:txBody>
      </p:sp>
      <p:sp>
        <p:nvSpPr>
          <p:cNvPr id="11" name="TextBox 10"/>
          <p:cNvSpPr txBox="1"/>
          <p:nvPr/>
        </p:nvSpPr>
        <p:spPr>
          <a:xfrm>
            <a:off x="2999232" y="2103120"/>
            <a:ext cx="1719072" cy="278892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Open the client's folder</a:t>
            </a:r>
          </a:p>
          <a:p>
            <a:pPr>
              <a:lnSpc>
                <a:spcPct val="105000"/>
              </a:lnSpc>
              <a:spcBef>
                <a:spcPts val="400"/>
              </a:spcBef>
            </a:pPr>
            <a:r>
              <a:rPr sz="1200" b="0" i="0">
                <a:solidFill>
                  <a:srgbClr val="1E1E1E"/>
                </a:solidFill>
                <a:latin typeface="Barlow"/>
                <a:cs typeface="Barlow"/>
              </a:rPr>
              <a:t>G:\Shared drives\Power Cloud OS\{Client}. Always a client folder. Never the root, never a personal folder.</a:t>
            </a:r>
          </a:p>
        </p:txBody>
      </p:sp>
      <p:sp>
        <p:nvSpPr>
          <p:cNvPr id="12" name="Rounded Rectangle 11"/>
          <p:cNvSpPr/>
          <p:nvPr/>
        </p:nvSpPr>
        <p:spPr>
          <a:xfrm>
            <a:off x="5084064" y="1417320"/>
            <a:ext cx="1993392"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221224"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3</a:t>
            </a:r>
          </a:p>
        </p:txBody>
      </p:sp>
      <p:sp>
        <p:nvSpPr>
          <p:cNvPr id="14" name="TextBox 13"/>
          <p:cNvSpPr txBox="1"/>
          <p:nvPr/>
        </p:nvSpPr>
        <p:spPr>
          <a:xfrm>
            <a:off x="5221224" y="2103120"/>
            <a:ext cx="1719072" cy="278892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Run session start</a:t>
            </a:r>
          </a:p>
          <a:p>
            <a:pPr>
              <a:lnSpc>
                <a:spcPct val="105000"/>
              </a:lnSpc>
              <a:spcBef>
                <a:spcPts val="400"/>
              </a:spcBef>
            </a:pPr>
            <a:r>
              <a:rPr sz="1200" b="0" i="0">
                <a:solidFill>
                  <a:srgbClr val="1E1E1E"/>
                </a:solidFill>
                <a:latin typeface="Barlow"/>
                <a:cs typeface="Barlow"/>
              </a:rPr>
              <a:t>"This is the {Client} engagement. Run session start." It reads the fact sheet, checks the NetSuite account, lists its tools.</a:t>
            </a:r>
          </a:p>
        </p:txBody>
      </p:sp>
      <p:sp>
        <p:nvSpPr>
          <p:cNvPr id="15" name="Rounded Rectangle 14"/>
          <p:cNvSpPr/>
          <p:nvPr/>
        </p:nvSpPr>
        <p:spPr>
          <a:xfrm>
            <a:off x="7306056" y="1417320"/>
            <a:ext cx="1993392"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43216"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4</a:t>
            </a:r>
          </a:p>
        </p:txBody>
      </p:sp>
      <p:sp>
        <p:nvSpPr>
          <p:cNvPr id="17" name="TextBox 16"/>
          <p:cNvSpPr txBox="1"/>
          <p:nvPr/>
        </p:nvSpPr>
        <p:spPr>
          <a:xfrm>
            <a:off x="7443216" y="2103120"/>
            <a:ext cx="1719072" cy="278892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Name the session</a:t>
            </a:r>
          </a:p>
          <a:p>
            <a:pPr>
              <a:lnSpc>
                <a:spcPct val="105000"/>
              </a:lnSpc>
              <a:spcBef>
                <a:spcPts val="400"/>
              </a:spcBef>
            </a:pPr>
            <a:r>
              <a:rPr sz="1200" b="0" i="0">
                <a:solidFill>
                  <a:srgbClr val="1E1E1E"/>
                </a:solidFill>
                <a:latin typeface="Barlow"/>
                <a:cs typeface="Barlow"/>
              </a:rPr>
              <a:t>Paste the /rename line it suggests: client plus environment.</a:t>
            </a:r>
          </a:p>
        </p:txBody>
      </p:sp>
      <p:sp>
        <p:nvSpPr>
          <p:cNvPr id="18" name="Rounded Rectangle 17"/>
          <p:cNvSpPr/>
          <p:nvPr/>
        </p:nvSpPr>
        <p:spPr>
          <a:xfrm>
            <a:off x="9528048" y="1417320"/>
            <a:ext cx="1993392"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65208"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5</a:t>
            </a:r>
          </a:p>
        </p:txBody>
      </p:sp>
      <p:sp>
        <p:nvSpPr>
          <p:cNvPr id="20" name="TextBox 19"/>
          <p:cNvSpPr txBox="1"/>
          <p:nvPr/>
        </p:nvSpPr>
        <p:spPr>
          <a:xfrm>
            <a:off x="9665208" y="2103120"/>
            <a:ext cx="1719072" cy="278892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Say what you need</a:t>
            </a:r>
          </a:p>
          <a:p>
            <a:pPr>
              <a:lnSpc>
                <a:spcPct val="105000"/>
              </a:lnSpc>
              <a:spcBef>
                <a:spcPts val="400"/>
              </a:spcBef>
            </a:pPr>
            <a:r>
              <a:rPr sz="1200" b="0" i="0">
                <a:solidFill>
                  <a:srgbClr val="1E1E1E"/>
                </a:solidFill>
                <a:latin typeface="Barlow"/>
                <a:cs typeface="Barlow"/>
              </a:rPr>
              <a:t>A question, a draft, the exec summary, a ticket, the assessment. The menu is in the appendix.</a:t>
            </a:r>
          </a:p>
        </p:txBody>
      </p:sp>
      <p:sp>
        <p:nvSpPr>
          <p:cNvPr id="21" name="Rounded Rectangle 20"/>
          <p:cNvSpPr/>
          <p:nvPr/>
        </p:nvSpPr>
        <p:spPr>
          <a:xfrm>
            <a:off x="640080" y="5212080"/>
            <a:ext cx="10881360" cy="100584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Check you are signed into your Power Cloud account, not a personal one. The wrong account loses the team's context and connections.</a:t>
            </a:r>
          </a:p>
        </p:txBody>
      </p:sp>
      <p:sp>
        <p:nvSpPr>
          <p:cNvPr id="22" name="Rectangle 21"/>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4" name="TextBox 23"/>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you will see on screen, and how to work with it</a:t>
            </a:r>
          </a:p>
        </p:txBody>
      </p:sp>
      <p:sp>
        <p:nvSpPr>
          <p:cNvPr id="6" name="Rounded Rectangle 5"/>
          <p:cNvSpPr/>
          <p:nvPr/>
        </p:nvSpPr>
        <p:spPr>
          <a:xfrm>
            <a:off x="64008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While it works</a:t>
            </a:r>
          </a:p>
        </p:txBody>
      </p:sp>
      <p:sp>
        <p:nvSpPr>
          <p:cNvPr id="10" name="TextBox 9"/>
          <p:cNvSpPr txBox="1"/>
          <p:nvPr/>
        </p:nvSpPr>
        <p:spPr>
          <a:xfrm>
            <a:off x="822959"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300" b="1" i="0">
                <a:solidFill>
                  <a:srgbClr val="31A4F3"/>
                </a:solidFill>
                <a:latin typeface="Barlow"/>
                <a:cs typeface="Barlow"/>
              </a:rPr>
              <a:t>▪  </a:t>
            </a:r>
            <a:r>
              <a:rPr sz="1300" b="0" i="0">
                <a:solidFill>
                  <a:srgbClr val="1E1E1E"/>
                </a:solidFill>
                <a:latin typeface="Barlow"/>
                <a:cs typeface="Barlow"/>
              </a:rPr>
              <a:t>Your message, then Claude's steps as it works: the files it reads, the queries it runs, the drafts it writes. Collapsed by default; expand any step to see exactly what it did.</a:t>
            </a:r>
          </a:p>
          <a:p>
            <a:pPr>
              <a:lnSpc>
                <a:spcPct val="106000"/>
              </a:lnSpc>
              <a:spcAft>
                <a:spcPts val="600"/>
              </a:spcAft>
            </a:pPr>
            <a:r>
              <a:rPr sz="1300" b="1" i="0">
                <a:solidFill>
                  <a:srgbClr val="31A4F3"/>
                </a:solidFill>
                <a:latin typeface="Barlow"/>
                <a:cs typeface="Barlow"/>
              </a:rPr>
              <a:t>▪  </a:t>
            </a:r>
            <a:r>
              <a:rPr sz="1300" b="0" i="0">
                <a:solidFill>
                  <a:srgbClr val="1E1E1E"/>
                </a:solidFill>
                <a:latin typeface="Barlow"/>
                <a:cs typeface="Barlow"/>
              </a:rPr>
              <a:t>Permission prompts when it wants to do something with consequences. Read them before you answer. Auto-accepting file edits in a working session is fine; bypassing permissions never is.</a:t>
            </a:r>
          </a:p>
          <a:p>
            <a:pPr>
              <a:lnSpc>
                <a:spcPct val="106000"/>
              </a:lnSpc>
              <a:spcAft>
                <a:spcPts val="600"/>
              </a:spcAft>
            </a:pPr>
            <a:r>
              <a:rPr sz="1300" b="1" i="0">
                <a:solidFill>
                  <a:srgbClr val="31A4F3"/>
                </a:solidFill>
                <a:latin typeface="Barlow"/>
                <a:cs typeface="Barlow"/>
              </a:rPr>
              <a:t>▪  </a:t>
            </a:r>
            <a:r>
              <a:rPr sz="1300" b="0" i="0">
                <a:solidFill>
                  <a:srgbClr val="1E1E1E"/>
                </a:solidFill>
                <a:latin typeface="Barlow"/>
                <a:cs typeface="Barlow"/>
              </a:rPr>
              <a:t>Its answer, and the files it produced, which appear in the client folder in Explorer as it goes.</a:t>
            </a:r>
          </a:p>
        </p:txBody>
      </p:sp>
      <p:sp>
        <p:nvSpPr>
          <p:cNvPr id="11" name="Rounded Rectangle 10"/>
          <p:cNvSpPr/>
          <p:nvPr/>
        </p:nvSpPr>
        <p:spPr>
          <a:xfrm>
            <a:off x="617220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Treat it like an assistant you just hired</a:t>
            </a:r>
          </a:p>
        </p:txBody>
      </p:sp>
      <p:sp>
        <p:nvSpPr>
          <p:cNvPr id="15" name="TextBox 14"/>
          <p:cNvSpPr txBox="1"/>
          <p:nvPr/>
        </p:nvSpPr>
        <p:spPr>
          <a:xfrm>
            <a:off x="6355080"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300" b="1" i="0">
                <a:solidFill>
                  <a:srgbClr val="31A4F3"/>
                </a:solidFill>
                <a:latin typeface="Barlow"/>
                <a:cs typeface="Barlow"/>
              </a:rPr>
              <a:t>▪  </a:t>
            </a:r>
            <a:r>
              <a:rPr sz="1300" b="1" i="0">
                <a:solidFill>
                  <a:srgbClr val="1E1E1E"/>
                </a:solidFill>
                <a:latin typeface="Barlow"/>
                <a:cs typeface="Barlow"/>
              </a:rPr>
              <a:t>Do not sit and watch.</a:t>
            </a:r>
            <a:r>
              <a:rPr sz="1300" b="0" i="0">
                <a:solidFill>
                  <a:srgbClr val="1E1E1E"/>
                </a:solidFill>
                <a:latin typeface="Barlow"/>
                <a:cs typeface="Barlow"/>
              </a:rPr>
              <a:t> You did not bring on an assistant to watch them work; you brought one on so you could do other things while they take tasks off your plate. Hand over the job, then go do the next thing. Waiting is not billable.</a:t>
            </a:r>
          </a:p>
          <a:p>
            <a:pPr>
              <a:lnSpc>
                <a:spcPct val="106000"/>
              </a:lnSpc>
              <a:spcAft>
                <a:spcPts val="600"/>
              </a:spcAft>
            </a:pPr>
            <a:r>
              <a:rPr sz="1300" b="1" i="0">
                <a:solidFill>
                  <a:srgbClr val="31A4F3"/>
                </a:solidFill>
                <a:latin typeface="Barlow"/>
                <a:cs typeface="Barlow"/>
              </a:rPr>
              <a:t>▪  </a:t>
            </a:r>
            <a:r>
              <a:rPr sz="1300" b="1" i="0">
                <a:solidFill>
                  <a:srgbClr val="1E1E1E"/>
                </a:solidFill>
                <a:latin typeface="Barlow"/>
                <a:cs typeface="Barlow"/>
              </a:rPr>
              <a:t>Do not give up on the first draft.</a:t>
            </a:r>
            <a:r>
              <a:rPr sz="1300" b="0" i="0">
                <a:solidFill>
                  <a:srgbClr val="1E1E1E"/>
                </a:solidFill>
                <a:latin typeface="Barlow"/>
                <a:cs typeface="Barlow"/>
              </a:rPr>
              <a:t> When an assistant comes back with something that needs changes, you do not say "forget it" and do it yourself. You explain what is wrong and why, and send them back. Same here: the second pass is usually the one that lands, and telling it to remember makes the correction stick.</a:t>
            </a:r>
          </a:p>
          <a:p>
            <a:pPr>
              <a:lnSpc>
                <a:spcPct val="106000"/>
              </a:lnSpc>
              <a:spcAft>
                <a:spcPts val="600"/>
              </a:spcAft>
            </a:pPr>
            <a:r>
              <a:rPr sz="1300" b="1" i="0">
                <a:solidFill>
                  <a:srgbClr val="31A4F3"/>
                </a:solidFill>
                <a:latin typeface="Barlow"/>
                <a:cs typeface="Barlow"/>
              </a:rPr>
              <a:t>▪  </a:t>
            </a:r>
            <a:r>
              <a:rPr sz="1300" b="1" i="0">
                <a:solidFill>
                  <a:srgbClr val="1E1E1E"/>
                </a:solidFill>
                <a:latin typeface="Barlow"/>
                <a:cs typeface="Barlow"/>
              </a:rPr>
              <a:t>Answer when it asks.</a:t>
            </a:r>
            <a:r>
              <a:rPr sz="1300" b="0" i="0">
                <a:solidFill>
                  <a:srgbClr val="1E1E1E"/>
                </a:solidFill>
                <a:latin typeface="Barlow"/>
                <a:cs typeface="Barlow"/>
              </a:rPr>
              <a:t> It interviews you when it hits a gap instead of guessing.</a:t>
            </a:r>
          </a:p>
          <a:p>
            <a:pPr>
              <a:lnSpc>
                <a:spcPct val="106000"/>
              </a:lnSpc>
              <a:spcAft>
                <a:spcPts val="600"/>
              </a:spcAft>
            </a:pPr>
            <a:r>
              <a:rPr sz="1300" b="1" i="0">
                <a:solidFill>
                  <a:srgbClr val="31A4F3"/>
                </a:solidFill>
                <a:latin typeface="Barlow"/>
                <a:cs typeface="Barlow"/>
              </a:rPr>
              <a:t>▪  </a:t>
            </a:r>
            <a:r>
              <a:rPr sz="1300" b="1" i="0">
                <a:solidFill>
                  <a:srgbClr val="1E1E1E"/>
                </a:solidFill>
                <a:latin typeface="Barlow"/>
                <a:cs typeface="Barlow"/>
              </a:rPr>
              <a:t>Read everything before you trust it.</a:t>
            </a:r>
            <a:r>
              <a:rPr sz="1300" b="0" i="0">
                <a:solidFill>
                  <a:srgbClr val="1E1E1E"/>
                </a:solidFill>
                <a:latin typeface="Barlow"/>
                <a:cs typeface="Barlow"/>
              </a:rPr>
              <a:t> Polished output at speed is exactly what makes skipping review tempting.</a:t>
            </a:r>
          </a:p>
        </p:txBody>
      </p:sp>
      <p:sp>
        <p:nvSpPr>
          <p:cNvPr id="16" name="Rounded Rectangle 15"/>
          <p:cNvSpPr/>
          <p:nvPr/>
        </p:nvSpPr>
        <p:spPr>
          <a:xfrm>
            <a:off x="640080" y="5303520"/>
            <a:ext cx="10881360" cy="91440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Delegate, go do something else, come back, correct, send it back. That is the whole rhythm.</a:t>
            </a:r>
          </a:p>
        </p:txBody>
      </p:sp>
      <p:sp>
        <p:nvSpPr>
          <p:cNvPr id="17" name="Rectangle 1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9" name="TextBox 1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Your first session: bring one of your own clients in</a:t>
            </a:r>
          </a:p>
        </p:txBody>
      </p:sp>
      <p:sp>
        <p:nvSpPr>
          <p:cNvPr id="6" name="TextBox 5"/>
          <p:cNvSpPr txBox="1"/>
          <p:nvPr/>
        </p:nvSpPr>
        <p:spPr>
          <a:xfrm>
            <a:off x="640080" y="1371600"/>
            <a:ext cx="6400800" cy="4572000"/>
          </a:xfrm>
          <a:prstGeom prst="rect">
            <a:avLst/>
          </a:prstGeom>
          <a:noFill/>
        </p:spPr>
        <p:txBody>
          <a:bodyPr wrap="square" anchor="t" lIns="45720" rIns="45720" tIns="18288" bIns="18288">
            <a:spAutoFit/>
          </a:bodyPr>
          <a:lstStyle/>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Pick a client you work with who has no folder here yet. Most of yours will not, and you know them better than anything already on the drive.</a:t>
            </a:r>
          </a:p>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In Explorer, create a folder named for them under G:\Shared drives\Power Cloud OS. Plain client name, no "RA" or engagement suffix; the folder outlives the engagement.</a:t>
            </a:r>
          </a:p>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Drop in whatever you have: sales notes, a transcript, an export, the SOW. Loose is fine.</a:t>
            </a:r>
          </a:p>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Open Claude Code in that folder and say the line. It files what you dropped in, checks for an existing Asana project before creating anything, interviews you for the fact sheet, and drafts the access &amp; consent pack for you to review.</a:t>
            </a:r>
          </a:p>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Then ask it something only someone who had read those documents could answer, and challenge one claim with "what's your source?"</a:t>
            </a:r>
          </a:p>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Nothing here reaches the client or touches NetSuite. The consent pack is a draft until you decide to send it.</a:t>
            </a:r>
          </a:p>
        </p:txBody>
      </p:sp>
      <p:sp>
        <p:nvSpPr>
          <p:cNvPr id="7" name="Rounded Rectangle 6"/>
          <p:cNvSpPr/>
          <p:nvPr/>
        </p:nvSpPr>
        <p:spPr>
          <a:xfrm>
            <a:off x="7315200" y="1463040"/>
            <a:ext cx="4206240" cy="448056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1645920"/>
            <a:ext cx="3749039" cy="365760"/>
          </a:xfrm>
          <a:prstGeom prst="rect">
            <a:avLst/>
          </a:prstGeom>
          <a:noFill/>
        </p:spPr>
        <p:txBody>
          <a:bodyPr wrap="square" anchor="t" lIns="45720" rIns="45720" tIns="18288" bIns="18288">
            <a:spAutoFit/>
          </a:bodyPr>
          <a:lstStyle/>
          <a:p>
            <a:r>
              <a:rPr sz="1050" b="1" i="0">
                <a:solidFill>
                  <a:srgbClr val="31A4F3"/>
                </a:solidFill>
                <a:latin typeface="Barlow"/>
                <a:cs typeface="Barlow"/>
              </a:rPr>
              <a:t>WHAT YOU SAY</a:t>
            </a:r>
          </a:p>
        </p:txBody>
      </p:sp>
      <p:sp>
        <p:nvSpPr>
          <p:cNvPr id="9" name="TextBox 8"/>
          <p:cNvSpPr txBox="1"/>
          <p:nvPr/>
        </p:nvSpPr>
        <p:spPr>
          <a:xfrm>
            <a:off x="7543800" y="2057400"/>
            <a:ext cx="3749039" cy="3749040"/>
          </a:xfrm>
          <a:prstGeom prst="rect">
            <a:avLst/>
          </a:prstGeom>
          <a:noFill/>
        </p:spPr>
        <p:txBody>
          <a:bodyPr wrap="square" anchor="t" lIns="45720" rIns="45720" tIns="18288" bIns="18288">
            <a:spAutoFit/>
          </a:bodyPr>
          <a:lstStyle/>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New client. Run session start.</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This is new work for {Client}, an old client. Set them up.</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Based on what's in this folder, what should I know before my next call with them?</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What's your source for that?</a:t>
            </a:r>
          </a:p>
        </p:txBody>
      </p:sp>
      <p:sp>
        <p:nvSpPr>
          <p:cNvPr id="10" name="Rectangle 9"/>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2" name="TextBox 11"/>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one idea: the folder is the memory</a:t>
            </a:r>
          </a:p>
        </p:txBody>
      </p:sp>
      <p:sp>
        <p:nvSpPr>
          <p:cNvPr id="6" name="Rounded Rectangle 5"/>
          <p:cNvSpPr/>
          <p:nvPr/>
        </p:nvSpPr>
        <p:spPr>
          <a:xfrm>
            <a:off x="640080" y="1463040"/>
            <a:ext cx="5120640" cy="448056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45920"/>
            <a:ext cx="4754880" cy="4114800"/>
          </a:xfrm>
          <a:prstGeom prst="rect">
            <a:avLst/>
          </a:prstGeom>
          <a:noFill/>
        </p:spPr>
        <p:txBody>
          <a:bodyPr wrap="square" anchor="t" lIns="45720" rIns="45720" tIns="18288" bIns="18288">
            <a:spAutoFit/>
          </a:bodyPr>
          <a:lstStyle/>
          <a:p>
            <a:pPr>
              <a:lnSpc>
                <a:spcPct val="115000"/>
              </a:lnSpc>
            </a:pPr>
            <a:r>
              <a:rPr sz="1250" b="1" i="0">
                <a:solidFill>
                  <a:srgbClr val="FFFFFF"/>
                </a:solidFill>
                <a:latin typeface="Consolas"/>
                <a:cs typeface="Consolas"/>
              </a:rPr>
              <a:t>{ClientName}/</a:t>
            </a:r>
          </a:p>
          <a:p>
            <a:pPr>
              <a:lnSpc>
                <a:spcPct val="115000"/>
              </a:lnSpc>
            </a:pPr>
            <a:r>
              <a:rPr sz="1250" b="1" i="0">
                <a:solidFill>
                  <a:srgbClr val="FFFFFF"/>
                </a:solidFill>
                <a:latin typeface="Consolas"/>
                <a:cs typeface="Consolas"/>
              </a:rPr>
              <a:t>├── CONTEXT.md</a:t>
            </a:r>
            <a:r>
              <a:rPr sz="1100" b="0" i="0">
                <a:solidFill>
                  <a:srgbClr val="31A4F3"/>
                </a:solidFill>
                <a:latin typeface="Consolas"/>
                <a:cs typeface="Consolas"/>
              </a:rPr>
              <a:t>  living fact sheet</a:t>
            </a:r>
          </a:p>
          <a:p>
            <a:pPr>
              <a:lnSpc>
                <a:spcPct val="115000"/>
              </a:lnSpc>
            </a:pPr>
            <a:r>
              <a:rPr sz="1250" b="1" i="0">
                <a:solidFill>
                  <a:srgbClr val="FFFFFF"/>
                </a:solidFill>
                <a:latin typeface="Consolas"/>
                <a:cs typeface="Consolas"/>
              </a:rPr>
              <a:t>├── .claude/</a:t>
            </a:r>
            <a:r>
              <a:rPr sz="1100" b="0" i="0">
                <a:solidFill>
                  <a:srgbClr val="31A4F3"/>
                </a:solidFill>
                <a:latin typeface="Consolas"/>
                <a:cs typeface="Consolas"/>
              </a:rPr>
              <a:t>  settings, render gate</a:t>
            </a:r>
          </a:p>
          <a:p>
            <a:pPr>
              <a:lnSpc>
                <a:spcPct val="115000"/>
              </a:lnSpc>
            </a:pPr>
            <a:r>
              <a:rPr sz="1250" b="1" i="0">
                <a:solidFill>
                  <a:srgbClr val="FFFFFF"/>
                </a:solidFill>
                <a:latin typeface="Consolas"/>
                <a:cs typeface="Consolas"/>
              </a:rPr>
              <a:t>├── source/</a:t>
            </a:r>
            <a:r>
              <a:rPr sz="1100" b="0" i="0">
                <a:solidFill>
                  <a:srgbClr val="31A4F3"/>
                </a:solidFill>
                <a:latin typeface="Consolas"/>
                <a:cs typeface="Consolas"/>
              </a:rPr>
              <a:t>  client material, read-only</a:t>
            </a:r>
          </a:p>
          <a:p>
            <a:pPr>
              <a:lnSpc>
                <a:spcPct val="115000"/>
              </a:lnSpc>
            </a:pPr>
            <a:r>
              <a:rPr sz="1250" b="1" i="0">
                <a:solidFill>
                  <a:srgbClr val="FFFFFF"/>
                </a:solidFill>
                <a:latin typeface="Consolas"/>
                <a:cs typeface="Consolas"/>
              </a:rPr>
              <a:t>├── working/</a:t>
            </a:r>
            <a:r>
              <a:rPr sz="1100" b="0" i="0">
                <a:solidFill>
                  <a:srgbClr val="31A4F3"/>
                </a:solidFill>
                <a:latin typeface="Consolas"/>
                <a:cs typeface="Consolas"/>
              </a:rPr>
              <a:t>  evidence, drafts, LOE log</a:t>
            </a:r>
          </a:p>
          <a:p>
            <a:pPr>
              <a:lnSpc>
                <a:spcPct val="115000"/>
              </a:lnSpc>
            </a:pPr>
            <a:r>
              <a:rPr sz="1250" b="1" i="0">
                <a:solidFill>
                  <a:srgbClr val="FFFFFF"/>
                </a:solidFill>
                <a:latin typeface="Consolas"/>
                <a:cs typeface="Consolas"/>
              </a:rPr>
              <a:t>├── deliverables/</a:t>
            </a:r>
            <a:r>
              <a:rPr sz="1100" b="0" i="0">
                <a:solidFill>
                  <a:srgbClr val="31A4F3"/>
                </a:solidFill>
                <a:latin typeface="Consolas"/>
                <a:cs typeface="Consolas"/>
              </a:rPr>
              <a:t>  finals only</a:t>
            </a:r>
          </a:p>
          <a:p>
            <a:pPr>
              <a:lnSpc>
                <a:spcPct val="115000"/>
              </a:lnSpc>
            </a:pPr>
            <a:r>
              <a:rPr sz="1250" b="1" i="0">
                <a:solidFill>
                  <a:srgbClr val="FFFFFF"/>
                </a:solidFill>
                <a:latin typeface="Consolas"/>
                <a:cs typeface="Consolas"/>
              </a:rPr>
              <a:t>└── execution/</a:t>
            </a:r>
            <a:r>
              <a:rPr sz="1100" b="0" i="0">
                <a:solidFill>
                  <a:srgbClr val="31A4F3"/>
                </a:solidFill>
                <a:latin typeface="Consolas"/>
                <a:cs typeface="Consolas"/>
              </a:rPr>
              <a:t>  build work, sandbox first</a:t>
            </a:r>
          </a:p>
        </p:txBody>
      </p:sp>
      <p:sp>
        <p:nvSpPr>
          <p:cNvPr id="8" name="TextBox 7"/>
          <p:cNvSpPr txBox="1"/>
          <p:nvPr/>
        </p:nvSpPr>
        <p:spPr>
          <a:xfrm>
            <a:off x="6126480" y="1417320"/>
            <a:ext cx="5394960" cy="4480560"/>
          </a:xfrm>
          <a:prstGeom prst="rect">
            <a:avLst/>
          </a:prstGeom>
          <a:noFill/>
        </p:spPr>
        <p:txBody>
          <a:bodyPr wrap="square" anchor="t" lIns="45720" rIns="45720" tIns="18288" bIns="18288">
            <a:spAutoFit/>
          </a:bodyPr>
          <a:lstStyle/>
          <a:p>
            <a:pPr>
              <a:lnSpc>
                <a:spcPct val="106000"/>
              </a:lnSpc>
              <a:spcAft>
                <a:spcPts val="700"/>
              </a:spcAft>
            </a:pPr>
            <a:r>
              <a:rPr sz="1450" b="1" i="0">
                <a:solidFill>
                  <a:srgbClr val="31A4F3"/>
                </a:solidFill>
                <a:latin typeface="Barlow"/>
                <a:cs typeface="Barlow"/>
              </a:rPr>
              <a:t>▪  </a:t>
            </a:r>
            <a:r>
              <a:rPr sz="1450" b="0" i="0">
                <a:solidFill>
                  <a:srgbClr val="1E1E1E"/>
                </a:solidFill>
                <a:latin typeface="Barlow"/>
                <a:cs typeface="Barlow"/>
              </a:rPr>
              <a:t>Everything about a client lives in that client's folder: source material, working evidence, finals, build work.</a:t>
            </a:r>
          </a:p>
          <a:p>
            <a:pPr>
              <a:lnSpc>
                <a:spcPct val="106000"/>
              </a:lnSpc>
              <a:spcAft>
                <a:spcPts val="700"/>
              </a:spcAft>
            </a:pPr>
            <a:r>
              <a:rPr sz="1450" b="1" i="0">
                <a:solidFill>
                  <a:srgbClr val="31A4F3"/>
                </a:solidFill>
                <a:latin typeface="Barlow"/>
                <a:cs typeface="Barlow"/>
              </a:rPr>
              <a:t>▪  </a:t>
            </a:r>
            <a:r>
              <a:rPr sz="1450" b="0" i="0">
                <a:solidFill>
                  <a:srgbClr val="1E1E1E"/>
                </a:solidFill>
                <a:latin typeface="Barlow"/>
                <a:cs typeface="Barlow"/>
              </a:rPr>
              <a:t>Nothing important lives in a chat history, in a consultant's head, or in the model's context.</a:t>
            </a:r>
          </a:p>
          <a:p>
            <a:pPr>
              <a:lnSpc>
                <a:spcPct val="106000"/>
              </a:lnSpc>
              <a:spcAft>
                <a:spcPts val="700"/>
              </a:spcAft>
            </a:pPr>
            <a:r>
              <a:rPr sz="1450" b="1" i="0">
                <a:solidFill>
                  <a:srgbClr val="31A4F3"/>
                </a:solidFill>
                <a:latin typeface="Barlow"/>
                <a:cs typeface="Barlow"/>
              </a:rPr>
              <a:t>▪  </a:t>
            </a:r>
            <a:r>
              <a:rPr sz="1450" b="0" i="0">
                <a:solidFill>
                  <a:srgbClr val="1E1E1E"/>
                </a:solidFill>
                <a:latin typeface="Barlow"/>
                <a:cs typeface="Barlow"/>
              </a:rPr>
              <a:t>Any consultant who opens the folder and starts a session is talking to something that already understands the engagement.</a:t>
            </a:r>
          </a:p>
          <a:p>
            <a:pPr>
              <a:lnSpc>
                <a:spcPct val="106000"/>
              </a:lnSpc>
              <a:spcAft>
                <a:spcPts val="700"/>
              </a:spcAft>
            </a:pPr>
            <a:r>
              <a:rPr sz="1450" b="1" i="0">
                <a:solidFill>
                  <a:srgbClr val="31A4F3"/>
                </a:solidFill>
                <a:latin typeface="Barlow"/>
                <a:cs typeface="Barlow"/>
              </a:rPr>
              <a:t>▪  </a:t>
            </a:r>
            <a:r>
              <a:rPr sz="1450" b="0" i="0">
                <a:solidFill>
                  <a:srgbClr val="1E1E1E"/>
                </a:solidFill>
                <a:latin typeface="Barlow"/>
                <a:cs typeface="Barlow"/>
              </a:rPr>
              <a:t>Clear a session, swap a machine, let a week pass. The state survives because it is on disk.</a:t>
            </a:r>
          </a:p>
          <a:p>
            <a:pPr>
              <a:lnSpc>
                <a:spcPct val="106000"/>
              </a:lnSpc>
              <a:spcAft>
                <a:spcPts val="700"/>
              </a:spcAft>
            </a:pPr>
            <a:r>
              <a:rPr sz="1450" b="1" i="0">
                <a:solidFill>
                  <a:srgbClr val="31A4F3"/>
                </a:solidFill>
                <a:latin typeface="Barlow"/>
                <a:cs typeface="Barlow"/>
              </a:rPr>
              <a:t>▪  </a:t>
            </a:r>
            <a:r>
              <a:rPr sz="1450" b="0" i="0">
                <a:solidFill>
                  <a:srgbClr val="1E1E1E"/>
                </a:solidFill>
                <a:latin typeface="Barlow"/>
                <a:cs typeface="Barlow"/>
              </a:rPr>
              <a:t>Every client folder has the identical shape. The separation does real work: it keeps the client's words untouched, keeps half-finished thinking out of finals, and walls write-enabled build off from read-only discovery.</a:t>
            </a:r>
          </a:p>
        </p:txBody>
      </p:sp>
      <p:sp>
        <p:nvSpPr>
          <p:cNvPr id="9" name="Rectangle 8"/>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1" name="TextBox 10"/>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we own, and what we rent</a:t>
            </a:r>
          </a:p>
        </p:txBody>
      </p:sp>
      <p:sp>
        <p:nvSpPr>
          <p:cNvPr id="6" name="Rounded Rectangle 5"/>
          <p:cNvSpPr/>
          <p:nvPr/>
        </p:nvSpPr>
        <p:spPr>
          <a:xfrm>
            <a:off x="64008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Layer one: the methodology. Ours.</a:t>
            </a:r>
          </a:p>
        </p:txBody>
      </p:sp>
      <p:sp>
        <p:nvSpPr>
          <p:cNvPr id="10" name="TextBox 9"/>
          <p:cNvSpPr txBox="1"/>
          <p:nvPr/>
        </p:nvSpPr>
        <p:spPr>
          <a:xfrm>
            <a:off x="822959"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The folder structure, the skills, the reference files, the checkpoints, the evidence tiers.</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Written down, versioned, improved after every engagement.</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The reason the output comes up the same way regardless of who runs it.</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This layer is the asset.</a:t>
            </a:r>
          </a:p>
        </p:txBody>
      </p:sp>
      <p:sp>
        <p:nvSpPr>
          <p:cNvPr id="11" name="Rounded Rectangle 10"/>
          <p:cNvSpPr/>
          <p:nvPr/>
        </p:nvSpPr>
        <p:spPr>
          <a:xfrm>
            <a:off x="617220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Layer two: the engine. Rented.</a:t>
            </a:r>
          </a:p>
        </p:txBody>
      </p:sp>
      <p:sp>
        <p:nvSpPr>
          <p:cNvPr id="15" name="TextBox 14"/>
          <p:cNvSpPr txBox="1"/>
          <p:nvPr/>
        </p:nvSpPr>
        <p:spPr>
          <a:xfrm>
            <a:off x="6355080"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Claude Code, plus the MCP connections into NetSuite, Celigo, Asana, Gmail and Drive.</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Swappable and model-portable on purpose.</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If a better engine appears, the methodology moves onto it without being rewritten.</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Nothing client-specific is hard-coded into a shared skill. It lives in that client's CONTEXT.md.</a:t>
            </a:r>
          </a:p>
        </p:txBody>
      </p:sp>
      <p:sp>
        <p:nvSpPr>
          <p:cNvPr id="16" name="Rounded Rectangle 15"/>
          <p:cNvSpPr/>
          <p:nvPr/>
        </p:nvSpPr>
        <p:spPr>
          <a:xfrm>
            <a:off x="640080" y="5303520"/>
            <a:ext cx="10881360" cy="9144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The competitive position is not "we use AI." Anyone can rent the engine. The position is a discovery process a machine executes the same way every time, with evidence discipline most firms do not apply even by hand.</a:t>
            </a:r>
          </a:p>
        </p:txBody>
      </p:sp>
      <p:sp>
        <p:nvSpPr>
          <p:cNvPr id="17" name="Rectangle 1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9" name="TextBox 1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skills, and when each one fires</a:t>
            </a:r>
          </a:p>
        </p:txBody>
      </p:sp>
      <p:graphicFrame>
        <p:nvGraphicFramePr>
          <p:cNvPr id="6" name="Table 5"/>
          <p:cNvGraphicFramePr>
            <a:graphicFrameLocks noGrp="1"/>
          </p:cNvGraphicFramePr>
          <p:nvPr/>
        </p:nvGraphicFramePr>
        <p:xfrm>
          <a:off x="640080" y="1417320"/>
          <a:ext cx="10881359" cy="4617720"/>
        </p:xfrm>
        <a:graphic>
          <a:graphicData uri="http://schemas.openxmlformats.org/drawingml/2006/table">
            <a:tbl>
              <a:tblPr firstRow="1" bandRow="0"/>
              <a:tblGrid>
                <a:gridCol w="2011680"/>
                <a:gridCol w="6400799"/>
                <a:gridCol w="2468880"/>
              </a:tblGrid>
              <a:tr h="384810">
                <a:tc>
                  <a:txBody>
                    <a:bodyPr/>
                    <a:lstStyle/>
                    <a:p>
                      <a:r>
                        <a:rPr sz="1000" b="1" i="0">
                          <a:solidFill>
                            <a:srgbClr val="FFFFFF"/>
                          </a:solidFill>
                          <a:latin typeface="Montserrat"/>
                          <a:cs typeface="Montserrat"/>
                        </a:rPr>
                        <a:t>Skill</a:t>
                      </a:r>
                    </a:p>
                  </a:txBody>
                  <a:tcPr marL="91440" marR="91440" marT="36576" marB="36576" anchor="ctr">
                    <a:solidFill>
                      <a:srgbClr val="002F59"/>
                    </a:solidFill>
                  </a:tcPr>
                </a:tc>
                <a:tc>
                  <a:txBody>
                    <a:bodyPr/>
                    <a:lstStyle/>
                    <a:p>
                      <a:r>
                        <a:rPr sz="1000" b="1" i="0">
                          <a:solidFill>
                            <a:srgbClr val="FFFFFF"/>
                          </a:solidFill>
                          <a:latin typeface="Montserrat"/>
                          <a:cs typeface="Montserrat"/>
                        </a:rPr>
                        <a:t>What it does</a:t>
                      </a:r>
                    </a:p>
                  </a:txBody>
                  <a:tcPr marL="91440" marR="91440" marT="36576" marB="36576" anchor="ctr">
                    <a:solidFill>
                      <a:srgbClr val="002F59"/>
                    </a:solidFill>
                  </a:tcPr>
                </a:tc>
                <a:tc>
                  <a:txBody>
                    <a:bodyPr/>
                    <a:lstStyle/>
                    <a:p>
                      <a:r>
                        <a:rPr sz="1000" b="1" i="0">
                          <a:solidFill>
                            <a:srgbClr val="FFFFFF"/>
                          </a:solidFill>
                          <a:latin typeface="Montserrat"/>
                          <a:cs typeface="Montserrat"/>
                        </a:rPr>
                        <a:t>Fires when</a:t>
                      </a:r>
                    </a:p>
                  </a:txBody>
                  <a:tcPr marL="91440" marR="91440" marT="36576" marB="36576" anchor="ctr">
                    <a:solidFill>
                      <a:srgbClr val="002F59"/>
                    </a:solidFill>
                  </a:tcPr>
                </a:tc>
              </a:tr>
              <a:tr h="384810">
                <a:tc>
                  <a:txBody>
                    <a:bodyPr/>
                    <a:lstStyle/>
                    <a:p>
                      <a:pPr>
                        <a:lnSpc>
                          <a:spcPct val="105000"/>
                        </a:lnSpc>
                      </a:pPr>
                      <a:r>
                        <a:rPr sz="1000" b="1" i="0">
                          <a:solidFill>
                            <a:srgbClr val="1E1E1E"/>
                          </a:solidFill>
                          <a:latin typeface="Barlow"/>
                          <a:cs typeface="Barlow"/>
                        </a:rPr>
                        <a:t>new-engagement</a:t>
                      </a:r>
                    </a:p>
                  </a:txBody>
                  <a:tcPr marL="91440" marR="91440" marT="36576" marB="36576" anchor="ctr">
                    <a:solidFill>
                      <a:srgbClr val="EAF4FC"/>
                    </a:solidFill>
                  </a:tcPr>
                </a:tc>
                <a:tc>
                  <a:txBody>
                    <a:bodyPr/>
                    <a:lstStyle/>
                    <a:p>
                      <a:pPr>
                        <a:lnSpc>
                          <a:spcPct val="105000"/>
                        </a:lnSpc>
                      </a:pPr>
                      <a:r>
                        <a:rPr sz="1000" b="0" i="0">
                          <a:solidFill>
                            <a:srgbClr val="1E1E1E"/>
                          </a:solidFill>
                          <a:latin typeface="Barlow"/>
                          <a:cs typeface="Barlow"/>
                        </a:rPr>
                        <a:t>Stands a client up: files loose documents, interviews you, checks for an existing Asana project and folder, pre-fills CONTEXT.md, drafts the consent pack.</a:t>
                      </a:r>
                    </a:p>
                  </a:txBody>
                  <a:tcPr marL="91440" marR="91440" marT="36576" marB="36576" anchor="ctr">
                    <a:solidFill>
                      <a:srgbClr val="EAF4FC"/>
                    </a:solidFill>
                  </a:tcPr>
                </a:tc>
                <a:tc>
                  <a:txBody>
                    <a:bodyPr/>
                    <a:lstStyle/>
                    <a:p>
                      <a:pPr>
                        <a:lnSpc>
                          <a:spcPct val="105000"/>
                        </a:lnSpc>
                      </a:pPr>
                      <a:r>
                        <a:rPr sz="1000" b="0" i="0">
                          <a:solidFill>
                            <a:srgbClr val="1E1E1E"/>
                          </a:solidFill>
                          <a:latin typeface="Barlow"/>
                          <a:cs typeface="Barlow"/>
                        </a:rPr>
                        <a:t>A bare or unfiled folder</a:t>
                      </a:r>
                    </a:p>
                  </a:txBody>
                  <a:tcPr marL="91440" marR="91440" marT="36576" marB="36576" anchor="ctr">
                    <a:solidFill>
                      <a:srgbClr val="EAF4FC"/>
                    </a:solidFill>
                  </a:tcPr>
                </a:tc>
              </a:tr>
              <a:tr h="384810">
                <a:tc>
                  <a:txBody>
                    <a:bodyPr/>
                    <a:lstStyle/>
                    <a:p>
                      <a:pPr>
                        <a:lnSpc>
                          <a:spcPct val="105000"/>
                        </a:lnSpc>
                      </a:pPr>
                      <a:r>
                        <a:rPr sz="1000" b="1" i="0">
                          <a:solidFill>
                            <a:srgbClr val="1E1E1E"/>
                          </a:solidFill>
                          <a:latin typeface="Barlow"/>
                          <a:cs typeface="Barlow"/>
                        </a:rPr>
                        <a:t>rapid-assessment</a:t>
                      </a:r>
                    </a:p>
                  </a:txBody>
                  <a:tcPr marL="91440" marR="91440" marT="36576" marB="36576" anchor="ctr">
                    <a:solidFill>
                      <a:srgbClr val="FFFFFF"/>
                    </a:solidFill>
                  </a:tcPr>
                </a:tc>
                <a:tc>
                  <a:txBody>
                    <a:bodyPr/>
                    <a:lstStyle/>
                    <a:p>
                      <a:pPr>
                        <a:lnSpc>
                          <a:spcPct val="105000"/>
                        </a:lnSpc>
                      </a:pPr>
                      <a:r>
                        <a:rPr sz="1000" b="0" i="0">
                          <a:solidFill>
                            <a:srgbClr val="1E1E1E"/>
                          </a:solidFill>
                          <a:latin typeface="Barlow"/>
                          <a:cs typeface="Barlow"/>
                        </a:rPr>
                        <a:t>The discovery engine for Recovery and Implementation: prep, evidence mining, verification, solution research, three deliverables. Six stages.</a:t>
                      </a:r>
                    </a:p>
                  </a:txBody>
                  <a:tcPr marL="91440" marR="91440" marT="36576" marB="36576" anchor="ctr">
                    <a:solidFill>
                      <a:srgbClr val="FFFFFF"/>
                    </a:solidFill>
                  </a:tcPr>
                </a:tc>
                <a:tc>
                  <a:txBody>
                    <a:bodyPr/>
                    <a:lstStyle/>
                    <a:p>
                      <a:pPr>
                        <a:lnSpc>
                          <a:spcPct val="105000"/>
                        </a:lnSpc>
                      </a:pPr>
                      <a:r>
                        <a:rPr sz="1000" b="0" i="0">
                          <a:solidFill>
                            <a:srgbClr val="1E1E1E"/>
                          </a:solidFill>
                          <a:latin typeface="Barlow"/>
                          <a:cs typeface="Barlow"/>
                        </a:rPr>
                        <a:t>Transcripts are in source/</a:t>
                      </a:r>
                    </a:p>
                  </a:txBody>
                  <a:tcPr marL="91440" marR="91440" marT="36576" marB="36576" anchor="ctr">
                    <a:solidFill>
                      <a:srgbClr val="FFFFFF"/>
                    </a:solidFill>
                  </a:tcPr>
                </a:tc>
              </a:tr>
              <a:tr h="384810">
                <a:tc>
                  <a:txBody>
                    <a:bodyPr/>
                    <a:lstStyle/>
                    <a:p>
                      <a:pPr>
                        <a:lnSpc>
                          <a:spcPct val="105000"/>
                        </a:lnSpc>
                      </a:pPr>
                      <a:r>
                        <a:rPr sz="1000" b="1" i="0">
                          <a:solidFill>
                            <a:srgbClr val="1E1E1E"/>
                          </a:solidFill>
                          <a:latin typeface="Barlow"/>
                          <a:cs typeface="Barlow"/>
                        </a:rPr>
                        <a:t>custom-project</a:t>
                      </a:r>
                    </a:p>
                  </a:txBody>
                  <a:tcPr marL="91440" marR="91440" marT="36576" marB="36576" anchor="ctr">
                    <a:solidFill>
                      <a:srgbClr val="EAF4FC"/>
                    </a:solidFill>
                  </a:tcPr>
                </a:tc>
                <a:tc>
                  <a:txBody>
                    <a:bodyPr/>
                    <a:lstStyle/>
                    <a:p>
                      <a:pPr>
                        <a:lnSpc>
                          <a:spcPct val="105000"/>
                        </a:lnSpc>
                      </a:pPr>
                      <a:r>
                        <a:rPr sz="1000" b="0" i="0">
                          <a:solidFill>
                            <a:srgbClr val="1E1E1E"/>
                          </a:solidFill>
                          <a:latin typeface="Barlow"/>
                          <a:cs typeface="Barlow"/>
                        </a:rPr>
                        <a:t>The third engagement type. The folder shape and the scoped discovery that replaces a full assessment.</a:t>
                      </a:r>
                    </a:p>
                  </a:txBody>
                  <a:tcPr marL="91440" marR="91440" marT="36576" marB="36576" anchor="ctr">
                    <a:solidFill>
                      <a:srgbClr val="EAF4FC"/>
                    </a:solidFill>
                  </a:tcPr>
                </a:tc>
                <a:tc>
                  <a:txBody>
                    <a:bodyPr/>
                    <a:lstStyle/>
                    <a:p>
                      <a:pPr>
                        <a:lnSpc>
                          <a:spcPct val="105000"/>
                        </a:lnSpc>
                      </a:pPr>
                      <a:r>
                        <a:rPr sz="1000" b="0" i="0">
                          <a:solidFill>
                            <a:srgbClr val="1E1E1E"/>
                          </a:solidFill>
                          <a:latin typeface="Barlow"/>
                          <a:cs typeface="Barlow"/>
                        </a:rPr>
                        <a:t>Type is Custom Project</a:t>
                      </a:r>
                    </a:p>
                  </a:txBody>
                  <a:tcPr marL="91440" marR="91440" marT="36576" marB="36576" anchor="ctr">
                    <a:solidFill>
                      <a:srgbClr val="EAF4FC"/>
                    </a:solidFill>
                  </a:tcPr>
                </a:tc>
              </a:tr>
              <a:tr h="384810">
                <a:tc>
                  <a:txBody>
                    <a:bodyPr/>
                    <a:lstStyle/>
                    <a:p>
                      <a:pPr>
                        <a:lnSpc>
                          <a:spcPct val="105000"/>
                        </a:lnSpc>
                      </a:pPr>
                      <a:r>
                        <a:rPr sz="1000" b="1" i="0">
                          <a:solidFill>
                            <a:srgbClr val="1E1E1E"/>
                          </a:solidFill>
                          <a:latin typeface="Barlow"/>
                          <a:cs typeface="Barlow"/>
                        </a:rPr>
                        <a:t>customization-docs</a:t>
                      </a:r>
                    </a:p>
                  </a:txBody>
                  <a:tcPr marL="91440" marR="91440" marT="36576" marB="36576" anchor="ctr">
                    <a:solidFill>
                      <a:srgbClr val="FFFFFF"/>
                    </a:solidFill>
                  </a:tcPr>
                </a:tc>
                <a:tc>
                  <a:txBody>
                    <a:bodyPr/>
                    <a:lstStyle/>
                    <a:p>
                      <a:pPr>
                        <a:lnSpc>
                          <a:spcPct val="105000"/>
                        </a:lnSpc>
                      </a:pPr>
                      <a:r>
                        <a:rPr sz="1000" b="0" i="0">
                          <a:solidFill>
                            <a:srgbClr val="1E1E1E"/>
                          </a:solidFill>
                          <a:latin typeface="Barlow"/>
                          <a:cs typeface="Barlow"/>
                        </a:rPr>
                        <a:t>The Use Case before build and the FDD &amp; TDD handover at ship, for any net-new customization in any engagement type.</a:t>
                      </a:r>
                    </a:p>
                  </a:txBody>
                  <a:tcPr marL="91440" marR="91440" marT="36576" marB="36576" anchor="ctr">
                    <a:solidFill>
                      <a:srgbClr val="FFFFFF"/>
                    </a:solidFill>
                  </a:tcPr>
                </a:tc>
                <a:tc>
                  <a:txBody>
                    <a:bodyPr/>
                    <a:lstStyle/>
                    <a:p>
                      <a:pPr>
                        <a:lnSpc>
                          <a:spcPct val="105000"/>
                        </a:lnSpc>
                      </a:pPr>
                      <a:r>
                        <a:rPr sz="1000" b="0" i="0">
                          <a:solidFill>
                            <a:srgbClr val="1E1E1E"/>
                          </a:solidFill>
                          <a:latin typeface="Barlow"/>
                          <a:cs typeface="Barlow"/>
                        </a:rPr>
                        <a:t>Custom dev is scoped or shipping</a:t>
                      </a:r>
                    </a:p>
                  </a:txBody>
                  <a:tcPr marL="91440" marR="91440" marT="36576" marB="36576" anchor="ctr">
                    <a:solidFill>
                      <a:srgbClr val="FFFFFF"/>
                    </a:solidFill>
                  </a:tcPr>
                </a:tc>
              </a:tr>
              <a:tr h="384810">
                <a:tc>
                  <a:txBody>
                    <a:bodyPr/>
                    <a:lstStyle/>
                    <a:p>
                      <a:pPr>
                        <a:lnSpc>
                          <a:spcPct val="105000"/>
                        </a:lnSpc>
                      </a:pPr>
                      <a:r>
                        <a:rPr sz="1000" b="1" i="0">
                          <a:solidFill>
                            <a:srgbClr val="1E1E1E"/>
                          </a:solidFill>
                          <a:latin typeface="Barlow"/>
                          <a:cs typeface="Barlow"/>
                        </a:rPr>
                        <a:t>execution</a:t>
                      </a:r>
                    </a:p>
                  </a:txBody>
                  <a:tcPr marL="91440" marR="91440" marT="36576" marB="36576" anchor="ctr">
                    <a:solidFill>
                      <a:srgbClr val="EAF4FC"/>
                    </a:solidFill>
                  </a:tcPr>
                </a:tc>
                <a:tc>
                  <a:txBody>
                    <a:bodyPr/>
                    <a:lstStyle/>
                    <a:p>
                      <a:pPr>
                        <a:lnSpc>
                          <a:spcPct val="105000"/>
                        </a:lnSpc>
                      </a:pPr>
                      <a:r>
                        <a:rPr sz="1000" b="0" i="0">
                          <a:solidFill>
                            <a:srgbClr val="1E1E1E"/>
                          </a:solidFill>
                          <a:latin typeface="Barlow"/>
                          <a:cs typeface="Barlow"/>
                        </a:rPr>
                        <a:t>The build phase after sign-off: backlog sync, per-task planning, routing, sandbox-first build, production gates, actuals back to baselines.</a:t>
                      </a:r>
                    </a:p>
                  </a:txBody>
                  <a:tcPr marL="91440" marR="91440" marT="36576" marB="36576" anchor="ctr">
                    <a:solidFill>
                      <a:srgbClr val="EAF4FC"/>
                    </a:solidFill>
                  </a:tcPr>
                </a:tc>
                <a:tc>
                  <a:txBody>
                    <a:bodyPr/>
                    <a:lstStyle/>
                    <a:p>
                      <a:pPr>
                        <a:lnSpc>
                          <a:spcPct val="105000"/>
                        </a:lnSpc>
                      </a:pPr>
                      <a:r>
                        <a:rPr sz="1000" b="0" i="0">
                          <a:solidFill>
                            <a:srgbClr val="1E1E1E"/>
                          </a:solidFill>
                          <a:latin typeface="Barlow"/>
                          <a:cs typeface="Barlow"/>
                        </a:rPr>
                        <a:t>Work is approved to build</a:t>
                      </a:r>
                    </a:p>
                  </a:txBody>
                  <a:tcPr marL="91440" marR="91440" marT="36576" marB="36576" anchor="ctr">
                    <a:solidFill>
                      <a:srgbClr val="EAF4FC"/>
                    </a:solidFill>
                  </a:tcPr>
                </a:tc>
              </a:tr>
              <a:tr h="384810">
                <a:tc>
                  <a:txBody>
                    <a:bodyPr/>
                    <a:lstStyle/>
                    <a:p>
                      <a:pPr>
                        <a:lnSpc>
                          <a:spcPct val="105000"/>
                        </a:lnSpc>
                      </a:pPr>
                      <a:r>
                        <a:rPr sz="1000" b="1" i="0">
                          <a:solidFill>
                            <a:srgbClr val="1E1E1E"/>
                          </a:solidFill>
                          <a:latin typeface="Barlow"/>
                          <a:cs typeface="Barlow"/>
                        </a:rPr>
                        <a:t>celigo</a:t>
                      </a:r>
                    </a:p>
                  </a:txBody>
                  <a:tcPr marL="91440" marR="91440" marT="36576" marB="36576" anchor="ctr">
                    <a:solidFill>
                      <a:srgbClr val="FFFFFF"/>
                    </a:solidFill>
                  </a:tcPr>
                </a:tc>
                <a:tc>
                  <a:txBody>
                    <a:bodyPr/>
                    <a:lstStyle/>
                    <a:p>
                      <a:pPr>
                        <a:lnSpc>
                          <a:spcPct val="105000"/>
                        </a:lnSpc>
                      </a:pPr>
                      <a:r>
                        <a:rPr sz="1000" b="0" i="0">
                          <a:solidFill>
                            <a:srgbClr val="1E1E1E"/>
                          </a:solidFill>
                          <a:latin typeface="Barlow"/>
                          <a:cs typeface="Barlow"/>
                        </a:rPr>
                        <a:t>The client's integration layer: read-only flow inventory in discovery, error triage, flow changes under the production gate.</a:t>
                      </a:r>
                    </a:p>
                  </a:txBody>
                  <a:tcPr marL="91440" marR="91440" marT="36576" marB="36576" anchor="ctr">
                    <a:solidFill>
                      <a:srgbClr val="FFFFFF"/>
                    </a:solidFill>
                  </a:tcPr>
                </a:tc>
                <a:tc>
                  <a:txBody>
                    <a:bodyPr/>
                    <a:lstStyle/>
                    <a:p>
                      <a:pPr>
                        <a:lnSpc>
                          <a:spcPct val="105000"/>
                        </a:lnSpc>
                      </a:pPr>
                      <a:r>
                        <a:rPr sz="1000" b="0" i="0">
                          <a:solidFill>
                            <a:srgbClr val="1E1E1E"/>
                          </a:solidFill>
                          <a:latin typeface="Barlow"/>
                          <a:cs typeface="Barlow"/>
                        </a:rPr>
                        <a:t>Celigo is in the stack</a:t>
                      </a:r>
                    </a:p>
                  </a:txBody>
                  <a:tcPr marL="91440" marR="91440" marT="36576" marB="36576" anchor="ctr">
                    <a:solidFill>
                      <a:srgbClr val="FFFFFF"/>
                    </a:solidFill>
                  </a:tcPr>
                </a:tc>
              </a:tr>
              <a:tr h="384810">
                <a:tc>
                  <a:txBody>
                    <a:bodyPr/>
                    <a:lstStyle/>
                    <a:p>
                      <a:pPr>
                        <a:lnSpc>
                          <a:spcPct val="105000"/>
                        </a:lnSpc>
                      </a:pPr>
                      <a:r>
                        <a:rPr sz="1000" b="1" i="0">
                          <a:solidFill>
                            <a:srgbClr val="1E1E1E"/>
                          </a:solidFill>
                          <a:latin typeface="Barlow"/>
                          <a:cs typeface="Barlow"/>
                        </a:rPr>
                        <a:t>customer-exec-summary</a:t>
                      </a:r>
                    </a:p>
                  </a:txBody>
                  <a:tcPr marL="91440" marR="91440" marT="36576" marB="36576" anchor="ctr">
                    <a:solidFill>
                      <a:srgbClr val="EAF4FC"/>
                    </a:solidFill>
                  </a:tcPr>
                </a:tc>
                <a:tc>
                  <a:txBody>
                    <a:bodyPr/>
                    <a:lstStyle/>
                    <a:p>
                      <a:pPr>
                        <a:lnSpc>
                          <a:spcPct val="105000"/>
                        </a:lnSpc>
                      </a:pPr>
                      <a:r>
                        <a:rPr sz="1000" b="0" i="0">
                          <a:solidFill>
                            <a:srgbClr val="1E1E1E"/>
                          </a:solidFill>
                          <a:latin typeface="Barlow"/>
                          <a:cs typeface="Barlow"/>
                        </a:rPr>
                        <a:t>The recurring status document from Asana, hours, email, Drive and meeting notes, plus the cross-reference that catches what slipped.</a:t>
                      </a:r>
                    </a:p>
                  </a:txBody>
                  <a:tcPr marL="91440" marR="91440" marT="36576" marB="36576" anchor="ctr">
                    <a:solidFill>
                      <a:srgbClr val="EAF4FC"/>
                    </a:solidFill>
                  </a:tcPr>
                </a:tc>
                <a:tc>
                  <a:txBody>
                    <a:bodyPr/>
                    <a:lstStyle/>
                    <a:p>
                      <a:pPr>
                        <a:lnSpc>
                          <a:spcPct val="105000"/>
                        </a:lnSpc>
                      </a:pPr>
                      <a:r>
                        <a:rPr sz="1000" b="0" i="0">
                          <a:solidFill>
                            <a:srgbClr val="1E1E1E"/>
                          </a:solidFill>
                          <a:latin typeface="Barlow"/>
                          <a:cs typeface="Barlow"/>
                        </a:rPr>
                        <a:t>Someone asks for a status update</a:t>
                      </a:r>
                    </a:p>
                  </a:txBody>
                  <a:tcPr marL="91440" marR="91440" marT="36576" marB="36576" anchor="ctr">
                    <a:solidFill>
                      <a:srgbClr val="EAF4FC"/>
                    </a:solidFill>
                  </a:tcPr>
                </a:tc>
              </a:tr>
              <a:tr h="384810">
                <a:tc>
                  <a:txBody>
                    <a:bodyPr/>
                    <a:lstStyle/>
                    <a:p>
                      <a:pPr>
                        <a:lnSpc>
                          <a:spcPct val="105000"/>
                        </a:lnSpc>
                      </a:pPr>
                      <a:r>
                        <a:rPr sz="1000" b="1" i="0">
                          <a:solidFill>
                            <a:srgbClr val="1E1E1E"/>
                          </a:solidFill>
                          <a:latin typeface="Barlow"/>
                          <a:cs typeface="Barlow"/>
                        </a:rPr>
                        <a:t>sdf-scaffold</a:t>
                      </a:r>
                    </a:p>
                  </a:txBody>
                  <a:tcPr marL="91440" marR="91440" marT="36576" marB="36576" anchor="ctr">
                    <a:solidFill>
                      <a:srgbClr val="FFFFFF"/>
                    </a:solidFill>
                  </a:tcPr>
                </a:tc>
                <a:tc>
                  <a:txBody>
                    <a:bodyPr/>
                    <a:lstStyle/>
                    <a:p>
                      <a:pPr>
                        <a:lnSpc>
                          <a:spcPct val="105000"/>
                        </a:lnSpc>
                      </a:pPr>
                      <a:r>
                        <a:rPr sz="1000" b="0" i="0">
                          <a:solidFill>
                            <a:srgbClr val="1E1E1E"/>
                          </a:solidFill>
                          <a:latin typeface="Barlow"/>
                          <a:cs typeface="Barlow"/>
                        </a:rPr>
                        <a:t>Creates a SuiteCloud project to Power Cloud standards.</a:t>
                      </a:r>
                    </a:p>
                  </a:txBody>
                  <a:tcPr marL="91440" marR="91440" marT="36576" marB="36576" anchor="ctr">
                    <a:solidFill>
                      <a:srgbClr val="FFFFFF"/>
                    </a:solidFill>
                  </a:tcPr>
                </a:tc>
                <a:tc>
                  <a:txBody>
                    <a:bodyPr/>
                    <a:lstStyle/>
                    <a:p>
                      <a:pPr>
                        <a:lnSpc>
                          <a:spcPct val="105000"/>
                        </a:lnSpc>
                      </a:pPr>
                      <a:r>
                        <a:rPr sz="1000" b="0" i="0">
                          <a:solidFill>
                            <a:srgbClr val="1E1E1E"/>
                          </a:solidFill>
                          <a:latin typeface="Barlow"/>
                          <a:cs typeface="Barlow"/>
                        </a:rPr>
                        <a:t>First build on an engagement</a:t>
                      </a:r>
                    </a:p>
                  </a:txBody>
                  <a:tcPr marL="91440" marR="91440" marT="36576" marB="36576" anchor="ctr">
                    <a:solidFill>
                      <a:srgbClr val="FFFFFF"/>
                    </a:solidFill>
                  </a:tcPr>
                </a:tc>
              </a:tr>
              <a:tr h="384810">
                <a:tc>
                  <a:txBody>
                    <a:bodyPr/>
                    <a:lstStyle/>
                    <a:p>
                      <a:pPr>
                        <a:lnSpc>
                          <a:spcPct val="105000"/>
                        </a:lnSpc>
                      </a:pPr>
                      <a:r>
                        <a:rPr sz="1000" b="1" i="0">
                          <a:solidFill>
                            <a:srgbClr val="1E1E1E"/>
                          </a:solidFill>
                          <a:latin typeface="Barlow"/>
                          <a:cs typeface="Barlow"/>
                        </a:rPr>
                        <a:t>sdf-deploy</a:t>
                      </a:r>
                    </a:p>
                  </a:txBody>
                  <a:tcPr marL="91440" marR="91440" marT="36576" marB="36576" anchor="ctr">
                    <a:solidFill>
                      <a:srgbClr val="EAF4FC"/>
                    </a:solidFill>
                  </a:tcPr>
                </a:tc>
                <a:tc>
                  <a:txBody>
                    <a:bodyPr/>
                    <a:lstStyle/>
                    <a:p>
                      <a:pPr>
                        <a:lnSpc>
                          <a:spcPct val="105000"/>
                        </a:lnSpc>
                      </a:pPr>
                      <a:r>
                        <a:rPr sz="1000" b="0" i="0">
                          <a:solidFill>
                            <a:srgbClr val="1E1E1E"/>
                          </a:solidFill>
                          <a:latin typeface="Barlow"/>
                          <a:cs typeface="Barlow"/>
                        </a:rPr>
                        <a:t>Validates and deploys to NetSuite, sandbox first, with the account identity check and a human-gated production step.</a:t>
                      </a:r>
                    </a:p>
                  </a:txBody>
                  <a:tcPr marL="91440" marR="91440" marT="36576" marB="36576" anchor="ctr">
                    <a:solidFill>
                      <a:srgbClr val="EAF4FC"/>
                    </a:solidFill>
                  </a:tcPr>
                </a:tc>
                <a:tc>
                  <a:txBody>
                    <a:bodyPr/>
                    <a:lstStyle/>
                    <a:p>
                      <a:pPr>
                        <a:lnSpc>
                          <a:spcPct val="105000"/>
                        </a:lnSpc>
                      </a:pPr>
                      <a:r>
                        <a:rPr sz="1000" b="0" i="0">
                          <a:solidFill>
                            <a:srgbClr val="1E1E1E"/>
                          </a:solidFill>
                          <a:latin typeface="Barlow"/>
                          <a:cs typeface="Barlow"/>
                        </a:rPr>
                        <a:t>A build is ready to land</a:t>
                      </a:r>
                    </a:p>
                  </a:txBody>
                  <a:tcPr marL="91440" marR="91440" marT="36576" marB="36576" anchor="ctr">
                    <a:solidFill>
                      <a:srgbClr val="EAF4FC"/>
                    </a:solidFill>
                  </a:tcPr>
                </a:tc>
              </a:tr>
              <a:tr h="384810">
                <a:tc>
                  <a:txBody>
                    <a:bodyPr/>
                    <a:lstStyle/>
                    <a:p>
                      <a:pPr>
                        <a:lnSpc>
                          <a:spcPct val="105000"/>
                        </a:lnSpc>
                      </a:pPr>
                      <a:r>
                        <a:rPr sz="1000" b="1" i="0">
                          <a:solidFill>
                            <a:srgbClr val="1E1E1E"/>
                          </a:solidFill>
                          <a:latin typeface="Barlow"/>
                          <a:cs typeface="Barlow"/>
                        </a:rPr>
                        <a:t>humanizer</a:t>
                      </a:r>
                    </a:p>
                  </a:txBody>
                  <a:tcPr marL="91440" marR="91440" marT="36576" marB="36576" anchor="ctr">
                    <a:solidFill>
                      <a:srgbClr val="FFFFFF"/>
                    </a:solidFill>
                  </a:tcPr>
                </a:tc>
                <a:tc>
                  <a:txBody>
                    <a:bodyPr/>
                    <a:lstStyle/>
                    <a:p>
                      <a:pPr>
                        <a:lnSpc>
                          <a:spcPct val="105000"/>
                        </a:lnSpc>
                      </a:pPr>
                      <a:r>
                        <a:rPr sz="1000" b="0" i="0">
                          <a:solidFill>
                            <a:srgbClr val="1E1E1E"/>
                          </a:solidFill>
                          <a:latin typeface="Barlow"/>
                          <a:cs typeface="Barlow"/>
                        </a:rPr>
                        <a:t>Strips the mechanical tells out of client-facing drafts. Numbers, LOE, billing language and quotes are untouchable.</a:t>
                      </a:r>
                    </a:p>
                  </a:txBody>
                  <a:tcPr marL="91440" marR="91440" marT="36576" marB="36576" anchor="ctr">
                    <a:solidFill>
                      <a:srgbClr val="FFFFFF"/>
                    </a:solidFill>
                  </a:tcPr>
                </a:tc>
                <a:tc>
                  <a:txBody>
                    <a:bodyPr/>
                    <a:lstStyle/>
                    <a:p>
                      <a:pPr>
                        <a:lnSpc>
                          <a:spcPct val="105000"/>
                        </a:lnSpc>
                      </a:pPr>
                      <a:r>
                        <a:rPr sz="1000" b="0" i="0">
                          <a:solidFill>
                            <a:srgbClr val="1E1E1E"/>
                          </a:solidFill>
                          <a:latin typeface="Barlow"/>
                          <a:cs typeface="Barlow"/>
                        </a:rPr>
                        <a:t>Before every draft review</a:t>
                      </a:r>
                    </a:p>
                  </a:txBody>
                  <a:tcPr marL="91440" marR="91440" marT="36576" marB="36576" anchor="ctr">
                    <a:solidFill>
                      <a:srgbClr val="FFFFFF"/>
                    </a:solidFill>
                  </a:tcPr>
                </a:tc>
              </a:tr>
              <a:tr h="384810">
                <a:tc>
                  <a:txBody>
                    <a:bodyPr/>
                    <a:lstStyle/>
                    <a:p>
                      <a:pPr>
                        <a:lnSpc>
                          <a:spcPct val="105000"/>
                        </a:lnSpc>
                      </a:pPr>
                      <a:r>
                        <a:rPr sz="1000" b="1" i="0">
                          <a:solidFill>
                            <a:srgbClr val="1E1E1E"/>
                          </a:solidFill>
                          <a:latin typeface="Barlow"/>
                          <a:cs typeface="Barlow"/>
                        </a:rPr>
                        <a:t>feedback</a:t>
                      </a:r>
                    </a:p>
                  </a:txBody>
                  <a:tcPr marL="91440" marR="91440" marT="36576" marB="36576" anchor="ctr">
                    <a:solidFill>
                      <a:srgbClr val="EAF4FC"/>
                    </a:solidFill>
                  </a:tcPr>
                </a:tc>
                <a:tc>
                  <a:txBody>
                    <a:bodyPr/>
                    <a:lstStyle/>
                    <a:p>
                      <a:pPr>
                        <a:lnSpc>
                          <a:spcPct val="105000"/>
                        </a:lnSpc>
                      </a:pPr>
                      <a:r>
                        <a:rPr sz="1000" b="0" i="0">
                          <a:solidFill>
                            <a:srgbClr val="1E1E1E"/>
                          </a:solidFill>
                          <a:latin typeface="Barlow"/>
                          <a:cs typeface="Barlow"/>
                        </a:rPr>
                        <a:t>Captures what got in your way into the root inbox, from what just happened in the session, and triages what has collected.</a:t>
                      </a:r>
                    </a:p>
                  </a:txBody>
                  <a:tcPr marL="91440" marR="91440" marT="36576" marB="36576" anchor="ctr">
                    <a:solidFill>
                      <a:srgbClr val="EAF4FC"/>
                    </a:solidFill>
                  </a:tcPr>
                </a:tc>
                <a:tc>
                  <a:txBody>
                    <a:bodyPr/>
                    <a:lstStyle/>
                    <a:p>
                      <a:pPr>
                        <a:lnSpc>
                          <a:spcPct val="105000"/>
                        </a:lnSpc>
                      </a:pPr>
                      <a:r>
                        <a:rPr sz="1000" b="0" i="0">
                          <a:solidFill>
                            <a:srgbClr val="1E1E1E"/>
                          </a:solidFill>
                          <a:latin typeface="Barlow"/>
                          <a:cs typeface="Barlow"/>
                        </a:rPr>
                        <a:t>"Log this as feedback" or /feedback</a:t>
                      </a:r>
                    </a:p>
                  </a:txBody>
                  <a:tcPr marL="91440" marR="91440" marT="36576" marB="36576" anchor="ctr">
                    <a:solidFill>
                      <a:srgbClr val="EAF4FC"/>
                    </a:solidFill>
                  </a:tcPr>
                </a:tc>
              </a:tr>
            </a:tbl>
          </a:graphicData>
        </a:graphic>
      </p:graphicFrame>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it has already done</a:t>
            </a:r>
          </a:p>
        </p:txBody>
      </p:sp>
      <p:sp>
        <p:nvSpPr>
          <p:cNvPr id="6" name="Rounded Rectangle 5"/>
          <p:cNvSpPr/>
          <p:nvPr/>
        </p:nvSpPr>
        <p:spPr>
          <a:xfrm>
            <a:off x="640080"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00200"/>
            <a:ext cx="2148840" cy="1371600"/>
          </a:xfrm>
          <a:prstGeom prst="rect">
            <a:avLst/>
          </a:prstGeom>
          <a:noFill/>
        </p:spPr>
        <p:txBody>
          <a:bodyPr wrap="square" anchor="ctr" lIns="45720" rIns="45720" tIns="18288" bIns="18288">
            <a:spAutoFit/>
          </a:bodyPr>
          <a:lstStyle/>
          <a:p>
            <a:pPr algn="ctr"/>
            <a:r>
              <a:rPr sz="3000" b="1" i="0">
                <a:solidFill>
                  <a:srgbClr val="31A4F3"/>
                </a:solidFill>
                <a:latin typeface="Montserrat"/>
                <a:cs typeface="Montserrat"/>
              </a:rPr>
              <a:t>10 to 4</a:t>
            </a:r>
          </a:p>
        </p:txBody>
      </p:sp>
      <p:sp>
        <p:nvSpPr>
          <p:cNvPr id="8" name="TextBox 7"/>
          <p:cNvSpPr txBox="1"/>
          <p:nvPr/>
        </p:nvSpPr>
        <p:spPr>
          <a:xfrm>
            <a:off x="822959"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hours to generate a client report.</a:t>
            </a:r>
          </a:p>
        </p:txBody>
      </p:sp>
      <p:sp>
        <p:nvSpPr>
          <p:cNvPr id="9" name="Rounded Rectangle 8"/>
          <p:cNvSpPr/>
          <p:nvPr/>
        </p:nvSpPr>
        <p:spPr>
          <a:xfrm>
            <a:off x="3429000"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600200"/>
            <a:ext cx="2148840" cy="1371600"/>
          </a:xfrm>
          <a:prstGeom prst="rect">
            <a:avLst/>
          </a:prstGeom>
          <a:noFill/>
        </p:spPr>
        <p:txBody>
          <a:bodyPr wrap="square" anchor="ctr" lIns="45720" rIns="45720" tIns="18288" bIns="18288">
            <a:spAutoFit/>
          </a:bodyPr>
          <a:lstStyle/>
          <a:p>
            <a:pPr algn="ctr"/>
            <a:r>
              <a:rPr sz="4000" b="1" i="0">
                <a:solidFill>
                  <a:srgbClr val="31A4F3"/>
                </a:solidFill>
                <a:latin typeface="Montserrat"/>
                <a:cs typeface="Montserrat"/>
              </a:rPr>
              <a:t>8 to 2</a:t>
            </a:r>
          </a:p>
        </p:txBody>
      </p:sp>
      <p:sp>
        <p:nvSpPr>
          <p:cNvPr id="11" name="TextBox 10"/>
          <p:cNvSpPr txBox="1"/>
          <p:nvPr/>
        </p:nvSpPr>
        <p:spPr>
          <a:xfrm>
            <a:off x="3611880"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hours to produce a rapid assessment: from a transcript instead of from a consultant's notes.</a:t>
            </a:r>
          </a:p>
        </p:txBody>
      </p:sp>
      <p:sp>
        <p:nvSpPr>
          <p:cNvPr id="12" name="Rounded Rectangle 11"/>
          <p:cNvSpPr/>
          <p:nvPr/>
        </p:nvSpPr>
        <p:spPr>
          <a:xfrm>
            <a:off x="6217920"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600200"/>
            <a:ext cx="2148840" cy="1371600"/>
          </a:xfrm>
          <a:prstGeom prst="rect">
            <a:avLst/>
          </a:prstGeom>
          <a:noFill/>
        </p:spPr>
        <p:txBody>
          <a:bodyPr wrap="square" anchor="ctr" lIns="45720" rIns="45720" tIns="18288" bIns="18288">
            <a:spAutoFit/>
          </a:bodyPr>
          <a:lstStyle/>
          <a:p>
            <a:pPr algn="ctr"/>
            <a:r>
              <a:rPr sz="3000" b="1" i="0">
                <a:solidFill>
                  <a:srgbClr val="31A4F3"/>
                </a:solidFill>
                <a:latin typeface="Montserrat"/>
                <a:cs typeface="Montserrat"/>
              </a:rPr>
              <a:t>Under 1%</a:t>
            </a:r>
          </a:p>
        </p:txBody>
      </p:sp>
      <p:sp>
        <p:nvSpPr>
          <p:cNvPr id="14" name="TextBox 13"/>
          <p:cNvSpPr txBox="1"/>
          <p:nvPr/>
        </p:nvSpPr>
        <p:spPr>
          <a:xfrm>
            <a:off x="6400800"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Shinesty's actual return rate, against the 25 to 30% the client reported. Script-level proof nobody would have dug up by hand.</a:t>
            </a:r>
          </a:p>
        </p:txBody>
      </p:sp>
      <p:sp>
        <p:nvSpPr>
          <p:cNvPr id="15" name="Rounded Rectangle 14"/>
          <p:cNvSpPr/>
          <p:nvPr/>
        </p:nvSpPr>
        <p:spPr>
          <a:xfrm>
            <a:off x="9006839"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19" y="1600200"/>
            <a:ext cx="2148840" cy="1371600"/>
          </a:xfrm>
          <a:prstGeom prst="rect">
            <a:avLst/>
          </a:prstGeom>
          <a:noFill/>
        </p:spPr>
        <p:txBody>
          <a:bodyPr wrap="square" anchor="ctr" lIns="45720" rIns="45720" tIns="18288" bIns="18288">
            <a:spAutoFit/>
          </a:bodyPr>
          <a:lstStyle/>
          <a:p>
            <a:pPr algn="ctr"/>
            <a:r>
              <a:rPr sz="4000" b="1" i="0">
                <a:solidFill>
                  <a:srgbClr val="31A4F3"/>
                </a:solidFill>
                <a:latin typeface="Montserrat"/>
                <a:cs typeface="Montserrat"/>
              </a:rPr>
              <a:t>1 day</a:t>
            </a:r>
          </a:p>
        </p:txBody>
      </p:sp>
      <p:sp>
        <p:nvSpPr>
          <p:cNvPr id="17" name="TextBox 16"/>
          <p:cNvSpPr txBox="1"/>
          <p:nvPr/>
        </p:nvSpPr>
        <p:spPr>
          <a:xfrm>
            <a:off x="9189719"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Teppermans: a suitelet fix went from call transcript to sandbox-deployed. Nobody touched the script but Claude.</a:t>
            </a:r>
          </a:p>
        </p:txBody>
      </p:sp>
      <p:sp>
        <p:nvSpPr>
          <p:cNvPr id="18" name="Rounded Rectangle 17"/>
          <p:cNvSpPr/>
          <p:nvPr/>
        </p:nvSpPr>
        <p:spPr>
          <a:xfrm>
            <a:off x="640080" y="5029200"/>
            <a:ext cx="10881360" cy="118872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The standout after several weeks of use has been data handling: messy conversation plus raw exports, landed in NetSuite in the right shape, better than expected. And the case studies coming up are all work that happened inside the OS.</a:t>
            </a:r>
          </a:p>
        </p:txBody>
      </p:sp>
      <p:sp>
        <p:nvSpPr>
          <p:cNvPr id="19" name="Rectangle 18"/>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1" name="TextBox 20"/>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Not a pilot: what is on the shelf today</a:t>
            </a:r>
          </a:p>
        </p:txBody>
      </p:sp>
      <p:sp>
        <p:nvSpPr>
          <p:cNvPr id="6" name="Rounded Rectangle 5"/>
          <p:cNvSpPr/>
          <p:nvPr/>
        </p:nvSpPr>
        <p:spPr>
          <a:xfrm>
            <a:off x="640080"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00200"/>
            <a:ext cx="2148840" cy="1371600"/>
          </a:xfrm>
          <a:prstGeom prst="rect">
            <a:avLst/>
          </a:prstGeom>
          <a:noFill/>
        </p:spPr>
        <p:txBody>
          <a:bodyPr wrap="square" anchor="ctr" lIns="45720" rIns="45720" tIns="18288" bIns="18288">
            <a:spAutoFit/>
          </a:bodyPr>
          <a:lstStyle/>
          <a:p>
            <a:pPr algn="ctr"/>
            <a:r>
              <a:rPr sz="4000" b="1" i="0">
                <a:solidFill>
                  <a:srgbClr val="31A4F3"/>
                </a:solidFill>
                <a:latin typeface="Montserrat"/>
                <a:cs typeface="Montserrat"/>
              </a:rPr>
              <a:t>10</a:t>
            </a:r>
          </a:p>
        </p:txBody>
      </p:sp>
      <p:sp>
        <p:nvSpPr>
          <p:cNvPr id="8" name="TextBox 7"/>
          <p:cNvSpPr txBox="1"/>
          <p:nvPr/>
        </p:nvSpPr>
        <p:spPr>
          <a:xfrm>
            <a:off x="822959"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clients with engagement records in the OS</a:t>
            </a:r>
          </a:p>
        </p:txBody>
      </p:sp>
      <p:sp>
        <p:nvSpPr>
          <p:cNvPr id="9" name="Rounded Rectangle 8"/>
          <p:cNvSpPr/>
          <p:nvPr/>
        </p:nvSpPr>
        <p:spPr>
          <a:xfrm>
            <a:off x="3429000"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600200"/>
            <a:ext cx="2148840" cy="1371600"/>
          </a:xfrm>
          <a:prstGeom prst="rect">
            <a:avLst/>
          </a:prstGeom>
          <a:noFill/>
        </p:spPr>
        <p:txBody>
          <a:bodyPr wrap="square" anchor="ctr" lIns="45720" rIns="45720" tIns="18288" bIns="18288">
            <a:spAutoFit/>
          </a:bodyPr>
          <a:lstStyle/>
          <a:p>
            <a:pPr algn="ctr"/>
            <a:r>
              <a:rPr sz="4000" b="1" i="0">
                <a:solidFill>
                  <a:srgbClr val="31A4F3"/>
                </a:solidFill>
                <a:latin typeface="Montserrat"/>
                <a:cs typeface="Montserrat"/>
              </a:rPr>
              <a:t>18</a:t>
            </a:r>
          </a:p>
        </p:txBody>
      </p:sp>
      <p:sp>
        <p:nvSpPr>
          <p:cNvPr id="11" name="TextBox 10"/>
          <p:cNvSpPr txBox="1"/>
          <p:nvPr/>
        </p:nvSpPr>
        <p:spPr>
          <a:xfrm>
            <a:off x="3611880"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engagement records, including nested custom projects</a:t>
            </a:r>
          </a:p>
        </p:txBody>
      </p:sp>
      <p:sp>
        <p:nvSpPr>
          <p:cNvPr id="12" name="Rounded Rectangle 11"/>
          <p:cNvSpPr/>
          <p:nvPr/>
        </p:nvSpPr>
        <p:spPr>
          <a:xfrm>
            <a:off x="6217920"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600200"/>
            <a:ext cx="2148840" cy="1371600"/>
          </a:xfrm>
          <a:prstGeom prst="rect">
            <a:avLst/>
          </a:prstGeom>
          <a:noFill/>
        </p:spPr>
        <p:txBody>
          <a:bodyPr wrap="square" anchor="ctr" lIns="45720" rIns="45720" tIns="18288" bIns="18288">
            <a:spAutoFit/>
          </a:bodyPr>
          <a:lstStyle/>
          <a:p>
            <a:pPr algn="ctr"/>
            <a:r>
              <a:rPr sz="4000" b="1" i="0">
                <a:solidFill>
                  <a:srgbClr val="31A4F3"/>
                </a:solidFill>
                <a:latin typeface="Montserrat"/>
                <a:cs typeface="Montserrat"/>
              </a:rPr>
              <a:t>31</a:t>
            </a:r>
          </a:p>
        </p:txBody>
      </p:sp>
      <p:sp>
        <p:nvSpPr>
          <p:cNvPr id="14" name="TextBox 13"/>
          <p:cNvSpPr txBox="1"/>
          <p:nvPr/>
        </p:nvSpPr>
        <p:spPr>
          <a:xfrm>
            <a:off x="6400800"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finals shipped from deliverables/ folders</a:t>
            </a:r>
          </a:p>
        </p:txBody>
      </p:sp>
      <p:sp>
        <p:nvSpPr>
          <p:cNvPr id="15" name="Rounded Rectangle 14"/>
          <p:cNvSpPr/>
          <p:nvPr/>
        </p:nvSpPr>
        <p:spPr>
          <a:xfrm>
            <a:off x="9006839" y="1463040"/>
            <a:ext cx="2514600" cy="32918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19" y="1600200"/>
            <a:ext cx="2148840" cy="1371600"/>
          </a:xfrm>
          <a:prstGeom prst="rect">
            <a:avLst/>
          </a:prstGeom>
          <a:noFill/>
        </p:spPr>
        <p:txBody>
          <a:bodyPr wrap="square" anchor="ctr" lIns="45720" rIns="45720" tIns="18288" bIns="18288">
            <a:spAutoFit/>
          </a:bodyPr>
          <a:lstStyle/>
          <a:p>
            <a:pPr algn="ctr"/>
            <a:r>
              <a:rPr sz="4000" b="1" i="0">
                <a:solidFill>
                  <a:srgbClr val="31A4F3"/>
                </a:solidFill>
                <a:latin typeface="Montserrat"/>
                <a:cs typeface="Montserrat"/>
              </a:rPr>
              <a:t>8</a:t>
            </a:r>
          </a:p>
        </p:txBody>
      </p:sp>
      <p:sp>
        <p:nvSpPr>
          <p:cNvPr id="17" name="TextBox 16"/>
          <p:cNvSpPr txBox="1"/>
          <p:nvPr/>
        </p:nvSpPr>
        <p:spPr>
          <a:xfrm>
            <a:off x="9189719" y="2880360"/>
            <a:ext cx="2148840" cy="1828800"/>
          </a:xfrm>
          <a:prstGeom prst="rect">
            <a:avLst/>
          </a:prstGeom>
          <a:noFill/>
        </p:spPr>
        <p:txBody>
          <a:bodyPr wrap="square" anchor="t" lIns="45720" rIns="45720" tIns="18288" bIns="18288">
            <a:spAutoFit/>
          </a:bodyPr>
          <a:lstStyle/>
          <a:p>
            <a:pPr algn="ctr">
              <a:lnSpc>
                <a:spcPct val="110000"/>
              </a:lnSpc>
            </a:pPr>
            <a:r>
              <a:rPr sz="1300" b="0" i="0">
                <a:solidFill>
                  <a:srgbClr val="FFFFFF"/>
                </a:solidFill>
                <a:latin typeface="Barlow"/>
                <a:cs typeface="Barlow"/>
              </a:rPr>
              <a:t>engagements with execution work in progress</a:t>
            </a:r>
          </a:p>
        </p:txBody>
      </p:sp>
      <p:sp>
        <p:nvSpPr>
          <p:cNvPr id="18" name="Rounded Rectangle 17"/>
          <p:cNvSpPr/>
          <p:nvPr/>
        </p:nvSpPr>
        <p:spPr>
          <a:xfrm>
            <a:off x="640080" y="5029200"/>
            <a:ext cx="10881360" cy="118872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From ENGAGEMENT_LOG.md at the root, generated September 2 from what each folder actually wrote to disk. Nobody maintains it by hand, so it reflects work done rather than a field someone remembered to update.</a:t>
            </a:r>
          </a:p>
        </p:txBody>
      </p:sp>
      <p:sp>
        <p:nvSpPr>
          <p:cNvPr id="19" name="Rectangle 18"/>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1" name="TextBox 20"/>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058400" cy="914400"/>
          </a:xfrm>
          <a:prstGeom prst="rect">
            <a:avLst/>
          </a:prstGeom>
          <a:noFill/>
        </p:spPr>
        <p:txBody>
          <a:bodyPr wrap="square" anchor="t" lIns="45720" rIns="45720" tIns="18288" bIns="18288">
            <a:spAutoFit/>
          </a:bodyPr>
          <a:lstStyle/>
          <a:p>
            <a:r>
              <a:rPr sz="6000" b="1" i="0">
                <a:solidFill>
                  <a:srgbClr val="31A4F3"/>
                </a:solidFill>
                <a:latin typeface="Montserrat"/>
                <a:cs typeface="Montserrat"/>
              </a:rPr>
              <a:t>02</a:t>
            </a:r>
          </a:p>
        </p:txBody>
      </p:sp>
      <p:sp>
        <p:nvSpPr>
          <p:cNvPr id="5" name="TextBox 4"/>
          <p:cNvSpPr txBox="1"/>
          <p:nvPr/>
        </p:nvSpPr>
        <p:spPr>
          <a:xfrm>
            <a:off x="914400" y="2651760"/>
            <a:ext cx="10058400" cy="2286000"/>
          </a:xfrm>
          <a:prstGeom prst="rect">
            <a:avLst/>
          </a:prstGeom>
          <a:noFill/>
        </p:spPr>
        <p:txBody>
          <a:bodyPr wrap="square" anchor="t" lIns="45720" rIns="45720" tIns="18288" bIns="18288">
            <a:spAutoFit/>
          </a:bodyPr>
          <a:lstStyle/>
          <a:p>
            <a:r>
              <a:rPr sz="4000" b="1" i="0">
                <a:solidFill>
                  <a:srgbClr val="FFFFFF"/>
                </a:solidFill>
                <a:latin typeface="Montserrat"/>
                <a:cs typeface="Montserrat"/>
              </a:rPr>
              <a:t>One engagement, end to end</a:t>
            </a:r>
          </a:p>
          <a:p>
            <a:pPr>
              <a:spcBef>
                <a:spcPts val="1400"/>
              </a:spcBef>
            </a:pPr>
            <a:r>
              <a:rPr sz="1800" b="0" i="0">
                <a:solidFill>
                  <a:srgbClr val="FFFFFF"/>
                </a:solidFill>
                <a:latin typeface="Barlow"/>
                <a:cs typeface="Barlow"/>
              </a:rPr>
              <a:t>Sales handover to retro. Walked from the how-to guide's own arc, with a real folder on screen.</a:t>
            </a:r>
          </a:p>
        </p:txBody>
      </p:sp>
      <p:sp>
        <p:nvSpPr>
          <p:cNvPr id="6" name="Rounded Rectangle 5"/>
          <p:cNvSpPr/>
          <p:nvPr/>
        </p:nvSpPr>
        <p:spPr>
          <a:xfrm>
            <a:off x="9814255" y="5806440"/>
            <a:ext cx="20116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wercloud_Logo-01.png"/>
          <p:cNvPicPr>
            <a:picLocks noChangeAspect="1"/>
          </p:cNvPicPr>
          <p:nvPr/>
        </p:nvPicPr>
        <p:blipFill>
          <a:blip r:embed="rId2"/>
          <a:stretch>
            <a:fillRect/>
          </a:stretch>
        </p:blipFill>
        <p:spPr>
          <a:xfrm>
            <a:off x="9997135" y="5646376"/>
            <a:ext cx="1645920" cy="109736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arc, part one: from handover to finals</a:t>
            </a:r>
          </a:p>
        </p:txBody>
      </p:sp>
      <p:sp>
        <p:nvSpPr>
          <p:cNvPr id="6" name="Oval 5"/>
          <p:cNvSpPr/>
          <p:nvPr/>
        </p:nvSpPr>
        <p:spPr>
          <a:xfrm>
            <a:off x="640080" y="1417320"/>
            <a:ext cx="329184" cy="329184"/>
          </a:xfrm>
          <a:prstGeom prst="ellipse">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FFFFFF"/>
                </a:solidFill>
                <a:latin typeface="Montserrat"/>
                <a:cs typeface="Montserrat"/>
              </a:rPr>
              <a:t>1</a:t>
            </a:r>
          </a:p>
        </p:txBody>
      </p:sp>
      <p:sp>
        <p:nvSpPr>
          <p:cNvPr id="7" name="Rounded Rectangle 6"/>
          <p:cNvSpPr/>
          <p:nvPr/>
        </p:nvSpPr>
        <p:spPr>
          <a:xfrm>
            <a:off x="1097280" y="1472184"/>
            <a:ext cx="566928" cy="219456"/>
          </a:xfrm>
          <a:prstGeom prst="roundRect">
            <a:avLst>
              <a:gd name="adj" fmla="val 30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TOOL</a:t>
            </a:r>
          </a:p>
        </p:txBody>
      </p:sp>
      <p:sp>
        <p:nvSpPr>
          <p:cNvPr id="8" name="Rounded Rectangle 7"/>
          <p:cNvSpPr/>
          <p:nvPr/>
        </p:nvSpPr>
        <p:spPr>
          <a:xfrm>
            <a:off x="1719072" y="1472184"/>
            <a:ext cx="566928" cy="219456"/>
          </a:xfrm>
          <a:prstGeom prst="roundRect">
            <a:avLst>
              <a:gd name="adj" fmla="val 30000"/>
            </a:avLst>
          </a:prstGeom>
          <a:solidFill>
            <a:srgbClr val="FFC8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1E1E1E"/>
                </a:solidFill>
                <a:latin typeface="Barlow"/>
                <a:cs typeface="Barlow"/>
              </a:rPr>
              <a:t>HUMAN</a:t>
            </a:r>
          </a:p>
        </p:txBody>
      </p:sp>
      <p:sp>
        <p:nvSpPr>
          <p:cNvPr id="9" name="TextBox 8"/>
          <p:cNvSpPr txBox="1"/>
          <p:nvPr/>
        </p:nvSpPr>
        <p:spPr>
          <a:xfrm>
            <a:off x="2423160" y="1362456"/>
            <a:ext cx="5897880" cy="617873"/>
          </a:xfrm>
          <a:prstGeom prst="rect">
            <a:avLst/>
          </a:prstGeom>
          <a:noFill/>
        </p:spPr>
        <p:txBody>
          <a:bodyPr wrap="square" anchor="t" lIns="45720" rIns="45720" tIns="18288" bIns="18288">
            <a:spAutoFit/>
          </a:bodyPr>
          <a:lstStyle/>
          <a:p>
            <a:r>
              <a:rPr sz="1200" b="1" i="0">
                <a:solidFill>
                  <a:srgbClr val="002F59"/>
                </a:solidFill>
                <a:latin typeface="Montserrat"/>
                <a:cs typeface="Montserrat"/>
              </a:rPr>
              <a:t>Sales hands over a client in trouble</a:t>
            </a:r>
          </a:p>
          <a:p>
            <a:pPr>
              <a:lnSpc>
                <a:spcPct val="100000"/>
              </a:lnSpc>
              <a:spcBef>
                <a:spcPts val="100"/>
              </a:spcBef>
            </a:pPr>
            <a:r>
              <a:rPr sz="1000" b="0" i="0">
                <a:solidFill>
                  <a:srgbClr val="1E1E1E"/>
                </a:solidFill>
                <a:latin typeface="Barlow"/>
                <a:cs typeface="Barlow"/>
              </a:rPr>
              <a:t>The consultant creates the folder and opens Claude in it. No CONTEXT.md yet, so setup takes over: checks for an existing folder or Asana project, interviews the consultant, files the sales material.</a:t>
            </a:r>
          </a:p>
        </p:txBody>
      </p:sp>
      <p:sp>
        <p:nvSpPr>
          <p:cNvPr id="10" name="TextBox 9"/>
          <p:cNvSpPr txBox="1"/>
          <p:nvPr/>
        </p:nvSpPr>
        <p:spPr>
          <a:xfrm>
            <a:off x="8458200" y="1362456"/>
            <a:ext cx="3108960" cy="617873"/>
          </a:xfrm>
          <a:prstGeom prst="rect">
            <a:avLst/>
          </a:prstGeom>
          <a:noFill/>
        </p:spPr>
        <p:txBody>
          <a:bodyPr wrap="square" anchor="ctr" lIns="45720" rIns="45720" tIns="18288" bIns="18288">
            <a:spAutoFit/>
          </a:bodyPr>
          <a:lstStyle/>
          <a:p>
            <a:pPr>
              <a:lnSpc>
                <a:spcPct val="105000"/>
              </a:lnSpc>
            </a:pPr>
            <a:r>
              <a:rPr sz="850" b="0" i="0">
                <a:solidFill>
                  <a:srgbClr val="707070"/>
                </a:solidFill>
                <a:latin typeface="Consolas"/>
                <a:cs typeface="Consolas"/>
              </a:rPr>
              <a:t>CONTEXT.md · source/ working/ deliverables/ execution/ · working/access_pack_draft.md</a:t>
            </a:r>
          </a:p>
        </p:txBody>
      </p:sp>
      <p:sp>
        <p:nvSpPr>
          <p:cNvPr id="11" name="Rectangle 10"/>
          <p:cNvSpPr/>
          <p:nvPr/>
        </p:nvSpPr>
        <p:spPr>
          <a:xfrm>
            <a:off x="640080" y="1998617"/>
            <a:ext cx="10927080" cy="13716"/>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0080" y="2090057"/>
            <a:ext cx="329184" cy="329184"/>
          </a:xfrm>
          <a:prstGeom prst="ellipse">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FFFFFF"/>
                </a:solidFill>
                <a:latin typeface="Montserrat"/>
                <a:cs typeface="Montserrat"/>
              </a:rPr>
              <a:t>2</a:t>
            </a:r>
          </a:p>
        </p:txBody>
      </p:sp>
      <p:sp>
        <p:nvSpPr>
          <p:cNvPr id="13" name="Rounded Rectangle 12"/>
          <p:cNvSpPr/>
          <p:nvPr/>
        </p:nvSpPr>
        <p:spPr>
          <a:xfrm>
            <a:off x="1097280" y="2144921"/>
            <a:ext cx="566928" cy="219456"/>
          </a:xfrm>
          <a:prstGeom prst="roundRect">
            <a:avLst>
              <a:gd name="adj" fmla="val 30000"/>
            </a:avLst>
          </a:prstGeom>
          <a:solidFill>
            <a:srgbClr val="FFC8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1E1E1E"/>
                </a:solidFill>
                <a:latin typeface="Barlow"/>
                <a:cs typeface="Barlow"/>
              </a:rPr>
              <a:t>HUMAN</a:t>
            </a:r>
          </a:p>
        </p:txBody>
      </p:sp>
      <p:sp>
        <p:nvSpPr>
          <p:cNvPr id="14" name="Rounded Rectangle 13"/>
          <p:cNvSpPr/>
          <p:nvPr/>
        </p:nvSpPr>
        <p:spPr>
          <a:xfrm>
            <a:off x="1719072" y="2144921"/>
            <a:ext cx="566928" cy="219456"/>
          </a:xfrm>
          <a:prstGeom prst="roundRect">
            <a:avLst>
              <a:gd name="adj" fmla="val 30000"/>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CLIENT</a:t>
            </a:r>
          </a:p>
        </p:txBody>
      </p:sp>
      <p:sp>
        <p:nvSpPr>
          <p:cNvPr id="15" name="TextBox 14"/>
          <p:cNvSpPr txBox="1"/>
          <p:nvPr/>
        </p:nvSpPr>
        <p:spPr>
          <a:xfrm>
            <a:off x="2423160" y="2035193"/>
            <a:ext cx="5897880" cy="617873"/>
          </a:xfrm>
          <a:prstGeom prst="rect">
            <a:avLst/>
          </a:prstGeom>
          <a:noFill/>
        </p:spPr>
        <p:txBody>
          <a:bodyPr wrap="square" anchor="t" lIns="45720" rIns="45720" tIns="18288" bIns="18288">
            <a:spAutoFit/>
          </a:bodyPr>
          <a:lstStyle/>
          <a:p>
            <a:r>
              <a:rPr sz="1200" b="1" i="0">
                <a:solidFill>
                  <a:srgbClr val="002F59"/>
                </a:solidFill>
                <a:latin typeface="Montserrat"/>
                <a:cs typeface="Montserrat"/>
              </a:rPr>
              <a:t>One email starts every clock at once</a:t>
            </a:r>
          </a:p>
          <a:p>
            <a:pPr>
              <a:lnSpc>
                <a:spcPct val="100000"/>
              </a:lnSpc>
              <a:spcBef>
                <a:spcPts val="100"/>
              </a:spcBef>
            </a:pPr>
            <a:r>
              <a:rPr sz="1000" b="0" i="0">
                <a:solidFill>
                  <a:srgbClr val="1E1E1E"/>
                </a:solidFill>
                <a:latin typeface="Barlow"/>
                <a:cs typeface="Barlow"/>
              </a:rPr>
              <a:t>The access and consent pack: AI and MCP disclosure, production and sandbox access, the reader-tool install, the connector role. All have lead time, so they leave together. The yes is logged, dated.</a:t>
            </a:r>
          </a:p>
        </p:txBody>
      </p:sp>
      <p:sp>
        <p:nvSpPr>
          <p:cNvPr id="16" name="TextBox 15"/>
          <p:cNvSpPr txBox="1"/>
          <p:nvPr/>
        </p:nvSpPr>
        <p:spPr>
          <a:xfrm>
            <a:off x="8458200" y="2035193"/>
            <a:ext cx="3108960" cy="617873"/>
          </a:xfrm>
          <a:prstGeom prst="rect">
            <a:avLst/>
          </a:prstGeom>
          <a:noFill/>
        </p:spPr>
        <p:txBody>
          <a:bodyPr wrap="square" anchor="ctr" lIns="45720" rIns="45720" tIns="18288" bIns="18288">
            <a:spAutoFit/>
          </a:bodyPr>
          <a:lstStyle/>
          <a:p>
            <a:pPr>
              <a:lnSpc>
                <a:spcPct val="105000"/>
              </a:lnSpc>
            </a:pPr>
            <a:r>
              <a:rPr sz="850" b="0" i="0">
                <a:solidFill>
                  <a:srgbClr val="707070"/>
                </a:solidFill>
                <a:latin typeface="Consolas"/>
                <a:cs typeface="Consolas"/>
              </a:rPr>
              <a:t>CONTEXT.md: Access &amp; consent block, dated</a:t>
            </a:r>
          </a:p>
        </p:txBody>
      </p:sp>
      <p:sp>
        <p:nvSpPr>
          <p:cNvPr id="17" name="Rectangle 16"/>
          <p:cNvSpPr/>
          <p:nvPr/>
        </p:nvSpPr>
        <p:spPr>
          <a:xfrm>
            <a:off x="640080" y="2671354"/>
            <a:ext cx="10927080" cy="13716"/>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080" y="2762794"/>
            <a:ext cx="329184" cy="329184"/>
          </a:xfrm>
          <a:prstGeom prst="ellipse">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FFFFFF"/>
                </a:solidFill>
                <a:latin typeface="Montserrat"/>
                <a:cs typeface="Montserrat"/>
              </a:rPr>
              <a:t>3</a:t>
            </a:r>
          </a:p>
        </p:txBody>
      </p:sp>
      <p:sp>
        <p:nvSpPr>
          <p:cNvPr id="19" name="Rounded Rectangle 18"/>
          <p:cNvSpPr/>
          <p:nvPr/>
        </p:nvSpPr>
        <p:spPr>
          <a:xfrm>
            <a:off x="1097280" y="2817658"/>
            <a:ext cx="566928" cy="219456"/>
          </a:xfrm>
          <a:prstGeom prst="roundRect">
            <a:avLst>
              <a:gd name="adj" fmla="val 30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TOOL</a:t>
            </a:r>
          </a:p>
        </p:txBody>
      </p:sp>
      <p:sp>
        <p:nvSpPr>
          <p:cNvPr id="20" name="Rounded Rectangle 19"/>
          <p:cNvSpPr/>
          <p:nvPr/>
        </p:nvSpPr>
        <p:spPr>
          <a:xfrm>
            <a:off x="1719072" y="2817658"/>
            <a:ext cx="566928" cy="219456"/>
          </a:xfrm>
          <a:prstGeom prst="roundRect">
            <a:avLst>
              <a:gd name="adj" fmla="val 30000"/>
            </a:avLst>
          </a:prstGeom>
          <a:solidFill>
            <a:srgbClr val="FFC8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1E1E1E"/>
                </a:solidFill>
                <a:latin typeface="Barlow"/>
                <a:cs typeface="Barlow"/>
              </a:rPr>
              <a:t>HUMAN</a:t>
            </a:r>
          </a:p>
        </p:txBody>
      </p:sp>
      <p:sp>
        <p:nvSpPr>
          <p:cNvPr id="21" name="TextBox 20"/>
          <p:cNvSpPr txBox="1"/>
          <p:nvPr/>
        </p:nvSpPr>
        <p:spPr>
          <a:xfrm>
            <a:off x="2423160" y="2707930"/>
            <a:ext cx="5897880" cy="617873"/>
          </a:xfrm>
          <a:prstGeom prst="rect">
            <a:avLst/>
          </a:prstGeom>
          <a:noFill/>
        </p:spPr>
        <p:txBody>
          <a:bodyPr wrap="square" anchor="t" lIns="45720" rIns="45720" tIns="18288" bIns="18288">
            <a:spAutoFit/>
          </a:bodyPr>
          <a:lstStyle/>
          <a:p>
            <a:r>
              <a:rPr sz="1200" b="1" i="0">
                <a:solidFill>
                  <a:srgbClr val="002F59"/>
                </a:solidFill>
                <a:latin typeface="Montserrat"/>
                <a:cs typeface="Montserrat"/>
              </a:rPr>
              <a:t>Before anyone flies out</a:t>
            </a:r>
          </a:p>
          <a:p>
            <a:pPr>
              <a:lnSpc>
                <a:spcPct val="100000"/>
              </a:lnSpc>
              <a:spcBef>
                <a:spcPts val="100"/>
              </a:spcBef>
            </a:pPr>
            <a:r>
              <a:rPr sz="1000" b="0" i="0">
                <a:solidFill>
                  <a:srgbClr val="1E1E1E"/>
                </a:solidFill>
                <a:latin typeface="Barlow"/>
                <a:cs typeface="Barlow"/>
              </a:rPr>
              <a:t>A full read-only pass over the account: features, the script estate read at source, the integration layer, volumes. Where the sales call and the configuration disagree goes to the top of the agenda.</a:t>
            </a:r>
          </a:p>
        </p:txBody>
      </p:sp>
      <p:sp>
        <p:nvSpPr>
          <p:cNvPr id="22" name="TextBox 21"/>
          <p:cNvSpPr txBox="1"/>
          <p:nvPr/>
        </p:nvSpPr>
        <p:spPr>
          <a:xfrm>
            <a:off x="8458200" y="2707930"/>
            <a:ext cx="3108960" cy="617873"/>
          </a:xfrm>
          <a:prstGeom prst="rect">
            <a:avLst/>
          </a:prstGeom>
          <a:noFill/>
        </p:spPr>
        <p:txBody>
          <a:bodyPr wrap="square" anchor="ctr" lIns="45720" rIns="45720" tIns="18288" bIns="18288">
            <a:spAutoFit/>
          </a:bodyPr>
          <a:lstStyle/>
          <a:p>
            <a:pPr>
              <a:lnSpc>
                <a:spcPct val="105000"/>
              </a:lnSpc>
            </a:pPr>
            <a:r>
              <a:rPr sz="850" b="0" i="0">
                <a:solidFill>
                  <a:srgbClr val="707070"/>
                </a:solidFill>
                <a:latin typeface="Consolas"/>
                <a:cs typeface="Consolas"/>
              </a:rPr>
              <a:t>working/onsite_prep.md · Onsite_Agenda.docx · checkpoint 1</a:t>
            </a:r>
          </a:p>
        </p:txBody>
      </p:sp>
      <p:sp>
        <p:nvSpPr>
          <p:cNvPr id="23" name="Rectangle 22"/>
          <p:cNvSpPr/>
          <p:nvPr/>
        </p:nvSpPr>
        <p:spPr>
          <a:xfrm>
            <a:off x="640080" y="3344091"/>
            <a:ext cx="10927080" cy="13716"/>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0080" y="3435531"/>
            <a:ext cx="329184" cy="329184"/>
          </a:xfrm>
          <a:prstGeom prst="ellipse">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FFFFFF"/>
                </a:solidFill>
                <a:latin typeface="Montserrat"/>
                <a:cs typeface="Montserrat"/>
              </a:rPr>
              <a:t>4</a:t>
            </a:r>
          </a:p>
        </p:txBody>
      </p:sp>
      <p:sp>
        <p:nvSpPr>
          <p:cNvPr id="25" name="Rounded Rectangle 24"/>
          <p:cNvSpPr/>
          <p:nvPr/>
        </p:nvSpPr>
        <p:spPr>
          <a:xfrm>
            <a:off x="1097280" y="3490395"/>
            <a:ext cx="566928" cy="219456"/>
          </a:xfrm>
          <a:prstGeom prst="roundRect">
            <a:avLst>
              <a:gd name="adj" fmla="val 30000"/>
            </a:avLst>
          </a:prstGeom>
          <a:solidFill>
            <a:srgbClr val="FFC8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1E1E1E"/>
                </a:solidFill>
                <a:latin typeface="Barlow"/>
                <a:cs typeface="Barlow"/>
              </a:rPr>
              <a:t>HUMAN</a:t>
            </a:r>
          </a:p>
        </p:txBody>
      </p:sp>
      <p:sp>
        <p:nvSpPr>
          <p:cNvPr id="26" name="TextBox 25"/>
          <p:cNvSpPr txBox="1"/>
          <p:nvPr/>
        </p:nvSpPr>
        <p:spPr>
          <a:xfrm>
            <a:off x="2423160" y="3380667"/>
            <a:ext cx="5897880" cy="617873"/>
          </a:xfrm>
          <a:prstGeom prst="rect">
            <a:avLst/>
          </a:prstGeom>
          <a:noFill/>
        </p:spPr>
        <p:txBody>
          <a:bodyPr wrap="square" anchor="t" lIns="45720" rIns="45720" tIns="18288" bIns="18288">
            <a:spAutoFit/>
          </a:bodyPr>
          <a:lstStyle/>
          <a:p>
            <a:r>
              <a:rPr sz="1200" b="1" i="0">
                <a:solidFill>
                  <a:srgbClr val="002F59"/>
                </a:solidFill>
                <a:latin typeface="Montserrat"/>
                <a:cs typeface="Montserrat"/>
              </a:rPr>
              <a:t>Two days on site</a:t>
            </a:r>
          </a:p>
          <a:p>
            <a:pPr>
              <a:lnSpc>
                <a:spcPct val="100000"/>
              </a:lnSpc>
              <a:spcBef>
                <a:spcPts val="100"/>
              </a:spcBef>
            </a:pPr>
            <a:r>
              <a:rPr sz="1000" b="0" i="0">
                <a:solidFill>
                  <a:srgbClr val="1E1E1E"/>
                </a:solidFill>
                <a:latin typeface="Barlow"/>
                <a:cs typeface="Barlow"/>
              </a:rPr>
              <a:t>The consultant runs the room. Recordings become transcripts and land in source/, read-only from that moment: the client's words are never edited, only copied from.</a:t>
            </a:r>
          </a:p>
        </p:txBody>
      </p:sp>
      <p:sp>
        <p:nvSpPr>
          <p:cNvPr id="27" name="TextBox 26"/>
          <p:cNvSpPr txBox="1"/>
          <p:nvPr/>
        </p:nvSpPr>
        <p:spPr>
          <a:xfrm>
            <a:off x="8458200" y="3380667"/>
            <a:ext cx="3108960" cy="617873"/>
          </a:xfrm>
          <a:prstGeom prst="rect">
            <a:avLst/>
          </a:prstGeom>
          <a:noFill/>
        </p:spPr>
        <p:txBody>
          <a:bodyPr wrap="square" anchor="ctr" lIns="45720" rIns="45720" tIns="18288" bIns="18288">
            <a:spAutoFit/>
          </a:bodyPr>
          <a:lstStyle/>
          <a:p>
            <a:pPr>
              <a:lnSpc>
                <a:spcPct val="105000"/>
              </a:lnSpc>
            </a:pPr>
            <a:r>
              <a:rPr sz="850" b="0" i="0">
                <a:solidFill>
                  <a:srgbClr val="707070"/>
                </a:solidFill>
                <a:latin typeface="Consolas"/>
                <a:cs typeface="Consolas"/>
              </a:rPr>
              <a:t>source/*.txt</a:t>
            </a:r>
          </a:p>
        </p:txBody>
      </p:sp>
      <p:sp>
        <p:nvSpPr>
          <p:cNvPr id="28" name="Rectangle 27"/>
          <p:cNvSpPr/>
          <p:nvPr/>
        </p:nvSpPr>
        <p:spPr>
          <a:xfrm>
            <a:off x="640080" y="4016828"/>
            <a:ext cx="10927080" cy="13716"/>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0080" y="4108268"/>
            <a:ext cx="329184" cy="329184"/>
          </a:xfrm>
          <a:prstGeom prst="ellipse">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FFFFFF"/>
                </a:solidFill>
                <a:latin typeface="Montserrat"/>
                <a:cs typeface="Montserrat"/>
              </a:rPr>
              <a:t>5</a:t>
            </a:r>
          </a:p>
        </p:txBody>
      </p:sp>
      <p:sp>
        <p:nvSpPr>
          <p:cNvPr id="30" name="Rounded Rectangle 29"/>
          <p:cNvSpPr/>
          <p:nvPr/>
        </p:nvSpPr>
        <p:spPr>
          <a:xfrm>
            <a:off x="1097280" y="4163132"/>
            <a:ext cx="566928" cy="219456"/>
          </a:xfrm>
          <a:prstGeom prst="roundRect">
            <a:avLst>
              <a:gd name="adj" fmla="val 30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TOOL</a:t>
            </a:r>
          </a:p>
        </p:txBody>
      </p:sp>
      <p:sp>
        <p:nvSpPr>
          <p:cNvPr id="31" name="TextBox 30"/>
          <p:cNvSpPr txBox="1"/>
          <p:nvPr/>
        </p:nvSpPr>
        <p:spPr>
          <a:xfrm>
            <a:off x="2423160" y="4053404"/>
            <a:ext cx="5897880" cy="617873"/>
          </a:xfrm>
          <a:prstGeom prst="rect">
            <a:avLst/>
          </a:prstGeom>
          <a:noFill/>
        </p:spPr>
        <p:txBody>
          <a:bodyPr wrap="square" anchor="t" lIns="45720" rIns="45720" tIns="18288" bIns="18288">
            <a:spAutoFit/>
          </a:bodyPr>
          <a:lstStyle/>
          <a:p>
            <a:r>
              <a:rPr sz="1200" b="1" i="0">
                <a:solidFill>
                  <a:srgbClr val="002F59"/>
                </a:solidFill>
                <a:latin typeface="Montserrat"/>
                <a:cs typeface="Montserrat"/>
              </a:rPr>
              <a:t>Mining, at a deliberately low threshold</a:t>
            </a:r>
          </a:p>
          <a:p>
            <a:pPr>
              <a:lnSpc>
                <a:spcPct val="100000"/>
              </a:lnSpc>
              <a:spcBef>
                <a:spcPts val="100"/>
              </a:spcBef>
            </a:pPr>
            <a:r>
              <a:rPr sz="1000" b="0" i="0">
                <a:solidFill>
                  <a:srgbClr val="1E1E1E"/>
                </a:solidFill>
                <a:latin typeface="Barlow"/>
                <a:cs typeface="Barlow"/>
              </a:rPr>
              <a:t>Every material claim logged with file, timestamp and speaker. Then the sweep for candidates: pain points, passing complaints, workarounds, and the anomalies nobody mentioned that turned up in the account.</a:t>
            </a:r>
          </a:p>
        </p:txBody>
      </p:sp>
      <p:sp>
        <p:nvSpPr>
          <p:cNvPr id="32" name="TextBox 31"/>
          <p:cNvSpPr txBox="1"/>
          <p:nvPr/>
        </p:nvSpPr>
        <p:spPr>
          <a:xfrm>
            <a:off x="8458200" y="4053404"/>
            <a:ext cx="3108960" cy="617873"/>
          </a:xfrm>
          <a:prstGeom prst="rect">
            <a:avLst/>
          </a:prstGeom>
          <a:noFill/>
        </p:spPr>
        <p:txBody>
          <a:bodyPr wrap="square" anchor="ctr" lIns="45720" rIns="45720" tIns="18288" bIns="18288">
            <a:spAutoFit/>
          </a:bodyPr>
          <a:lstStyle/>
          <a:p>
            <a:pPr>
              <a:lnSpc>
                <a:spcPct val="105000"/>
              </a:lnSpc>
            </a:pPr>
            <a:r>
              <a:rPr sz="850" b="0" i="0">
                <a:solidFill>
                  <a:srgbClr val="707070"/>
                </a:solidFill>
                <a:latin typeface="Consolas"/>
                <a:cs typeface="Consolas"/>
              </a:rPr>
              <a:t>working/evidence.md · working/candidates.md</a:t>
            </a:r>
          </a:p>
        </p:txBody>
      </p:sp>
      <p:sp>
        <p:nvSpPr>
          <p:cNvPr id="33" name="Rectangle 32"/>
          <p:cNvSpPr/>
          <p:nvPr/>
        </p:nvSpPr>
        <p:spPr>
          <a:xfrm>
            <a:off x="640080" y="4689565"/>
            <a:ext cx="10927080" cy="13716"/>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0080" y="4781005"/>
            <a:ext cx="329184" cy="329184"/>
          </a:xfrm>
          <a:prstGeom prst="ellipse">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FFFFFF"/>
                </a:solidFill>
                <a:latin typeface="Montserrat"/>
                <a:cs typeface="Montserrat"/>
              </a:rPr>
              <a:t>6</a:t>
            </a:r>
          </a:p>
        </p:txBody>
      </p:sp>
      <p:sp>
        <p:nvSpPr>
          <p:cNvPr id="35" name="Rounded Rectangle 34"/>
          <p:cNvSpPr/>
          <p:nvPr/>
        </p:nvSpPr>
        <p:spPr>
          <a:xfrm>
            <a:off x="1097280" y="4835869"/>
            <a:ext cx="566928" cy="219456"/>
          </a:xfrm>
          <a:prstGeom prst="roundRect">
            <a:avLst>
              <a:gd name="adj" fmla="val 30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TOOL</a:t>
            </a:r>
          </a:p>
        </p:txBody>
      </p:sp>
      <p:sp>
        <p:nvSpPr>
          <p:cNvPr id="36" name="Rounded Rectangle 35"/>
          <p:cNvSpPr/>
          <p:nvPr/>
        </p:nvSpPr>
        <p:spPr>
          <a:xfrm>
            <a:off x="1719072" y="4835869"/>
            <a:ext cx="566928" cy="219456"/>
          </a:xfrm>
          <a:prstGeom prst="roundRect">
            <a:avLst>
              <a:gd name="adj" fmla="val 30000"/>
            </a:avLst>
          </a:prstGeom>
          <a:solidFill>
            <a:srgbClr val="FFC8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1E1E1E"/>
                </a:solidFill>
                <a:latin typeface="Barlow"/>
                <a:cs typeface="Barlow"/>
              </a:rPr>
              <a:t>HUMAN</a:t>
            </a:r>
          </a:p>
        </p:txBody>
      </p:sp>
      <p:sp>
        <p:nvSpPr>
          <p:cNvPr id="37" name="TextBox 36"/>
          <p:cNvSpPr txBox="1"/>
          <p:nvPr/>
        </p:nvSpPr>
        <p:spPr>
          <a:xfrm>
            <a:off x="2423160" y="4726141"/>
            <a:ext cx="5897880" cy="617873"/>
          </a:xfrm>
          <a:prstGeom prst="rect">
            <a:avLst/>
          </a:prstGeom>
          <a:noFill/>
        </p:spPr>
        <p:txBody>
          <a:bodyPr wrap="square" anchor="t" lIns="45720" rIns="45720" tIns="18288" bIns="18288">
            <a:spAutoFit/>
          </a:bodyPr>
          <a:lstStyle/>
          <a:p>
            <a:r>
              <a:rPr sz="1200" b="1" i="0">
                <a:solidFill>
                  <a:srgbClr val="002F59"/>
                </a:solidFill>
                <a:latin typeface="Montserrat"/>
                <a:cs typeface="Montserrat"/>
              </a:rPr>
              <a:t>Verify, then walk the whole list</a:t>
            </a:r>
          </a:p>
          <a:p>
            <a:pPr>
              <a:lnSpc>
                <a:spcPct val="100000"/>
              </a:lnSpc>
              <a:spcBef>
                <a:spcPts val="100"/>
              </a:spcBef>
            </a:pPr>
            <a:r>
              <a:rPr sz="1000" b="0" i="0">
                <a:solidFill>
                  <a:srgbClr val="1E1E1E"/>
                </a:solidFill>
                <a:latin typeface="Barlow"/>
                <a:cs typeface="Barlow"/>
              </a:rPr>
              <a:t>Read-only queries confirm or refute each claim, every query logged. Then the consultant rules on every candidate. Materiality is a human judgment applied to a complete list.</a:t>
            </a:r>
          </a:p>
        </p:txBody>
      </p:sp>
      <p:sp>
        <p:nvSpPr>
          <p:cNvPr id="38" name="TextBox 37"/>
          <p:cNvSpPr txBox="1"/>
          <p:nvPr/>
        </p:nvSpPr>
        <p:spPr>
          <a:xfrm>
            <a:off x="8458200" y="4726141"/>
            <a:ext cx="3108960" cy="617873"/>
          </a:xfrm>
          <a:prstGeom prst="rect">
            <a:avLst/>
          </a:prstGeom>
          <a:noFill/>
        </p:spPr>
        <p:txBody>
          <a:bodyPr wrap="square" anchor="ctr" lIns="45720" rIns="45720" tIns="18288" bIns="18288">
            <a:spAutoFit/>
          </a:bodyPr>
          <a:lstStyle/>
          <a:p>
            <a:pPr>
              <a:lnSpc>
                <a:spcPct val="105000"/>
              </a:lnSpc>
            </a:pPr>
            <a:r>
              <a:rPr sz="850" b="0" i="0">
                <a:solidFill>
                  <a:srgbClr val="707070"/>
                </a:solidFill>
                <a:latin typeface="Consolas"/>
                <a:cs typeface="Consolas"/>
              </a:rPr>
              <a:t>working/verification.md · a disposition on every candidate · checkpoint 2</a:t>
            </a:r>
          </a:p>
        </p:txBody>
      </p:sp>
      <p:sp>
        <p:nvSpPr>
          <p:cNvPr id="39" name="Rectangle 38"/>
          <p:cNvSpPr/>
          <p:nvPr/>
        </p:nvSpPr>
        <p:spPr>
          <a:xfrm>
            <a:off x="640080" y="5362302"/>
            <a:ext cx="10927080" cy="13716"/>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40080" y="5453742"/>
            <a:ext cx="329184" cy="329184"/>
          </a:xfrm>
          <a:prstGeom prst="ellipse">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FFFFFF"/>
                </a:solidFill>
                <a:latin typeface="Montserrat"/>
                <a:cs typeface="Montserrat"/>
              </a:rPr>
              <a:t>7</a:t>
            </a:r>
          </a:p>
        </p:txBody>
      </p:sp>
      <p:sp>
        <p:nvSpPr>
          <p:cNvPr id="41" name="Rounded Rectangle 40"/>
          <p:cNvSpPr/>
          <p:nvPr/>
        </p:nvSpPr>
        <p:spPr>
          <a:xfrm>
            <a:off x="1097280" y="5508606"/>
            <a:ext cx="566928" cy="219456"/>
          </a:xfrm>
          <a:prstGeom prst="roundRect">
            <a:avLst>
              <a:gd name="adj" fmla="val 30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TOOL</a:t>
            </a:r>
          </a:p>
        </p:txBody>
      </p:sp>
      <p:sp>
        <p:nvSpPr>
          <p:cNvPr id="42" name="Rounded Rectangle 41"/>
          <p:cNvSpPr/>
          <p:nvPr/>
        </p:nvSpPr>
        <p:spPr>
          <a:xfrm>
            <a:off x="1719072" y="5508606"/>
            <a:ext cx="566928" cy="219456"/>
          </a:xfrm>
          <a:prstGeom prst="roundRect">
            <a:avLst>
              <a:gd name="adj" fmla="val 30000"/>
            </a:avLst>
          </a:prstGeom>
          <a:solidFill>
            <a:srgbClr val="FFC8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1E1E1E"/>
                </a:solidFill>
                <a:latin typeface="Barlow"/>
                <a:cs typeface="Barlow"/>
              </a:rPr>
              <a:t>HUMAN</a:t>
            </a:r>
          </a:p>
        </p:txBody>
      </p:sp>
      <p:sp>
        <p:nvSpPr>
          <p:cNvPr id="43" name="TextBox 42"/>
          <p:cNvSpPr txBox="1"/>
          <p:nvPr/>
        </p:nvSpPr>
        <p:spPr>
          <a:xfrm>
            <a:off x="2423160" y="5398878"/>
            <a:ext cx="5897880" cy="617873"/>
          </a:xfrm>
          <a:prstGeom prst="rect">
            <a:avLst/>
          </a:prstGeom>
          <a:noFill/>
        </p:spPr>
        <p:txBody>
          <a:bodyPr wrap="square" anchor="t" lIns="45720" rIns="45720" tIns="18288" bIns="18288">
            <a:spAutoFit/>
          </a:bodyPr>
          <a:lstStyle/>
          <a:p>
            <a:r>
              <a:rPr sz="1200" b="1" i="0">
                <a:solidFill>
                  <a:srgbClr val="002F59"/>
                </a:solidFill>
                <a:latin typeface="Montserrat"/>
                <a:cs typeface="Montserrat"/>
              </a:rPr>
              <a:t>Three drafts, humanized, the numbers line by line, then render</a:t>
            </a:r>
          </a:p>
          <a:p>
            <a:pPr>
              <a:lnSpc>
                <a:spcPct val="100000"/>
              </a:lnSpc>
              <a:spcBef>
                <a:spcPts val="100"/>
              </a:spcBef>
            </a:pPr>
            <a:r>
              <a:rPr sz="1000" b="0" i="0">
                <a:solidFill>
                  <a:srgbClr val="1E1E1E"/>
                </a:solidFill>
                <a:latin typeface="Barlow"/>
                <a:cs typeface="Barlow"/>
              </a:rPr>
              <a:t>The assessment as the record, the deck as the meeting vehicle, the execution plan as the build spec. The scanner blocks the render while copy tells remain. Every hours figure confirmed. Only then a branded file.</a:t>
            </a:r>
          </a:p>
        </p:txBody>
      </p:sp>
      <p:sp>
        <p:nvSpPr>
          <p:cNvPr id="44" name="TextBox 43"/>
          <p:cNvSpPr txBox="1"/>
          <p:nvPr/>
        </p:nvSpPr>
        <p:spPr>
          <a:xfrm>
            <a:off x="8458200" y="5398878"/>
            <a:ext cx="3108960" cy="617873"/>
          </a:xfrm>
          <a:prstGeom prst="rect">
            <a:avLst/>
          </a:prstGeom>
          <a:noFill/>
        </p:spPr>
        <p:txBody>
          <a:bodyPr wrap="square" anchor="ctr" lIns="45720" rIns="45720" tIns="18288" bIns="18288">
            <a:spAutoFit/>
          </a:bodyPr>
          <a:lstStyle/>
          <a:p>
            <a:pPr>
              <a:lnSpc>
                <a:spcPct val="105000"/>
              </a:lnSpc>
            </a:pPr>
            <a:r>
              <a:rPr sz="850" b="0" i="0">
                <a:solidFill>
                  <a:srgbClr val="707070"/>
                </a:solidFill>
                <a:latin typeface="Consolas"/>
                <a:cs typeface="Consolas"/>
              </a:rPr>
              <a:t>working/loe_log.md · deliverables/*.docx *.pptx *.pdf · checkpoints 3 and 4</a:t>
            </a:r>
          </a:p>
        </p:txBody>
      </p:sp>
      <p:sp>
        <p:nvSpPr>
          <p:cNvPr id="45" name="TextBox 44"/>
          <p:cNvSpPr txBox="1"/>
          <p:nvPr/>
        </p:nvSpPr>
        <p:spPr>
          <a:xfrm>
            <a:off x="640080" y="6126480"/>
            <a:ext cx="1097280" cy="256032"/>
          </a:xfrm>
          <a:prstGeom prst="rect">
            <a:avLst/>
          </a:prstGeom>
          <a:noFill/>
        </p:spPr>
        <p:txBody>
          <a:bodyPr wrap="square" anchor="ctr" lIns="45720" rIns="45720" tIns="18288" bIns="18288">
            <a:spAutoFit/>
          </a:bodyPr>
          <a:lstStyle/>
          <a:p>
            <a:r>
              <a:rPr sz="900" b="1" i="0">
                <a:solidFill>
                  <a:srgbClr val="707070"/>
                </a:solidFill>
                <a:latin typeface="Barlow"/>
                <a:cs typeface="Barlow"/>
              </a:rPr>
              <a:t>Who acts:</a:t>
            </a:r>
          </a:p>
        </p:txBody>
      </p:sp>
      <p:sp>
        <p:nvSpPr>
          <p:cNvPr id="46" name="Rounded Rectangle 45"/>
          <p:cNvSpPr/>
          <p:nvPr/>
        </p:nvSpPr>
        <p:spPr>
          <a:xfrm>
            <a:off x="1463040" y="6144768"/>
            <a:ext cx="566928" cy="219456"/>
          </a:xfrm>
          <a:prstGeom prst="roundRect">
            <a:avLst>
              <a:gd name="adj" fmla="val 30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TOOL</a:t>
            </a:r>
          </a:p>
        </p:txBody>
      </p:sp>
      <p:sp>
        <p:nvSpPr>
          <p:cNvPr id="47" name="TextBox 46"/>
          <p:cNvSpPr txBox="1"/>
          <p:nvPr/>
        </p:nvSpPr>
        <p:spPr>
          <a:xfrm>
            <a:off x="2084832" y="6126480"/>
            <a:ext cx="2194560" cy="256032"/>
          </a:xfrm>
          <a:prstGeom prst="rect">
            <a:avLst/>
          </a:prstGeom>
          <a:noFill/>
        </p:spPr>
        <p:txBody>
          <a:bodyPr wrap="square" anchor="ctr" lIns="45720" rIns="45720" tIns="18288" bIns="18288">
            <a:spAutoFit/>
          </a:bodyPr>
          <a:lstStyle/>
          <a:p>
            <a:r>
              <a:rPr sz="900" b="0" i="0">
                <a:solidFill>
                  <a:srgbClr val="707070"/>
                </a:solidFill>
                <a:latin typeface="Barlow"/>
                <a:cs typeface="Barlow"/>
              </a:rPr>
              <a:t>Claude does the work</a:t>
            </a:r>
          </a:p>
        </p:txBody>
      </p:sp>
      <p:sp>
        <p:nvSpPr>
          <p:cNvPr id="48" name="Rounded Rectangle 47"/>
          <p:cNvSpPr/>
          <p:nvPr/>
        </p:nvSpPr>
        <p:spPr>
          <a:xfrm>
            <a:off x="4297680" y="6144768"/>
            <a:ext cx="566928" cy="219456"/>
          </a:xfrm>
          <a:prstGeom prst="roundRect">
            <a:avLst>
              <a:gd name="adj" fmla="val 30000"/>
            </a:avLst>
          </a:prstGeom>
          <a:solidFill>
            <a:srgbClr val="FFC8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1E1E1E"/>
                </a:solidFill>
                <a:latin typeface="Barlow"/>
                <a:cs typeface="Barlow"/>
              </a:rPr>
              <a:t>HUMAN</a:t>
            </a:r>
          </a:p>
        </p:txBody>
      </p:sp>
      <p:sp>
        <p:nvSpPr>
          <p:cNvPr id="49" name="TextBox 48"/>
          <p:cNvSpPr txBox="1"/>
          <p:nvPr/>
        </p:nvSpPr>
        <p:spPr>
          <a:xfrm>
            <a:off x="4919472" y="6126480"/>
            <a:ext cx="2194560" cy="256032"/>
          </a:xfrm>
          <a:prstGeom prst="rect">
            <a:avLst/>
          </a:prstGeom>
          <a:noFill/>
        </p:spPr>
        <p:txBody>
          <a:bodyPr wrap="square" anchor="ctr" lIns="45720" rIns="45720" tIns="18288" bIns="18288">
            <a:spAutoFit/>
          </a:bodyPr>
          <a:lstStyle/>
          <a:p>
            <a:r>
              <a:rPr sz="900" b="0" i="0">
                <a:solidFill>
                  <a:srgbClr val="707070"/>
                </a:solidFill>
                <a:latin typeface="Barlow"/>
                <a:cs typeface="Barlow"/>
              </a:rPr>
              <a:t>a person decides or signs</a:t>
            </a:r>
          </a:p>
        </p:txBody>
      </p:sp>
      <p:sp>
        <p:nvSpPr>
          <p:cNvPr id="50" name="Rounded Rectangle 49"/>
          <p:cNvSpPr/>
          <p:nvPr/>
        </p:nvSpPr>
        <p:spPr>
          <a:xfrm>
            <a:off x="7132320" y="6144768"/>
            <a:ext cx="566928" cy="219456"/>
          </a:xfrm>
          <a:prstGeom prst="roundRect">
            <a:avLst>
              <a:gd name="adj" fmla="val 30000"/>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CLIENT</a:t>
            </a:r>
          </a:p>
        </p:txBody>
      </p:sp>
      <p:sp>
        <p:nvSpPr>
          <p:cNvPr id="51" name="TextBox 50"/>
          <p:cNvSpPr txBox="1"/>
          <p:nvPr/>
        </p:nvSpPr>
        <p:spPr>
          <a:xfrm>
            <a:off x="7754112" y="6126480"/>
            <a:ext cx="2194560" cy="256032"/>
          </a:xfrm>
          <a:prstGeom prst="rect">
            <a:avLst/>
          </a:prstGeom>
          <a:noFill/>
        </p:spPr>
        <p:txBody>
          <a:bodyPr wrap="square" anchor="ctr" lIns="45720" rIns="45720" tIns="18288" bIns="18288">
            <a:spAutoFit/>
          </a:bodyPr>
          <a:lstStyle/>
          <a:p>
            <a:r>
              <a:rPr sz="900" b="0" i="0">
                <a:solidFill>
                  <a:srgbClr val="707070"/>
                </a:solidFill>
                <a:latin typeface="Barlow"/>
                <a:cs typeface="Barlow"/>
              </a:rPr>
              <a:t>the customer has to act</a:t>
            </a:r>
          </a:p>
        </p:txBody>
      </p:sp>
      <p:sp>
        <p:nvSpPr>
          <p:cNvPr id="52" name="Rectangle 51"/>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54" name="TextBox 53"/>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arc, part two: from sign-off to the next engagement</a:t>
            </a:r>
          </a:p>
        </p:txBody>
      </p:sp>
      <p:sp>
        <p:nvSpPr>
          <p:cNvPr id="6" name="Oval 5"/>
          <p:cNvSpPr/>
          <p:nvPr/>
        </p:nvSpPr>
        <p:spPr>
          <a:xfrm>
            <a:off x="640080" y="1417320"/>
            <a:ext cx="329184" cy="329184"/>
          </a:xfrm>
          <a:prstGeom prst="ellipse">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FFFFFF"/>
                </a:solidFill>
                <a:latin typeface="Montserrat"/>
                <a:cs typeface="Montserrat"/>
              </a:rPr>
              <a:t>8</a:t>
            </a:r>
          </a:p>
        </p:txBody>
      </p:sp>
      <p:sp>
        <p:nvSpPr>
          <p:cNvPr id="7" name="Rounded Rectangle 6"/>
          <p:cNvSpPr/>
          <p:nvPr/>
        </p:nvSpPr>
        <p:spPr>
          <a:xfrm>
            <a:off x="1097280" y="1472184"/>
            <a:ext cx="566928" cy="219456"/>
          </a:xfrm>
          <a:prstGeom prst="roundRect">
            <a:avLst>
              <a:gd name="adj" fmla="val 30000"/>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CLIENT</a:t>
            </a:r>
          </a:p>
        </p:txBody>
      </p:sp>
      <p:sp>
        <p:nvSpPr>
          <p:cNvPr id="8" name="Rounded Rectangle 7"/>
          <p:cNvSpPr/>
          <p:nvPr/>
        </p:nvSpPr>
        <p:spPr>
          <a:xfrm>
            <a:off x="1719072" y="1472184"/>
            <a:ext cx="566928" cy="219456"/>
          </a:xfrm>
          <a:prstGeom prst="roundRect">
            <a:avLst>
              <a:gd name="adj" fmla="val 30000"/>
            </a:avLst>
          </a:prstGeom>
          <a:solidFill>
            <a:srgbClr val="FFC8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1E1E1E"/>
                </a:solidFill>
                <a:latin typeface="Barlow"/>
                <a:cs typeface="Barlow"/>
              </a:rPr>
              <a:t>HUMAN</a:t>
            </a:r>
          </a:p>
        </p:txBody>
      </p:sp>
      <p:sp>
        <p:nvSpPr>
          <p:cNvPr id="9" name="TextBox 8"/>
          <p:cNvSpPr txBox="1"/>
          <p:nvPr/>
        </p:nvSpPr>
        <p:spPr>
          <a:xfrm>
            <a:off x="2423160" y="1362456"/>
            <a:ext cx="5897880" cy="886967"/>
          </a:xfrm>
          <a:prstGeom prst="rect">
            <a:avLst/>
          </a:prstGeom>
          <a:noFill/>
        </p:spPr>
        <p:txBody>
          <a:bodyPr wrap="square" anchor="t" lIns="45720" rIns="45720" tIns="18288" bIns="18288">
            <a:spAutoFit/>
          </a:bodyPr>
          <a:lstStyle/>
          <a:p>
            <a:r>
              <a:rPr sz="1200" b="1" i="0">
                <a:solidFill>
                  <a:srgbClr val="002F59"/>
                </a:solidFill>
                <a:latin typeface="Montserrat"/>
                <a:cs typeface="Montserrat"/>
              </a:rPr>
              <a:t>They fund the first phase</a:t>
            </a:r>
          </a:p>
          <a:p>
            <a:pPr>
              <a:lnSpc>
                <a:spcPct val="100000"/>
              </a:lnSpc>
              <a:spcBef>
                <a:spcPts val="100"/>
              </a:spcBef>
            </a:pPr>
            <a:r>
              <a:rPr sz="1000" b="0" i="0">
                <a:solidFill>
                  <a:srgbClr val="1E1E1E"/>
                </a:solidFill>
                <a:latin typeface="Barlow"/>
                <a:cs typeface="Barlow"/>
              </a:rPr>
              <a:t>Work moves into execution/, a subfolder of the same client folder, so discovery history stays one level up. Approved items sync to Asana for status; the execution plan stays the source of truth for the build.</a:t>
            </a:r>
          </a:p>
        </p:txBody>
      </p:sp>
      <p:sp>
        <p:nvSpPr>
          <p:cNvPr id="10" name="TextBox 9"/>
          <p:cNvSpPr txBox="1"/>
          <p:nvPr/>
        </p:nvSpPr>
        <p:spPr>
          <a:xfrm>
            <a:off x="8458200" y="1362456"/>
            <a:ext cx="3108960" cy="886967"/>
          </a:xfrm>
          <a:prstGeom prst="rect">
            <a:avLst/>
          </a:prstGeom>
          <a:noFill/>
        </p:spPr>
        <p:txBody>
          <a:bodyPr wrap="square" anchor="ctr" lIns="45720" rIns="45720" tIns="18288" bIns="18288">
            <a:spAutoFit/>
          </a:bodyPr>
          <a:lstStyle/>
          <a:p>
            <a:pPr>
              <a:lnSpc>
                <a:spcPct val="105000"/>
              </a:lnSpc>
            </a:pPr>
            <a:r>
              <a:rPr sz="850" b="0" i="0">
                <a:solidFill>
                  <a:srgbClr val="707070"/>
                </a:solidFill>
                <a:latin typeface="Consolas"/>
                <a:cs typeface="Consolas"/>
              </a:rPr>
              <a:t>execution/ · Asana tasks linked to their plan blocks</a:t>
            </a:r>
          </a:p>
        </p:txBody>
      </p:sp>
      <p:sp>
        <p:nvSpPr>
          <p:cNvPr id="11" name="Rectangle 10"/>
          <p:cNvSpPr/>
          <p:nvPr/>
        </p:nvSpPr>
        <p:spPr>
          <a:xfrm>
            <a:off x="640080" y="2267711"/>
            <a:ext cx="10927080" cy="13716"/>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0080" y="2359151"/>
            <a:ext cx="329184" cy="329184"/>
          </a:xfrm>
          <a:prstGeom prst="ellipse">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FFFFFF"/>
                </a:solidFill>
                <a:latin typeface="Montserrat"/>
                <a:cs typeface="Montserrat"/>
              </a:rPr>
              <a:t>9</a:t>
            </a:r>
          </a:p>
        </p:txBody>
      </p:sp>
      <p:sp>
        <p:nvSpPr>
          <p:cNvPr id="13" name="Rounded Rectangle 12"/>
          <p:cNvSpPr/>
          <p:nvPr/>
        </p:nvSpPr>
        <p:spPr>
          <a:xfrm>
            <a:off x="1097280" y="2414015"/>
            <a:ext cx="566928" cy="219456"/>
          </a:xfrm>
          <a:prstGeom prst="roundRect">
            <a:avLst>
              <a:gd name="adj" fmla="val 30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TOOL</a:t>
            </a:r>
          </a:p>
        </p:txBody>
      </p:sp>
      <p:sp>
        <p:nvSpPr>
          <p:cNvPr id="14" name="Rounded Rectangle 13"/>
          <p:cNvSpPr/>
          <p:nvPr/>
        </p:nvSpPr>
        <p:spPr>
          <a:xfrm>
            <a:off x="1719072" y="2414015"/>
            <a:ext cx="566928" cy="219456"/>
          </a:xfrm>
          <a:prstGeom prst="roundRect">
            <a:avLst>
              <a:gd name="adj" fmla="val 30000"/>
            </a:avLst>
          </a:prstGeom>
          <a:solidFill>
            <a:srgbClr val="FFC8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1E1E1E"/>
                </a:solidFill>
                <a:latin typeface="Barlow"/>
                <a:cs typeface="Barlow"/>
              </a:rPr>
              <a:t>HUMAN</a:t>
            </a:r>
          </a:p>
        </p:txBody>
      </p:sp>
      <p:sp>
        <p:nvSpPr>
          <p:cNvPr id="15" name="TextBox 14"/>
          <p:cNvSpPr txBox="1"/>
          <p:nvPr/>
        </p:nvSpPr>
        <p:spPr>
          <a:xfrm>
            <a:off x="2423160" y="2304287"/>
            <a:ext cx="5897880" cy="886967"/>
          </a:xfrm>
          <a:prstGeom prst="rect">
            <a:avLst/>
          </a:prstGeom>
          <a:noFill/>
        </p:spPr>
        <p:txBody>
          <a:bodyPr wrap="square" anchor="t" lIns="45720" rIns="45720" tIns="18288" bIns="18288">
            <a:spAutoFit/>
          </a:bodyPr>
          <a:lstStyle/>
          <a:p>
            <a:r>
              <a:rPr sz="1200" b="1" i="0">
                <a:solidFill>
                  <a:srgbClr val="002F59"/>
                </a:solidFill>
                <a:latin typeface="Montserrat"/>
                <a:cs typeface="Montserrat"/>
              </a:rPr>
              <a:t>Building, one task at a time</a:t>
            </a:r>
          </a:p>
          <a:p>
            <a:pPr>
              <a:lnSpc>
                <a:spcPct val="100000"/>
              </a:lnSpc>
              <a:spcBef>
                <a:spcPts val="100"/>
              </a:spcBef>
            </a:pPr>
            <a:r>
              <a:rPr sz="1000" b="0" i="0">
                <a:solidFill>
                  <a:srgbClr val="1E1E1E"/>
                </a:solidFill>
                <a:latin typeface="Barlow"/>
                <a:cs typeface="Barlow"/>
              </a:rPr>
              <a:t>Each task is planned before it is built, with three honest exits: build, a targeted question list for the client, or a sandbox spike. Routes prefer version-controlled objects. Sandbox first, a human at the plan and again at production.</a:t>
            </a:r>
          </a:p>
        </p:txBody>
      </p:sp>
      <p:sp>
        <p:nvSpPr>
          <p:cNvPr id="16" name="TextBox 15"/>
          <p:cNvSpPr txBox="1"/>
          <p:nvPr/>
        </p:nvSpPr>
        <p:spPr>
          <a:xfrm>
            <a:off x="8458200" y="2304287"/>
            <a:ext cx="3108960" cy="886967"/>
          </a:xfrm>
          <a:prstGeom prst="rect">
            <a:avLst/>
          </a:prstGeom>
          <a:noFill/>
        </p:spPr>
        <p:txBody>
          <a:bodyPr wrap="square" anchor="ctr" lIns="45720" rIns="45720" tIns="18288" bIns="18288">
            <a:spAutoFit/>
          </a:bodyPr>
          <a:lstStyle/>
          <a:p>
            <a:pPr>
              <a:lnSpc>
                <a:spcPct val="105000"/>
              </a:lnSpc>
            </a:pPr>
            <a:r>
              <a:rPr sz="850" b="0" i="0">
                <a:solidFill>
                  <a:srgbClr val="707070"/>
                </a:solidFill>
                <a:latin typeface="Consolas"/>
                <a:cs typeface="Consolas"/>
              </a:rPr>
              <a:t>execution/build_log.md · SDF objects in git · two gates per task</a:t>
            </a:r>
          </a:p>
        </p:txBody>
      </p:sp>
      <p:sp>
        <p:nvSpPr>
          <p:cNvPr id="17" name="Rectangle 16"/>
          <p:cNvSpPr/>
          <p:nvPr/>
        </p:nvSpPr>
        <p:spPr>
          <a:xfrm>
            <a:off x="640080" y="3209544"/>
            <a:ext cx="10927080" cy="13716"/>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080" y="3300984"/>
            <a:ext cx="329184" cy="329184"/>
          </a:xfrm>
          <a:prstGeom prst="ellipse">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FFFFFF"/>
                </a:solidFill>
                <a:latin typeface="Montserrat"/>
                <a:cs typeface="Montserrat"/>
              </a:rPr>
              <a:t>10</a:t>
            </a:r>
          </a:p>
        </p:txBody>
      </p:sp>
      <p:sp>
        <p:nvSpPr>
          <p:cNvPr id="19" name="Rounded Rectangle 18"/>
          <p:cNvSpPr/>
          <p:nvPr/>
        </p:nvSpPr>
        <p:spPr>
          <a:xfrm>
            <a:off x="1097280" y="3355848"/>
            <a:ext cx="566928" cy="219456"/>
          </a:xfrm>
          <a:prstGeom prst="roundRect">
            <a:avLst>
              <a:gd name="adj" fmla="val 30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TOOL</a:t>
            </a:r>
          </a:p>
        </p:txBody>
      </p:sp>
      <p:sp>
        <p:nvSpPr>
          <p:cNvPr id="20" name="Rounded Rectangle 19"/>
          <p:cNvSpPr/>
          <p:nvPr/>
        </p:nvSpPr>
        <p:spPr>
          <a:xfrm>
            <a:off x="1719072" y="3355848"/>
            <a:ext cx="566928" cy="219456"/>
          </a:xfrm>
          <a:prstGeom prst="roundRect">
            <a:avLst>
              <a:gd name="adj" fmla="val 30000"/>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CLIENT</a:t>
            </a:r>
          </a:p>
        </p:txBody>
      </p:sp>
      <p:sp>
        <p:nvSpPr>
          <p:cNvPr id="21" name="TextBox 20"/>
          <p:cNvSpPr txBox="1"/>
          <p:nvPr/>
        </p:nvSpPr>
        <p:spPr>
          <a:xfrm>
            <a:off x="2423160" y="3246120"/>
            <a:ext cx="5897880" cy="886967"/>
          </a:xfrm>
          <a:prstGeom prst="rect">
            <a:avLst/>
          </a:prstGeom>
          <a:noFill/>
        </p:spPr>
        <p:txBody>
          <a:bodyPr wrap="square" anchor="t" lIns="45720" rIns="45720" tIns="18288" bIns="18288">
            <a:spAutoFit/>
          </a:bodyPr>
          <a:lstStyle/>
          <a:p>
            <a:r>
              <a:rPr sz="1200" b="1" i="0">
                <a:solidFill>
                  <a:srgbClr val="002F59"/>
                </a:solidFill>
                <a:latin typeface="Montserrat"/>
                <a:cs typeface="Montserrat"/>
              </a:rPr>
              <a:t>One item turns out to be real development</a:t>
            </a:r>
          </a:p>
          <a:p>
            <a:pPr>
              <a:lnSpc>
                <a:spcPct val="100000"/>
              </a:lnSpc>
              <a:spcBef>
                <a:spcPts val="100"/>
              </a:spcBef>
            </a:pPr>
            <a:r>
              <a:rPr sz="1000" b="0" i="0">
                <a:solidFill>
                  <a:srgbClr val="1E1E1E"/>
                </a:solidFill>
                <a:latin typeface="Barlow"/>
                <a:cs typeface="Barlow"/>
              </a:rPr>
              <a:t>Before any code, a Use Case is written and the client signs it: problem, approach, objects, assumptions, effort. It doubles as the SOW. When the build ships, the FDD &amp; TDD handover follows for whoever maintains it later.</a:t>
            </a:r>
          </a:p>
        </p:txBody>
      </p:sp>
      <p:sp>
        <p:nvSpPr>
          <p:cNvPr id="22" name="TextBox 21"/>
          <p:cNvSpPr txBox="1"/>
          <p:nvPr/>
        </p:nvSpPr>
        <p:spPr>
          <a:xfrm>
            <a:off x="8458200" y="3246120"/>
            <a:ext cx="3108960" cy="886967"/>
          </a:xfrm>
          <a:prstGeom prst="rect">
            <a:avLst/>
          </a:prstGeom>
          <a:noFill/>
        </p:spPr>
        <p:txBody>
          <a:bodyPr wrap="square" anchor="ctr" lIns="45720" rIns="45720" tIns="18288" bIns="18288">
            <a:spAutoFit/>
          </a:bodyPr>
          <a:lstStyle/>
          <a:p>
            <a:pPr>
              <a:lnSpc>
                <a:spcPct val="105000"/>
              </a:lnSpc>
            </a:pPr>
            <a:r>
              <a:rPr sz="850" b="0" i="0">
                <a:solidFill>
                  <a:srgbClr val="707070"/>
                </a:solidFill>
                <a:latin typeface="Consolas"/>
                <a:cs typeface="Consolas"/>
              </a:rPr>
              <a:t>deliverables/Use_Case_....docx · FDD &amp; TDD ....docx</a:t>
            </a:r>
          </a:p>
        </p:txBody>
      </p:sp>
      <p:sp>
        <p:nvSpPr>
          <p:cNvPr id="23" name="Rectangle 22"/>
          <p:cNvSpPr/>
          <p:nvPr/>
        </p:nvSpPr>
        <p:spPr>
          <a:xfrm>
            <a:off x="640080" y="4151375"/>
            <a:ext cx="10927080" cy="13716"/>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0080" y="4242815"/>
            <a:ext cx="329184" cy="329184"/>
          </a:xfrm>
          <a:prstGeom prst="ellipse">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FFFFFF"/>
                </a:solidFill>
                <a:latin typeface="Montserrat"/>
                <a:cs typeface="Montserrat"/>
              </a:rPr>
              <a:t>11</a:t>
            </a:r>
          </a:p>
        </p:txBody>
      </p:sp>
      <p:sp>
        <p:nvSpPr>
          <p:cNvPr id="25" name="Rounded Rectangle 24"/>
          <p:cNvSpPr/>
          <p:nvPr/>
        </p:nvSpPr>
        <p:spPr>
          <a:xfrm>
            <a:off x="1097280" y="4297679"/>
            <a:ext cx="566928" cy="219456"/>
          </a:xfrm>
          <a:prstGeom prst="roundRect">
            <a:avLst>
              <a:gd name="adj" fmla="val 30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TOOL</a:t>
            </a:r>
          </a:p>
        </p:txBody>
      </p:sp>
      <p:sp>
        <p:nvSpPr>
          <p:cNvPr id="26" name="Rounded Rectangle 25"/>
          <p:cNvSpPr/>
          <p:nvPr/>
        </p:nvSpPr>
        <p:spPr>
          <a:xfrm>
            <a:off x="1719072" y="4297679"/>
            <a:ext cx="566928" cy="219456"/>
          </a:xfrm>
          <a:prstGeom prst="roundRect">
            <a:avLst>
              <a:gd name="adj" fmla="val 30000"/>
            </a:avLst>
          </a:prstGeom>
          <a:solidFill>
            <a:srgbClr val="FFC8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1E1E1E"/>
                </a:solidFill>
                <a:latin typeface="Barlow"/>
                <a:cs typeface="Barlow"/>
              </a:rPr>
              <a:t>HUMAN</a:t>
            </a:r>
          </a:p>
        </p:txBody>
      </p:sp>
      <p:sp>
        <p:nvSpPr>
          <p:cNvPr id="27" name="TextBox 26"/>
          <p:cNvSpPr txBox="1"/>
          <p:nvPr/>
        </p:nvSpPr>
        <p:spPr>
          <a:xfrm>
            <a:off x="2423160" y="4187951"/>
            <a:ext cx="5897880" cy="886967"/>
          </a:xfrm>
          <a:prstGeom prst="rect">
            <a:avLst/>
          </a:prstGeom>
          <a:noFill/>
        </p:spPr>
        <p:txBody>
          <a:bodyPr wrap="square" anchor="t" lIns="45720" rIns="45720" tIns="18288" bIns="18288">
            <a:spAutoFit/>
          </a:bodyPr>
          <a:lstStyle/>
          <a:p>
            <a:r>
              <a:rPr sz="1200" b="1" i="0">
                <a:solidFill>
                  <a:srgbClr val="002F59"/>
                </a:solidFill>
                <a:latin typeface="Montserrat"/>
                <a:cs typeface="Montserrat"/>
              </a:rPr>
              <a:t>Then it becomes an ongoing relationship</a:t>
            </a:r>
          </a:p>
          <a:p>
            <a:pPr>
              <a:lnSpc>
                <a:spcPct val="100000"/>
              </a:lnSpc>
              <a:spcBef>
                <a:spcPts val="100"/>
              </a:spcBef>
            </a:pPr>
            <a:r>
              <a:rPr sz="1000" b="0" i="0">
                <a:solidFill>
                  <a:srgbClr val="1E1E1E"/>
                </a:solidFill>
                <a:latin typeface="Barlow"/>
                <a:cs typeface="Barlow"/>
              </a:rPr>
              <a:t>Every Monday the hours job drops this client's slice into their folder. Before each status call the exec summary assembles from Asana, hours, email, Drive and meetings, and cross-references meetings against Asana. Candid version internal, reviewed version to the client.</a:t>
            </a:r>
          </a:p>
        </p:txBody>
      </p:sp>
      <p:sp>
        <p:nvSpPr>
          <p:cNvPr id="28" name="TextBox 27"/>
          <p:cNvSpPr txBox="1"/>
          <p:nvPr/>
        </p:nvSpPr>
        <p:spPr>
          <a:xfrm>
            <a:off x="8458200" y="4187951"/>
            <a:ext cx="3108960" cy="886967"/>
          </a:xfrm>
          <a:prstGeom prst="rect">
            <a:avLst/>
          </a:prstGeom>
          <a:noFill/>
        </p:spPr>
        <p:txBody>
          <a:bodyPr wrap="square" anchor="ctr" lIns="45720" rIns="45720" tIns="18288" bIns="18288">
            <a:spAutoFit/>
          </a:bodyPr>
          <a:lstStyle/>
          <a:p>
            <a:pPr>
              <a:lnSpc>
                <a:spcPct val="105000"/>
              </a:lnSpc>
            </a:pPr>
            <a:r>
              <a:rPr sz="850" b="0" i="0">
                <a:solidFill>
                  <a:srgbClr val="707070"/>
                </a:solidFill>
                <a:latin typeface="Consolas"/>
                <a:cs typeface="Consolas"/>
              </a:rPr>
              <a:t>working/time_entries_*.json · working/exec_summary_*.md · Executive_Summary.docx</a:t>
            </a:r>
          </a:p>
        </p:txBody>
      </p:sp>
      <p:sp>
        <p:nvSpPr>
          <p:cNvPr id="29" name="Rectangle 28"/>
          <p:cNvSpPr/>
          <p:nvPr/>
        </p:nvSpPr>
        <p:spPr>
          <a:xfrm>
            <a:off x="640080" y="5093207"/>
            <a:ext cx="10927080" cy="13716"/>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0080" y="5184647"/>
            <a:ext cx="329184" cy="329184"/>
          </a:xfrm>
          <a:prstGeom prst="ellipse">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i="0">
                <a:solidFill>
                  <a:srgbClr val="FFFFFF"/>
                </a:solidFill>
                <a:latin typeface="Montserrat"/>
                <a:cs typeface="Montserrat"/>
              </a:rPr>
              <a:t>12</a:t>
            </a:r>
          </a:p>
        </p:txBody>
      </p:sp>
      <p:sp>
        <p:nvSpPr>
          <p:cNvPr id="31" name="Rounded Rectangle 30"/>
          <p:cNvSpPr/>
          <p:nvPr/>
        </p:nvSpPr>
        <p:spPr>
          <a:xfrm>
            <a:off x="1097280" y="5239512"/>
            <a:ext cx="566928" cy="219456"/>
          </a:xfrm>
          <a:prstGeom prst="roundRect">
            <a:avLst>
              <a:gd name="adj" fmla="val 30000"/>
            </a:avLst>
          </a:prstGeom>
          <a:solidFill>
            <a:srgbClr val="FFC8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1E1E1E"/>
                </a:solidFill>
                <a:latin typeface="Barlow"/>
                <a:cs typeface="Barlow"/>
              </a:rPr>
              <a:t>HUMAN</a:t>
            </a:r>
          </a:p>
        </p:txBody>
      </p:sp>
      <p:sp>
        <p:nvSpPr>
          <p:cNvPr id="32" name="TextBox 31"/>
          <p:cNvSpPr txBox="1"/>
          <p:nvPr/>
        </p:nvSpPr>
        <p:spPr>
          <a:xfrm>
            <a:off x="2423160" y="5129783"/>
            <a:ext cx="5897880" cy="886967"/>
          </a:xfrm>
          <a:prstGeom prst="rect">
            <a:avLst/>
          </a:prstGeom>
          <a:noFill/>
        </p:spPr>
        <p:txBody>
          <a:bodyPr wrap="square" anchor="t" lIns="45720" rIns="45720" tIns="18288" bIns="18288">
            <a:spAutoFit/>
          </a:bodyPr>
          <a:lstStyle/>
          <a:p>
            <a:r>
              <a:rPr sz="1200" b="1" i="0">
                <a:solidFill>
                  <a:srgbClr val="002F59"/>
                </a:solidFill>
                <a:latin typeface="Montserrat"/>
                <a:cs typeface="Montserrat"/>
              </a:rPr>
              <a:t>What the engagement taught the practice</a:t>
            </a:r>
          </a:p>
          <a:p>
            <a:pPr>
              <a:lnSpc>
                <a:spcPct val="100000"/>
              </a:lnSpc>
              <a:spcBef>
                <a:spcPts val="100"/>
              </a:spcBef>
            </a:pPr>
            <a:r>
              <a:rPr sz="1000" b="0" i="0">
                <a:solidFill>
                  <a:srgbClr val="1E1E1E"/>
                </a:solidFill>
                <a:latin typeface="Barlow"/>
                <a:cs typeface="Barlow"/>
              </a:rPr>
              <a:t>At the retro every learning captured along the way gets a decision: promoted to the playbook, kept engagement-specific, or discarded. Actual hours feed the baselines. Nothing becomes doctrine without someone saying so.</a:t>
            </a:r>
          </a:p>
        </p:txBody>
      </p:sp>
      <p:sp>
        <p:nvSpPr>
          <p:cNvPr id="33" name="TextBox 32"/>
          <p:cNvSpPr txBox="1"/>
          <p:nvPr/>
        </p:nvSpPr>
        <p:spPr>
          <a:xfrm>
            <a:off x="8458200" y="5129783"/>
            <a:ext cx="3108960" cy="886967"/>
          </a:xfrm>
          <a:prstGeom prst="rect">
            <a:avLst/>
          </a:prstGeom>
          <a:noFill/>
        </p:spPr>
        <p:txBody>
          <a:bodyPr wrap="square" anchor="ctr" lIns="45720" rIns="45720" tIns="18288" bIns="18288">
            <a:spAutoFit/>
          </a:bodyPr>
          <a:lstStyle/>
          <a:p>
            <a:pPr>
              <a:lnSpc>
                <a:spcPct val="105000"/>
              </a:lnSpc>
            </a:pPr>
            <a:r>
              <a:rPr sz="850" b="0" i="0">
                <a:solidFill>
                  <a:srgbClr val="707070"/>
                </a:solidFill>
                <a:latin typeface="Consolas"/>
                <a:cs typeface="Consolas"/>
              </a:rPr>
              <a:t>working/retro.md → NETSUITE_PLAYBOOK.md · LOE_BASELINES.md · CAPABILITIES.md</a:t>
            </a:r>
          </a:p>
        </p:txBody>
      </p:sp>
      <p:sp>
        <p:nvSpPr>
          <p:cNvPr id="34" name="TextBox 33"/>
          <p:cNvSpPr txBox="1"/>
          <p:nvPr/>
        </p:nvSpPr>
        <p:spPr>
          <a:xfrm>
            <a:off x="640080" y="6126480"/>
            <a:ext cx="1097280" cy="256032"/>
          </a:xfrm>
          <a:prstGeom prst="rect">
            <a:avLst/>
          </a:prstGeom>
          <a:noFill/>
        </p:spPr>
        <p:txBody>
          <a:bodyPr wrap="square" anchor="ctr" lIns="45720" rIns="45720" tIns="18288" bIns="18288">
            <a:spAutoFit/>
          </a:bodyPr>
          <a:lstStyle/>
          <a:p>
            <a:r>
              <a:rPr sz="900" b="1" i="0">
                <a:solidFill>
                  <a:srgbClr val="707070"/>
                </a:solidFill>
                <a:latin typeface="Barlow"/>
                <a:cs typeface="Barlow"/>
              </a:rPr>
              <a:t>Who acts:</a:t>
            </a:r>
          </a:p>
        </p:txBody>
      </p:sp>
      <p:sp>
        <p:nvSpPr>
          <p:cNvPr id="35" name="Rounded Rectangle 34"/>
          <p:cNvSpPr/>
          <p:nvPr/>
        </p:nvSpPr>
        <p:spPr>
          <a:xfrm>
            <a:off x="1463040" y="6144768"/>
            <a:ext cx="566928" cy="219456"/>
          </a:xfrm>
          <a:prstGeom prst="roundRect">
            <a:avLst>
              <a:gd name="adj" fmla="val 30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TOOL</a:t>
            </a:r>
          </a:p>
        </p:txBody>
      </p:sp>
      <p:sp>
        <p:nvSpPr>
          <p:cNvPr id="36" name="TextBox 35"/>
          <p:cNvSpPr txBox="1"/>
          <p:nvPr/>
        </p:nvSpPr>
        <p:spPr>
          <a:xfrm>
            <a:off x="2084832" y="6126480"/>
            <a:ext cx="2194560" cy="256032"/>
          </a:xfrm>
          <a:prstGeom prst="rect">
            <a:avLst/>
          </a:prstGeom>
          <a:noFill/>
        </p:spPr>
        <p:txBody>
          <a:bodyPr wrap="square" anchor="ctr" lIns="45720" rIns="45720" tIns="18288" bIns="18288">
            <a:spAutoFit/>
          </a:bodyPr>
          <a:lstStyle/>
          <a:p>
            <a:r>
              <a:rPr sz="900" b="0" i="0">
                <a:solidFill>
                  <a:srgbClr val="707070"/>
                </a:solidFill>
                <a:latin typeface="Barlow"/>
                <a:cs typeface="Barlow"/>
              </a:rPr>
              <a:t>Claude does the work</a:t>
            </a:r>
          </a:p>
        </p:txBody>
      </p:sp>
      <p:sp>
        <p:nvSpPr>
          <p:cNvPr id="37" name="Rounded Rectangle 36"/>
          <p:cNvSpPr/>
          <p:nvPr/>
        </p:nvSpPr>
        <p:spPr>
          <a:xfrm>
            <a:off x="4297680" y="6144768"/>
            <a:ext cx="566928" cy="219456"/>
          </a:xfrm>
          <a:prstGeom prst="roundRect">
            <a:avLst>
              <a:gd name="adj" fmla="val 30000"/>
            </a:avLst>
          </a:prstGeom>
          <a:solidFill>
            <a:srgbClr val="FFC8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1E1E1E"/>
                </a:solidFill>
                <a:latin typeface="Barlow"/>
                <a:cs typeface="Barlow"/>
              </a:rPr>
              <a:t>HUMAN</a:t>
            </a:r>
          </a:p>
        </p:txBody>
      </p:sp>
      <p:sp>
        <p:nvSpPr>
          <p:cNvPr id="38" name="TextBox 37"/>
          <p:cNvSpPr txBox="1"/>
          <p:nvPr/>
        </p:nvSpPr>
        <p:spPr>
          <a:xfrm>
            <a:off x="4919472" y="6126480"/>
            <a:ext cx="2194560" cy="256032"/>
          </a:xfrm>
          <a:prstGeom prst="rect">
            <a:avLst/>
          </a:prstGeom>
          <a:noFill/>
        </p:spPr>
        <p:txBody>
          <a:bodyPr wrap="square" anchor="ctr" lIns="45720" rIns="45720" tIns="18288" bIns="18288">
            <a:spAutoFit/>
          </a:bodyPr>
          <a:lstStyle/>
          <a:p>
            <a:r>
              <a:rPr sz="900" b="0" i="0">
                <a:solidFill>
                  <a:srgbClr val="707070"/>
                </a:solidFill>
                <a:latin typeface="Barlow"/>
                <a:cs typeface="Barlow"/>
              </a:rPr>
              <a:t>a person decides or signs</a:t>
            </a:r>
          </a:p>
        </p:txBody>
      </p:sp>
      <p:sp>
        <p:nvSpPr>
          <p:cNvPr id="39" name="Rounded Rectangle 38"/>
          <p:cNvSpPr/>
          <p:nvPr/>
        </p:nvSpPr>
        <p:spPr>
          <a:xfrm>
            <a:off x="7132320" y="6144768"/>
            <a:ext cx="566928" cy="219456"/>
          </a:xfrm>
          <a:prstGeom prst="roundRect">
            <a:avLst>
              <a:gd name="adj" fmla="val 30000"/>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i="0">
                <a:solidFill>
                  <a:srgbClr val="FFFFFF"/>
                </a:solidFill>
                <a:latin typeface="Barlow"/>
                <a:cs typeface="Barlow"/>
              </a:rPr>
              <a:t>CLIENT</a:t>
            </a:r>
          </a:p>
        </p:txBody>
      </p:sp>
      <p:sp>
        <p:nvSpPr>
          <p:cNvPr id="40" name="TextBox 39"/>
          <p:cNvSpPr txBox="1"/>
          <p:nvPr/>
        </p:nvSpPr>
        <p:spPr>
          <a:xfrm>
            <a:off x="7754112" y="6126480"/>
            <a:ext cx="2194560" cy="256032"/>
          </a:xfrm>
          <a:prstGeom prst="rect">
            <a:avLst/>
          </a:prstGeom>
          <a:noFill/>
        </p:spPr>
        <p:txBody>
          <a:bodyPr wrap="square" anchor="ctr" lIns="45720" rIns="45720" tIns="18288" bIns="18288">
            <a:spAutoFit/>
          </a:bodyPr>
          <a:lstStyle/>
          <a:p>
            <a:r>
              <a:rPr sz="900" b="0" i="0">
                <a:solidFill>
                  <a:srgbClr val="707070"/>
                </a:solidFill>
                <a:latin typeface="Barlow"/>
                <a:cs typeface="Barlow"/>
              </a:rPr>
              <a:t>the customer has to act</a:t>
            </a:r>
          </a:p>
        </p:txBody>
      </p:sp>
      <p:sp>
        <p:nvSpPr>
          <p:cNvPr id="41" name="Rectangle 40"/>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43" name="TextBox 42"/>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It starts with the sales handover</a:t>
            </a:r>
          </a:p>
        </p:txBody>
      </p:sp>
      <p:sp>
        <p:nvSpPr>
          <p:cNvPr id="6" name="TextBox 5"/>
          <p:cNvSpPr txBox="1"/>
          <p:nvPr/>
        </p:nvSpPr>
        <p:spPr>
          <a:xfrm>
            <a:off x="640080" y="1371600"/>
            <a:ext cx="6400800" cy="4572000"/>
          </a:xfrm>
          <a:prstGeom prst="rect">
            <a:avLst/>
          </a:prstGeom>
          <a:noFill/>
        </p:spPr>
        <p:txBody>
          <a:bodyPr wrap="square" anchor="t" lIns="45720" rIns="45720" tIns="18288" bIns="18288">
            <a:spAutoFit/>
          </a:bodyPr>
          <a:lstStyle/>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Create a plain-name folder under G:\Shared drives\Power Cloud OS. No "RA" suffix; the folder outlives any one engagement.</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Drop whatever you have in it, loose is fine: sales notes, transcripts, exports, the SOW.</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Open Claude Code in that folder and say the line.</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Claude files the documents into source/, checks for an existing Asana project and folder-name variants before creating anything, interviews you (engagement type, contacts, stack, billing channel), pre-fills CONTEXT.md, links the legacy folder as read-only history, and drafts the access &amp; consent pack for you to send.</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Old client, new work: same line, and it asks about their historical folder instead of copying it over.</a:t>
            </a:r>
          </a:p>
        </p:txBody>
      </p:sp>
      <p:sp>
        <p:nvSpPr>
          <p:cNvPr id="7" name="Rounded Rectangle 6"/>
          <p:cNvSpPr/>
          <p:nvPr/>
        </p:nvSpPr>
        <p:spPr>
          <a:xfrm>
            <a:off x="7315200" y="1463040"/>
            <a:ext cx="4206240" cy="448056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1645920"/>
            <a:ext cx="3749039" cy="365760"/>
          </a:xfrm>
          <a:prstGeom prst="rect">
            <a:avLst/>
          </a:prstGeom>
          <a:noFill/>
        </p:spPr>
        <p:txBody>
          <a:bodyPr wrap="square" anchor="t" lIns="45720" rIns="45720" tIns="18288" bIns="18288">
            <a:spAutoFit/>
          </a:bodyPr>
          <a:lstStyle/>
          <a:p>
            <a:r>
              <a:rPr sz="1050" b="1" i="0">
                <a:solidFill>
                  <a:srgbClr val="31A4F3"/>
                </a:solidFill>
                <a:latin typeface="Barlow"/>
                <a:cs typeface="Barlow"/>
              </a:rPr>
              <a:t>WHAT YOU SAY</a:t>
            </a:r>
          </a:p>
        </p:txBody>
      </p:sp>
      <p:sp>
        <p:nvSpPr>
          <p:cNvPr id="9" name="TextBox 8"/>
          <p:cNvSpPr txBox="1"/>
          <p:nvPr/>
        </p:nvSpPr>
        <p:spPr>
          <a:xfrm>
            <a:off x="7543800" y="2057400"/>
            <a:ext cx="3749039" cy="3749040"/>
          </a:xfrm>
          <a:prstGeom prst="rect">
            <a:avLst/>
          </a:prstGeom>
          <a:noFill/>
        </p:spPr>
        <p:txBody>
          <a:bodyPr wrap="square" anchor="t" lIns="45720" rIns="45720" tIns="18288" bIns="18288">
            <a:spAutoFit/>
          </a:bodyPr>
          <a:lstStyle/>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New client. Run session start.</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This is new work for Lulus, an old client. Set them up.</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Foundrae is an in-flight project we're bringing into the workspace. Set them up.</a:t>
            </a:r>
          </a:p>
        </p:txBody>
      </p:sp>
      <p:sp>
        <p:nvSpPr>
          <p:cNvPr id="10" name="Rectangle 9"/>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2" name="TextBox 11"/>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access &amp; consent pack goes out on day one</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Disclosure.</a:t>
            </a:r>
            <a:r>
              <a:rPr sz="1600" b="0" i="0">
                <a:solidFill>
                  <a:srgbClr val="1E1E1E"/>
                </a:solidFill>
                <a:latin typeface="Barlow"/>
                <a:cs typeface="Barlow"/>
              </a:rPr>
              <a:t> We use AI and connect to their NetSuite through MCP, read-only during discovery. A conversation and a written yes, logged in CONTEXT.md with the date.</a:t>
            </a:r>
          </a:p>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Both environments, up front.</a:t>
            </a:r>
            <a:r>
              <a:rPr sz="1600" b="0" i="0">
                <a:solidFill>
                  <a:srgbClr val="1E1E1E"/>
                </a:solidFill>
                <a:latin typeface="Barlow"/>
                <a:cs typeface="Barlow"/>
              </a:rPr>
              <a:t> Production for discovery: current data, and the read-only rule means no write risk. Sandbox for the build later; it has lead time.</a:t>
            </a:r>
          </a:p>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Script Reader install</a:t>
            </a:r>
            <a:r>
              <a:rPr sz="1600" b="0" i="0">
                <a:solidFill>
                  <a:srgbClr val="1E1E1E"/>
                </a:solidFill>
                <a:latin typeface="Barlow"/>
                <a:cs typeface="Barlow"/>
              </a:rPr>
              <a:t>, with the client's go-ahead (Mike, Taha or Dev). Without it, any claim about what a script does stays Reported, never Verified.</a:t>
            </a:r>
          </a:p>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MCP connection added centrally.</a:t>
            </a:r>
            <a:r>
              <a:rPr sz="1600" b="0" i="0">
                <a:solidFill>
                  <a:srgbClr val="1E1E1E"/>
                </a:solidFill>
                <a:latin typeface="Barlow"/>
                <a:cs typeface="Barlow"/>
              </a:rPr>
              <a:t> Send Mike or Taha the account ID. Connections carry the environment in their name ("- Prod", "- SB"), and the write guardrail reads that name.</a:t>
            </a:r>
          </a:p>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Shopify or QuickBooks in the stack?</a:t>
            </a:r>
            <a:r>
              <a:rPr sz="1600" b="0" i="0">
                <a:solidFill>
                  <a:srgbClr val="1E1E1E"/>
                </a:solidFill>
                <a:latin typeface="Barlow"/>
                <a:cs typeface="Barlow"/>
              </a:rPr>
              <a:t> The pack has blocks for those too. Credentials never land in this Drive.</a:t>
            </a:r>
          </a:p>
        </p:txBody>
      </p:sp>
      <p:sp>
        <p:nvSpPr>
          <p:cNvPr id="7" name="Rounded Rectangle 6"/>
          <p:cNvSpPr/>
          <p:nvPr/>
        </p:nvSpPr>
        <p:spPr>
          <a:xfrm>
            <a:off x="640080" y="5440680"/>
            <a:ext cx="10881360" cy="8686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Before real work: disclosure approved, access granted, Script Reader installed, connection live, identity check passed.</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Every session starts the same way</a:t>
            </a:r>
          </a:p>
        </p:txBody>
      </p:sp>
      <p:sp>
        <p:nvSpPr>
          <p:cNvPr id="6" name="TextBox 5"/>
          <p:cNvSpPr txBox="1"/>
          <p:nvPr/>
        </p:nvSpPr>
        <p:spPr>
          <a:xfrm>
            <a:off x="640080" y="1371600"/>
            <a:ext cx="6400800" cy="4572000"/>
          </a:xfrm>
          <a:prstGeom prst="rect">
            <a:avLst/>
          </a:prstGeom>
          <a:noFill/>
        </p:spPr>
        <p:txBody>
          <a:bodyPr wrap="square" anchor="t" lIns="45720" rIns="45720" tIns="18288" bIns="18288">
            <a:spAutoFit/>
          </a:bodyPr>
          <a:lstStyle/>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Open the client's folder and say the line. Same starting point for every phase, discovery through execution.</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It reads CONTEXT.md, inventories the folder, confirms the connected NetSuite account actually belongs to this client, and checks which tools are present.</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If the account does not match, it stops and asks. Do not override; fix the connection.</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It ends by suggesting a session name. Paste it. Generic titles have already caused production and sandbox confusion.</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Then say what you need: prep, the assessment, execution, a ticket, the exec summary, a question with the client's full context behind it.</a:t>
            </a:r>
          </a:p>
        </p:txBody>
      </p:sp>
      <p:sp>
        <p:nvSpPr>
          <p:cNvPr id="7" name="Rounded Rectangle 6"/>
          <p:cNvSpPr/>
          <p:nvPr/>
        </p:nvSpPr>
        <p:spPr>
          <a:xfrm>
            <a:off x="7315200" y="1463040"/>
            <a:ext cx="4206240" cy="448056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1645920"/>
            <a:ext cx="3749039" cy="365760"/>
          </a:xfrm>
          <a:prstGeom prst="rect">
            <a:avLst/>
          </a:prstGeom>
          <a:noFill/>
        </p:spPr>
        <p:txBody>
          <a:bodyPr wrap="square" anchor="t" lIns="45720" rIns="45720" tIns="18288" bIns="18288">
            <a:spAutoFit/>
          </a:bodyPr>
          <a:lstStyle/>
          <a:p>
            <a:r>
              <a:rPr sz="1050" b="1" i="0">
                <a:solidFill>
                  <a:srgbClr val="31A4F3"/>
                </a:solidFill>
                <a:latin typeface="Barlow"/>
                <a:cs typeface="Barlow"/>
              </a:rPr>
              <a:t>WHAT YOU SAY</a:t>
            </a:r>
          </a:p>
        </p:txBody>
      </p:sp>
      <p:sp>
        <p:nvSpPr>
          <p:cNvPr id="9" name="TextBox 8"/>
          <p:cNvSpPr txBox="1"/>
          <p:nvPr/>
        </p:nvSpPr>
        <p:spPr>
          <a:xfrm>
            <a:off x="7543800" y="2057400"/>
            <a:ext cx="3749039" cy="3749040"/>
          </a:xfrm>
          <a:prstGeom prst="rect">
            <a:avLst/>
          </a:prstGeom>
          <a:noFill/>
        </p:spPr>
        <p:txBody>
          <a:bodyPr wrap="square" anchor="t" lIns="45720" rIns="45720" tIns="18288" bIns="18288">
            <a:spAutoFit/>
          </a:bodyPr>
          <a:lstStyle/>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This is the Teppermans engagement. Run session start.</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/rename Teppermans SB - suitelet fix</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Pick up where you left off.</a:t>
            </a:r>
          </a:p>
        </p:txBody>
      </p:sp>
      <p:sp>
        <p:nvSpPr>
          <p:cNvPr id="10" name="Rectangle 9"/>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2" name="TextBox 11"/>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Kickoff prep happens before the client call</a:t>
            </a:r>
          </a:p>
        </p:txBody>
      </p:sp>
      <p:sp>
        <p:nvSpPr>
          <p:cNvPr id="6" name="TextBox 5"/>
          <p:cNvSpPr txBox="1"/>
          <p:nvPr/>
        </p:nvSpPr>
        <p:spPr>
          <a:xfrm>
            <a:off x="640080" y="1371600"/>
            <a:ext cx="6400800" cy="4572000"/>
          </a:xfrm>
          <a:prstGeom prst="rect">
            <a:avLst/>
          </a:prstGeom>
          <a:noFill/>
        </p:spPr>
        <p:txBody>
          <a:bodyPr wrap="square" anchor="t" lIns="45720" rIns="45720" tIns="18288" bIns="18288">
            <a:spAutoFit/>
          </a:bodyPr>
          <a:lstStyle/>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Mines the sales notes and any transcripts, runs read-only MCP discovery against the account, and researches the client's public website.</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Produces a question list grounded in what the account shows, not a generic checklist, plus a time-boxed agenda.</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Gaps between what was said on the sales call and what is actually configured go to the top of the agenda.</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Checkpoint 1: the client-facing one-pager waits for your review before it goes anywhere.</a:t>
            </a:r>
          </a:p>
          <a:p>
            <a:pPr>
              <a:lnSpc>
                <a:spcPct val="106000"/>
              </a:lnSpc>
              <a:spcAft>
                <a:spcPts val="700"/>
              </a:spcAft>
            </a:pPr>
            <a:r>
              <a:rPr sz="1500" b="1" i="0">
                <a:solidFill>
                  <a:srgbClr val="31A4F3"/>
                </a:solidFill>
                <a:latin typeface="Barlow"/>
                <a:cs typeface="Barlow"/>
              </a:rPr>
              <a:t>▪  </a:t>
            </a:r>
            <a:r>
              <a:rPr sz="1500" b="0" i="0">
                <a:solidFill>
                  <a:srgbClr val="1E1E1E"/>
                </a:solidFill>
                <a:latin typeface="Barlow"/>
                <a:cs typeface="Barlow"/>
              </a:rPr>
              <a:t>Taha's line from the summit: "Before the kickoff, they're asking you questions which nobody even asked."</a:t>
            </a:r>
          </a:p>
        </p:txBody>
      </p:sp>
      <p:sp>
        <p:nvSpPr>
          <p:cNvPr id="7" name="Rounded Rectangle 6"/>
          <p:cNvSpPr/>
          <p:nvPr/>
        </p:nvSpPr>
        <p:spPr>
          <a:xfrm>
            <a:off x="7315200" y="1463040"/>
            <a:ext cx="4206240" cy="448056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1645920"/>
            <a:ext cx="3749039" cy="365760"/>
          </a:xfrm>
          <a:prstGeom prst="rect">
            <a:avLst/>
          </a:prstGeom>
          <a:noFill/>
        </p:spPr>
        <p:txBody>
          <a:bodyPr wrap="square" anchor="t" lIns="45720" rIns="45720" tIns="18288" bIns="18288">
            <a:spAutoFit/>
          </a:bodyPr>
          <a:lstStyle/>
          <a:p>
            <a:r>
              <a:rPr sz="1050" b="1" i="0">
                <a:solidFill>
                  <a:srgbClr val="31A4F3"/>
                </a:solidFill>
                <a:latin typeface="Barlow"/>
                <a:cs typeface="Barlow"/>
              </a:rPr>
              <a:t>WHAT YOU SAY</a:t>
            </a:r>
          </a:p>
        </p:txBody>
      </p:sp>
      <p:sp>
        <p:nvSpPr>
          <p:cNvPr id="9" name="TextBox 8"/>
          <p:cNvSpPr txBox="1"/>
          <p:nvPr/>
        </p:nvSpPr>
        <p:spPr>
          <a:xfrm>
            <a:off x="7543800" y="2057400"/>
            <a:ext cx="3749039" cy="3749040"/>
          </a:xfrm>
          <a:prstGeom prst="rect">
            <a:avLst/>
          </a:prstGeom>
          <a:noFill/>
        </p:spPr>
        <p:txBody>
          <a:bodyPr wrap="square" anchor="t" lIns="45720" rIns="45720" tIns="18288" bIns="18288">
            <a:spAutoFit/>
          </a:bodyPr>
          <a:lstStyle/>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We got the handoff from sales. Prep me for the kickoff call, and draft the questions we should send the client in advance.</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Prep for the onsite.</a:t>
            </a:r>
          </a:p>
        </p:txBody>
      </p:sp>
      <p:sp>
        <p:nvSpPr>
          <p:cNvPr id="10" name="Rectangle 9"/>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2" name="TextBox 11"/>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Discovery lands in source/, and source/ is sacred</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Transcripts, recordings, exports, client documents go into source/. That folder is the client's words and data.</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Never edit it. Transform via copies in working/. Never Explorer-copy a .gdoc; export it properly.</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Read-only during discovery, no exceptions, even on a live production account. Queries, record reads and metadata only.</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If a production-write confirmation ever appears during discovery work, the answer is decline. The guardrail is protecting a client account, not throwing an error.</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Two offerings, same machinery: </a:t>
            </a:r>
            <a:r>
              <a:rPr sz="1600" b="1" i="0">
                <a:solidFill>
                  <a:srgbClr val="1E1E1E"/>
                </a:solidFill>
                <a:latin typeface="Barlow"/>
                <a:cs typeface="Barlow"/>
              </a:rPr>
              <a:t>Rapid Assessment</a:t>
            </a:r>
            <a:r>
              <a:rPr sz="1600" b="0" i="0">
                <a:solidFill>
                  <a:srgbClr val="1E1E1E"/>
                </a:solidFill>
                <a:latin typeface="Barlow"/>
                <a:cs typeface="Barlow"/>
              </a:rPr>
              <a:t> onsite over two full days, </a:t>
            </a:r>
            <a:r>
              <a:rPr sz="1600" b="1" i="0">
                <a:solidFill>
                  <a:srgbClr val="1E1E1E"/>
                </a:solidFill>
                <a:latin typeface="Barlow"/>
                <a:cs typeface="Barlow"/>
              </a:rPr>
              <a:t>Fast Track Discovery</a:t>
            </a:r>
            <a:r>
              <a:rPr sz="1600" b="0" i="0">
                <a:solidFill>
                  <a:srgbClr val="1E1E1E"/>
                </a:solidFill>
                <a:latin typeface="Barlow"/>
                <a:cs typeface="Barlow"/>
              </a:rPr>
              <a:t> remote in two-hour chunks.</a:t>
            </a:r>
          </a:p>
        </p:txBody>
      </p:sp>
      <p:sp>
        <p:nvSpPr>
          <p:cNvPr id="7" name="Rounded Rectangle 6"/>
          <p:cNvSpPr/>
          <p:nvPr/>
        </p:nvSpPr>
        <p:spPr>
          <a:xfrm>
            <a:off x="640080" y="5440680"/>
            <a:ext cx="10881360" cy="8686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Read-only during discovery. No exceptions, even on a live production account.</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assessment: six stages, each with a human check</a:t>
            </a:r>
          </a:p>
        </p:txBody>
      </p:sp>
      <p:graphicFrame>
        <p:nvGraphicFramePr>
          <p:cNvPr id="6" name="Table 5"/>
          <p:cNvGraphicFramePr>
            <a:graphicFrameLocks noGrp="1"/>
          </p:cNvGraphicFramePr>
          <p:nvPr/>
        </p:nvGraphicFramePr>
        <p:xfrm>
          <a:off x="640080" y="1417320"/>
          <a:ext cx="10881358" cy="4617718"/>
        </p:xfrm>
        <a:graphic>
          <a:graphicData uri="http://schemas.openxmlformats.org/drawingml/2006/table">
            <a:tbl>
              <a:tblPr firstRow="1" bandRow="0"/>
              <a:tblGrid>
                <a:gridCol w="1930563"/>
                <a:gridCol w="4650903"/>
                <a:gridCol w="2632587"/>
                <a:gridCol w="1667305"/>
              </a:tblGrid>
              <a:tr h="659674">
                <a:tc>
                  <a:txBody>
                    <a:bodyPr/>
                    <a:lstStyle/>
                    <a:p>
                      <a:r>
                        <a:rPr sz="1150" b="1" i="0">
                          <a:solidFill>
                            <a:srgbClr val="FFFFFF"/>
                          </a:solidFill>
                          <a:latin typeface="Montserrat"/>
                          <a:cs typeface="Montserrat"/>
                        </a:rPr>
                        <a:t>Stage</a:t>
                      </a:r>
                    </a:p>
                  </a:txBody>
                  <a:tcPr marL="91440" marR="91440" marT="36576" marB="36576" anchor="ctr">
                    <a:solidFill>
                      <a:srgbClr val="002F59"/>
                    </a:solidFill>
                  </a:tcPr>
                </a:tc>
                <a:tc>
                  <a:txBody>
                    <a:bodyPr/>
                    <a:lstStyle/>
                    <a:p>
                      <a:r>
                        <a:rPr sz="1150" b="1" i="0">
                          <a:solidFill>
                            <a:srgbClr val="FFFFFF"/>
                          </a:solidFill>
                          <a:latin typeface="Montserrat"/>
                          <a:cs typeface="Montserrat"/>
                        </a:rPr>
                        <a:t>What it does</a:t>
                      </a:r>
                    </a:p>
                  </a:txBody>
                  <a:tcPr marL="91440" marR="91440" marT="36576" marB="36576" anchor="ctr">
                    <a:solidFill>
                      <a:srgbClr val="002F59"/>
                    </a:solidFill>
                  </a:tcPr>
                </a:tc>
                <a:tc>
                  <a:txBody>
                    <a:bodyPr/>
                    <a:lstStyle/>
                    <a:p>
                      <a:r>
                        <a:rPr sz="1150" b="1" i="0">
                          <a:solidFill>
                            <a:srgbClr val="FFFFFF"/>
                          </a:solidFill>
                          <a:latin typeface="Montserrat"/>
                          <a:cs typeface="Montserrat"/>
                        </a:rPr>
                        <a:t>Produces</a:t>
                      </a:r>
                    </a:p>
                  </a:txBody>
                  <a:tcPr marL="91440" marR="91440" marT="36576" marB="36576" anchor="ctr">
                    <a:solidFill>
                      <a:srgbClr val="002F59"/>
                    </a:solidFill>
                  </a:tcPr>
                </a:tc>
                <a:tc>
                  <a:txBody>
                    <a:bodyPr/>
                    <a:lstStyle/>
                    <a:p>
                      <a:r>
                        <a:rPr sz="1150" b="1" i="0">
                          <a:solidFill>
                            <a:srgbClr val="FFFFFF"/>
                          </a:solidFill>
                          <a:latin typeface="Montserrat"/>
                          <a:cs typeface="Montserrat"/>
                        </a:rPr>
                        <a:t>Human</a:t>
                      </a:r>
                    </a:p>
                  </a:txBody>
                  <a:tcPr marL="91440" marR="91440" marT="36576" marB="36576" anchor="ctr">
                    <a:solidFill>
                      <a:srgbClr val="002F59"/>
                    </a:solidFill>
                  </a:tcPr>
                </a:tc>
              </a:tr>
              <a:tr h="659674">
                <a:tc>
                  <a:txBody>
                    <a:bodyPr/>
                    <a:lstStyle/>
                    <a:p>
                      <a:pPr>
                        <a:lnSpc>
                          <a:spcPct val="105000"/>
                        </a:lnSpc>
                      </a:pPr>
                      <a:r>
                        <a:rPr sz="1150" b="1" i="0">
                          <a:solidFill>
                            <a:srgbClr val="1E1E1E"/>
                          </a:solidFill>
                          <a:latin typeface="Barlow"/>
                          <a:cs typeface="Barlow"/>
                        </a:rPr>
                        <a:t>01 Pre-onsite prep</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Full read-only pass over the account so the questions are grounded in what it shows.</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working/onsite_prep.md, one-page client agenda</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Checkpoint 1</a:t>
                      </a:r>
                    </a:p>
                  </a:txBody>
                  <a:tcPr marL="91440" marR="91440" marT="36576" marB="36576" anchor="ctr">
                    <a:solidFill>
                      <a:srgbClr val="EAF4FC"/>
                    </a:solidFill>
                  </a:tcPr>
                </a:tc>
              </a:tr>
              <a:tr h="659674">
                <a:tc>
                  <a:txBody>
                    <a:bodyPr/>
                    <a:lstStyle/>
                    <a:p>
                      <a:pPr>
                        <a:lnSpc>
                          <a:spcPct val="105000"/>
                        </a:lnSpc>
                      </a:pPr>
                      <a:r>
                        <a:rPr sz="1150" b="1" i="0">
                          <a:solidFill>
                            <a:srgbClr val="1E1E1E"/>
                          </a:solidFill>
                          <a:latin typeface="Barlow"/>
                          <a:cs typeface="Barlow"/>
                        </a:rPr>
                        <a:t>02 Evidence mining</a:t>
                      </a:r>
                    </a:p>
                  </a:txBody>
                  <a:tcPr marL="91440" marR="91440" marT="36576" marB="36576" anchor="ctr">
                    <a:solidFill>
                      <a:srgbClr val="FFFFFF"/>
                    </a:solidFill>
                  </a:tcPr>
                </a:tc>
                <a:tc>
                  <a:txBody>
                    <a:bodyPr/>
                    <a:lstStyle/>
                    <a:p>
                      <a:pPr>
                        <a:lnSpc>
                          <a:spcPct val="105000"/>
                        </a:lnSpc>
                      </a:pPr>
                      <a:r>
                        <a:rPr sz="1150" b="0" i="0">
                          <a:solidFill>
                            <a:srgbClr val="1E1E1E"/>
                          </a:solidFill>
                          <a:latin typeface="Barlow"/>
                          <a:cs typeface="Barlow"/>
                        </a:rPr>
                        <a:t>Every material claim logged with file, timestamp, speaker. Then an exhaustive sweep for candidate work items at a low threshold.</a:t>
                      </a:r>
                    </a:p>
                  </a:txBody>
                  <a:tcPr marL="91440" marR="91440" marT="36576" marB="36576" anchor="ctr">
                    <a:solidFill>
                      <a:srgbClr val="FFFFFF"/>
                    </a:solidFill>
                  </a:tcPr>
                </a:tc>
                <a:tc>
                  <a:txBody>
                    <a:bodyPr/>
                    <a:lstStyle/>
                    <a:p>
                      <a:pPr>
                        <a:lnSpc>
                          <a:spcPct val="105000"/>
                        </a:lnSpc>
                      </a:pPr>
                      <a:r>
                        <a:rPr sz="1150" b="0" i="0">
                          <a:solidFill>
                            <a:srgbClr val="1E1E1E"/>
                          </a:solidFill>
                          <a:latin typeface="Barlow"/>
                          <a:cs typeface="Barlow"/>
                        </a:rPr>
                        <a:t>working/evidence.md, working/candidates.md</a:t>
                      </a:r>
                    </a:p>
                  </a:txBody>
                  <a:tcPr marL="91440" marR="91440" marT="36576" marB="36576" anchor="ctr">
                    <a:solidFill>
                      <a:srgbClr val="FFFFFF"/>
                    </a:solidFill>
                  </a:tcPr>
                </a:tc>
                <a:tc>
                  <a:txBody>
                    <a:bodyPr/>
                    <a:lstStyle/>
                    <a:p>
                      <a:pPr>
                        <a:lnSpc>
                          <a:spcPct val="105000"/>
                        </a:lnSpc>
                      </a:pPr>
                    </a:p>
                  </a:txBody>
                  <a:tcPr marL="91440" marR="91440" marT="36576" marB="36576" anchor="ctr">
                    <a:solidFill>
                      <a:srgbClr val="FFFFFF"/>
                    </a:solidFill>
                  </a:tcPr>
                </a:tc>
              </a:tr>
              <a:tr h="659674">
                <a:tc>
                  <a:txBody>
                    <a:bodyPr/>
                    <a:lstStyle/>
                    <a:p>
                      <a:pPr>
                        <a:lnSpc>
                          <a:spcPct val="105000"/>
                        </a:lnSpc>
                      </a:pPr>
                      <a:r>
                        <a:rPr sz="1150" b="1" i="0">
                          <a:solidFill>
                            <a:srgbClr val="1E1E1E"/>
                          </a:solidFill>
                          <a:latin typeface="Barlow"/>
                          <a:cs typeface="Barlow"/>
                        </a:rPr>
                        <a:t>03 Verification</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Read-only queries confirm or refute each claim. Findings map to Power Cloud products, always with a native or third-party alternative named.</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working/verification.md</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Checkpoint 2, findings review</a:t>
                      </a:r>
                    </a:p>
                  </a:txBody>
                  <a:tcPr marL="91440" marR="91440" marT="36576" marB="36576" anchor="ctr">
                    <a:solidFill>
                      <a:srgbClr val="EAF4FC"/>
                    </a:solidFill>
                  </a:tcPr>
                </a:tc>
              </a:tr>
              <a:tr h="659674">
                <a:tc>
                  <a:txBody>
                    <a:bodyPr/>
                    <a:lstStyle/>
                    <a:p>
                      <a:pPr>
                        <a:lnSpc>
                          <a:spcPct val="105000"/>
                        </a:lnSpc>
                      </a:pPr>
                      <a:r>
                        <a:rPr sz="1150" b="1" i="0">
                          <a:solidFill>
                            <a:srgbClr val="1E1E1E"/>
                          </a:solidFill>
                          <a:latin typeface="Barlow"/>
                          <a:cs typeface="Barlow"/>
                        </a:rPr>
                        <a:t>04 Drafting</a:t>
                      </a:r>
                    </a:p>
                  </a:txBody>
                  <a:tcPr marL="91440" marR="91440" marT="36576" marB="36576" anchor="ctr">
                    <a:solidFill>
                      <a:srgbClr val="FFFFFF"/>
                    </a:solidFill>
                  </a:tcPr>
                </a:tc>
                <a:tc>
                  <a:txBody>
                    <a:bodyPr/>
                    <a:lstStyle/>
                    <a:p>
                      <a:pPr>
                        <a:lnSpc>
                          <a:spcPct val="105000"/>
                        </a:lnSpc>
                      </a:pPr>
                      <a:r>
                        <a:rPr sz="1150" b="0" i="0">
                          <a:solidFill>
                            <a:srgbClr val="1E1E1E"/>
                          </a:solidFill>
                          <a:latin typeface="Barlow"/>
                          <a:cs typeface="Barlow"/>
                        </a:rPr>
                        <a:t>Approved findings become three markdown drafts. Nothing renders yet.</a:t>
                      </a:r>
                    </a:p>
                  </a:txBody>
                  <a:tcPr marL="91440" marR="91440" marT="36576" marB="36576" anchor="ctr">
                    <a:solidFill>
                      <a:srgbClr val="FFFFFF"/>
                    </a:solidFill>
                  </a:tcPr>
                </a:tc>
                <a:tc>
                  <a:txBody>
                    <a:bodyPr/>
                    <a:lstStyle/>
                    <a:p>
                      <a:pPr>
                        <a:lnSpc>
                          <a:spcPct val="105000"/>
                        </a:lnSpc>
                      </a:pPr>
                      <a:r>
                        <a:rPr sz="1150" b="0" i="0">
                          <a:solidFill>
                            <a:srgbClr val="1E1E1E"/>
                          </a:solidFill>
                          <a:latin typeface="Barlow"/>
                          <a:cs typeface="Barlow"/>
                        </a:rPr>
                        <a:t>Three drafts in working/</a:t>
                      </a:r>
                    </a:p>
                  </a:txBody>
                  <a:tcPr marL="91440" marR="91440" marT="36576" marB="36576" anchor="ctr">
                    <a:solidFill>
                      <a:srgbClr val="FFFFFF"/>
                    </a:solidFill>
                  </a:tcPr>
                </a:tc>
                <a:tc>
                  <a:txBody>
                    <a:bodyPr/>
                    <a:lstStyle/>
                    <a:p>
                      <a:pPr>
                        <a:lnSpc>
                          <a:spcPct val="105000"/>
                        </a:lnSpc>
                      </a:pPr>
                    </a:p>
                  </a:txBody>
                  <a:tcPr marL="91440" marR="91440" marT="36576" marB="36576" anchor="ctr">
                    <a:solidFill>
                      <a:srgbClr val="FFFFFF"/>
                    </a:solidFill>
                  </a:tcPr>
                </a:tc>
              </a:tr>
              <a:tr h="659674">
                <a:tc>
                  <a:txBody>
                    <a:bodyPr/>
                    <a:lstStyle/>
                    <a:p>
                      <a:pPr>
                        <a:lnSpc>
                          <a:spcPct val="105000"/>
                        </a:lnSpc>
                      </a:pPr>
                      <a:r>
                        <a:rPr sz="1150" b="1" i="0">
                          <a:solidFill>
                            <a:srgbClr val="1E1E1E"/>
                          </a:solidFill>
                          <a:latin typeface="Barlow"/>
                          <a:cs typeface="Barlow"/>
                        </a:rPr>
                        <a:t>05 Humanize, review, render</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Copy scan first, so you review finished prose. Draft review, then the LOE review line by line. Only then the branded finals.</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working/loe_log.md, finals in deliverables/</a:t>
                      </a:r>
                    </a:p>
                  </a:txBody>
                  <a:tcPr marL="91440" marR="91440" marT="36576" marB="36576" anchor="ctr">
                    <a:solidFill>
                      <a:srgbClr val="EAF4FC"/>
                    </a:solidFill>
                  </a:tcPr>
                </a:tc>
                <a:tc>
                  <a:txBody>
                    <a:bodyPr/>
                    <a:lstStyle/>
                    <a:p>
                      <a:pPr>
                        <a:lnSpc>
                          <a:spcPct val="105000"/>
                        </a:lnSpc>
                      </a:pPr>
                      <a:r>
                        <a:rPr sz="1150" b="0" i="0">
                          <a:solidFill>
                            <a:srgbClr val="1E1E1E"/>
                          </a:solidFill>
                          <a:latin typeface="Barlow"/>
                          <a:cs typeface="Barlow"/>
                        </a:rPr>
                        <a:t>Checkpoints 3 and 4</a:t>
                      </a:r>
                    </a:p>
                  </a:txBody>
                  <a:tcPr marL="91440" marR="91440" marT="36576" marB="36576" anchor="ctr">
                    <a:solidFill>
                      <a:srgbClr val="EAF4FC"/>
                    </a:solidFill>
                  </a:tcPr>
                </a:tc>
              </a:tr>
              <a:tr h="659674">
                <a:tc>
                  <a:txBody>
                    <a:bodyPr/>
                    <a:lstStyle/>
                    <a:p>
                      <a:pPr>
                        <a:lnSpc>
                          <a:spcPct val="105000"/>
                        </a:lnSpc>
                      </a:pPr>
                      <a:r>
                        <a:rPr sz="1150" b="1" i="0">
                          <a:solidFill>
                            <a:srgbClr val="1E1E1E"/>
                          </a:solidFill>
                          <a:latin typeface="Barlow"/>
                          <a:cs typeface="Barlow"/>
                        </a:rPr>
                        <a:t>06 Retro</a:t>
                      </a:r>
                    </a:p>
                  </a:txBody>
                  <a:tcPr marL="91440" marR="91440" marT="36576" marB="36576" anchor="ctr">
                    <a:solidFill>
                      <a:srgbClr val="FFFFFF"/>
                    </a:solidFill>
                  </a:tcPr>
                </a:tc>
                <a:tc>
                  <a:txBody>
                    <a:bodyPr/>
                    <a:lstStyle/>
                    <a:p>
                      <a:pPr>
                        <a:lnSpc>
                          <a:spcPct val="105000"/>
                        </a:lnSpc>
                      </a:pPr>
                      <a:r>
                        <a:rPr sz="1150" b="0" i="0">
                          <a:solidFill>
                            <a:srgbClr val="1E1E1E"/>
                          </a:solidFill>
                          <a:latin typeface="Barlow"/>
                          <a:cs typeface="Barlow"/>
                        </a:rPr>
                        <a:t>What the engagement taught the practice, walked with a human. Promote, keep local, or discard.</a:t>
                      </a:r>
                    </a:p>
                  </a:txBody>
                  <a:tcPr marL="91440" marR="91440" marT="36576" marB="36576" anchor="ctr">
                    <a:solidFill>
                      <a:srgbClr val="FFFFFF"/>
                    </a:solidFill>
                  </a:tcPr>
                </a:tc>
                <a:tc>
                  <a:txBody>
                    <a:bodyPr/>
                    <a:lstStyle/>
                    <a:p>
                      <a:pPr>
                        <a:lnSpc>
                          <a:spcPct val="105000"/>
                        </a:lnSpc>
                      </a:pPr>
                      <a:r>
                        <a:rPr sz="1150" b="0" i="0">
                          <a:solidFill>
                            <a:srgbClr val="1E1E1E"/>
                          </a:solidFill>
                          <a:latin typeface="Barlow"/>
                          <a:cs typeface="Barlow"/>
                        </a:rPr>
                        <a:t>working/retro.md, updates to the shared library</a:t>
                      </a:r>
                    </a:p>
                  </a:txBody>
                  <a:tcPr marL="91440" marR="91440" marT="36576" marB="36576" anchor="ctr">
                    <a:solidFill>
                      <a:srgbClr val="FFFFFF"/>
                    </a:solidFill>
                  </a:tcPr>
                </a:tc>
                <a:tc>
                  <a:txBody>
                    <a:bodyPr/>
                    <a:lstStyle/>
                    <a:p>
                      <a:pPr>
                        <a:lnSpc>
                          <a:spcPct val="105000"/>
                        </a:lnSpc>
                      </a:pPr>
                      <a:r>
                        <a:rPr sz="1150" b="0" i="0">
                          <a:solidFill>
                            <a:srgbClr val="1E1E1E"/>
                          </a:solidFill>
                          <a:latin typeface="Barlow"/>
                          <a:cs typeface="Barlow"/>
                        </a:rPr>
                        <a:t>Decision on every entry</a:t>
                      </a:r>
                    </a:p>
                  </a:txBody>
                  <a:tcPr marL="91440" marR="91440" marT="36576" marB="36576" anchor="ctr">
                    <a:solidFill>
                      <a:srgbClr val="FFFFFF"/>
                    </a:solidFill>
                  </a:tcPr>
                </a:tc>
              </a:tr>
            </a:tbl>
          </a:graphicData>
        </a:graphic>
      </p:graphicFrame>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Every claim is tiered</a:t>
            </a:r>
          </a:p>
        </p:txBody>
      </p:sp>
      <p:sp>
        <p:nvSpPr>
          <p:cNvPr id="6" name="Rounded Rectangle 5"/>
          <p:cNvSpPr/>
          <p:nvPr/>
        </p:nvSpPr>
        <p:spPr>
          <a:xfrm>
            <a:off x="640080" y="1417320"/>
            <a:ext cx="344424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3444240" cy="640080"/>
          </a:xfrm>
          <a:prstGeom prst="roundRect">
            <a:avLst>
              <a:gd name="adj" fmla="val 8000"/>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37360"/>
            <a:ext cx="3444240" cy="32004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17320"/>
            <a:ext cx="316992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Verified</a:t>
            </a:r>
          </a:p>
        </p:txBody>
      </p:sp>
      <p:sp>
        <p:nvSpPr>
          <p:cNvPr id="10" name="TextBox 9"/>
          <p:cNvSpPr txBox="1"/>
          <p:nvPr/>
        </p:nvSpPr>
        <p:spPr>
          <a:xfrm>
            <a:off x="804671" y="2194560"/>
            <a:ext cx="3115056" cy="2697480"/>
          </a:xfrm>
          <a:prstGeom prst="rect">
            <a:avLst/>
          </a:prstGeom>
          <a:noFill/>
        </p:spPr>
        <p:txBody>
          <a:bodyPr wrap="square" anchor="t" lIns="45720" rIns="45720" tIns="18288" bIns="18288">
            <a:spAutoFit/>
          </a:bodyPr>
          <a:lstStyle/>
          <a:p>
            <a:pPr>
              <a:lnSpc>
                <a:spcPct val="110000"/>
              </a:lnSpc>
            </a:pPr>
            <a:r>
              <a:rPr sz="1350" b="0" i="0">
                <a:solidFill>
                  <a:srgbClr val="1E1E1E"/>
                </a:solidFill>
                <a:latin typeface="Barlow"/>
                <a:cs typeface="Barlow"/>
              </a:rPr>
              <a:t>Confirmed by a read-only query against the account. The query and its result are logged in working/verification.md.</a:t>
            </a:r>
          </a:p>
        </p:txBody>
      </p:sp>
      <p:sp>
        <p:nvSpPr>
          <p:cNvPr id="11" name="Rounded Rectangle 10"/>
          <p:cNvSpPr/>
          <p:nvPr/>
        </p:nvSpPr>
        <p:spPr>
          <a:xfrm>
            <a:off x="4358640" y="1417320"/>
            <a:ext cx="344424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58640" y="1417320"/>
            <a:ext cx="3444240" cy="640080"/>
          </a:xfrm>
          <a:prstGeom prst="roundRect">
            <a:avLst>
              <a:gd name="adj" fmla="val 8000"/>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737360"/>
            <a:ext cx="3444240" cy="3200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5800" y="1417320"/>
            <a:ext cx="316992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Reported</a:t>
            </a:r>
          </a:p>
        </p:txBody>
      </p:sp>
      <p:sp>
        <p:nvSpPr>
          <p:cNvPr id="15" name="TextBox 14"/>
          <p:cNvSpPr txBox="1"/>
          <p:nvPr/>
        </p:nvSpPr>
        <p:spPr>
          <a:xfrm>
            <a:off x="4523232" y="2194560"/>
            <a:ext cx="3115056" cy="2697480"/>
          </a:xfrm>
          <a:prstGeom prst="rect">
            <a:avLst/>
          </a:prstGeom>
          <a:noFill/>
        </p:spPr>
        <p:txBody>
          <a:bodyPr wrap="square" anchor="t" lIns="45720" rIns="45720" tIns="18288" bIns="18288">
            <a:spAutoFit/>
          </a:bodyPr>
          <a:lstStyle/>
          <a:p>
            <a:pPr>
              <a:lnSpc>
                <a:spcPct val="110000"/>
              </a:lnSpc>
            </a:pPr>
            <a:r>
              <a:rPr sz="1350" b="0" i="0">
                <a:solidFill>
                  <a:srgbClr val="1E1E1E"/>
                </a:solidFill>
                <a:latin typeface="Barlow"/>
                <a:cs typeface="Barlow"/>
              </a:rPr>
              <a:t>Stated on a call or in a client document. Not confirmed. Never presented as fact, no matter how confidently it was said.</a:t>
            </a:r>
          </a:p>
        </p:txBody>
      </p:sp>
      <p:sp>
        <p:nvSpPr>
          <p:cNvPr id="16" name="Rounded Rectangle 15"/>
          <p:cNvSpPr/>
          <p:nvPr/>
        </p:nvSpPr>
        <p:spPr>
          <a:xfrm>
            <a:off x="8077200" y="1417320"/>
            <a:ext cx="3444240" cy="356616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77200" y="1417320"/>
            <a:ext cx="3444240" cy="640080"/>
          </a:xfrm>
          <a:prstGeom prst="roundRect">
            <a:avLst>
              <a:gd name="adj" fmla="val 8000"/>
            </a:avLst>
          </a:prstGeom>
          <a:solidFill>
            <a:srgbClr val="707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7200" y="1737360"/>
            <a:ext cx="3444240" cy="320040"/>
          </a:xfrm>
          <a:prstGeom prst="rect">
            <a:avLst/>
          </a:prstGeom>
          <a:solidFill>
            <a:srgbClr val="707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4360" y="1417320"/>
            <a:ext cx="3169920" cy="64008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Inferred</a:t>
            </a:r>
          </a:p>
        </p:txBody>
      </p:sp>
      <p:sp>
        <p:nvSpPr>
          <p:cNvPr id="20" name="TextBox 19"/>
          <p:cNvSpPr txBox="1"/>
          <p:nvPr/>
        </p:nvSpPr>
        <p:spPr>
          <a:xfrm>
            <a:off x="8241792" y="2194560"/>
            <a:ext cx="3115056" cy="2697480"/>
          </a:xfrm>
          <a:prstGeom prst="rect">
            <a:avLst/>
          </a:prstGeom>
          <a:noFill/>
        </p:spPr>
        <p:txBody>
          <a:bodyPr wrap="square" anchor="t" lIns="45720" rIns="45720" tIns="18288" bIns="18288">
            <a:spAutoFit/>
          </a:bodyPr>
          <a:lstStyle/>
          <a:p>
            <a:pPr>
              <a:lnSpc>
                <a:spcPct val="110000"/>
              </a:lnSpc>
            </a:pPr>
            <a:r>
              <a:rPr sz="1350" b="0" i="0">
                <a:solidFill>
                  <a:srgbClr val="1E1E1E"/>
                </a:solidFill>
                <a:latin typeface="Barlow"/>
                <a:cs typeface="Barlow"/>
              </a:rPr>
              <a:t>Our analysis, or an industry pattern applied. Reasoning, not evidence. A health verdict is Inferred and says so.</a:t>
            </a:r>
          </a:p>
        </p:txBody>
      </p:sp>
      <p:sp>
        <p:nvSpPr>
          <p:cNvPr id="21" name="Rounded Rectangle 20"/>
          <p:cNvSpPr/>
          <p:nvPr/>
        </p:nvSpPr>
        <p:spPr>
          <a:xfrm>
            <a:off x="640080" y="5212080"/>
            <a:ext cx="10881360" cy="100584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The disagreement rule: where a call claim and the account disagree, the gap is itself a finding and gets called out rather than quietly reconciled. People misremember their own configurations. Tiers stay internal; they never clutter the client's document.</a:t>
            </a:r>
          </a:p>
        </p:txBody>
      </p:sp>
      <p:sp>
        <p:nvSpPr>
          <p:cNvPr id="22" name="Rectangle 21"/>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4" name="TextBox 23"/>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Nothing falls off the list silently</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Surfacing every potential work item is the top priority of the whole process. It never depends on you remembering an item, or on a transcript being complete.</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Candidates are captured at a deliberately low threshold from every source into working/candidates.md: every pain point, passing complaint, manual workaround, and every anomaly found in the account itself.</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A candidate leaves the register in exactly three ways: it becomes a work item, it moves to fast-follow, or it is dropped with a written reason. Never by silent omission.</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Materiality is your call at the findings review, applied to a complete list, instead of a silent judgment made during extraction.</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Behind it, a per-process-area completeness checklist forces an explicit "not discussed" or "not applicable" for anything the sources never covered.</a:t>
            </a:r>
          </a:p>
        </p:txBody>
      </p:sp>
      <p:sp>
        <p:nvSpPr>
          <p:cNvPr id="7" name="Rounded Rectangle 6"/>
          <p:cNvSpPr/>
          <p:nvPr/>
        </p:nvSpPr>
        <p:spPr>
          <a:xfrm>
            <a:off x="640080" y="5440680"/>
            <a:ext cx="10881360" cy="8686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A candidate may never simply be absent. If it was said on a call or seen in the account, it stays on the list until a human decides otherwise.</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always ships on a Recovery or an Implementation</a:t>
            </a:r>
          </a:p>
        </p:txBody>
      </p:sp>
      <p:graphicFrame>
        <p:nvGraphicFramePr>
          <p:cNvPr id="6" name="Table 5"/>
          <p:cNvGraphicFramePr>
            <a:graphicFrameLocks noGrp="1"/>
          </p:cNvGraphicFramePr>
          <p:nvPr/>
        </p:nvGraphicFramePr>
        <p:xfrm>
          <a:off x="640080" y="1417320"/>
          <a:ext cx="10881360" cy="3291840"/>
        </p:xfrm>
        <a:graphic>
          <a:graphicData uri="http://schemas.openxmlformats.org/drawingml/2006/table">
            <a:tbl>
              <a:tblPr firstRow="1" bandRow="0"/>
              <a:tblGrid>
                <a:gridCol w="2743200"/>
                <a:gridCol w="6309360"/>
                <a:gridCol w="1828800"/>
              </a:tblGrid>
              <a:tr h="822960">
                <a:tc>
                  <a:txBody>
                    <a:bodyPr/>
                    <a:lstStyle/>
                    <a:p>
                      <a:r>
                        <a:rPr sz="1200" b="1" i="0">
                          <a:solidFill>
                            <a:srgbClr val="FFFFFF"/>
                          </a:solidFill>
                          <a:latin typeface="Montserrat"/>
                          <a:cs typeface="Montserrat"/>
                        </a:rPr>
                        <a:t>Deliverable</a:t>
                      </a:r>
                    </a:p>
                  </a:txBody>
                  <a:tcPr marL="91440" marR="91440" marT="36576" marB="36576" anchor="ctr">
                    <a:solidFill>
                      <a:srgbClr val="002F59"/>
                    </a:solidFill>
                  </a:tcPr>
                </a:tc>
                <a:tc>
                  <a:txBody>
                    <a:bodyPr/>
                    <a:lstStyle/>
                    <a:p>
                      <a:r>
                        <a:rPr sz="1200" b="1" i="0">
                          <a:solidFill>
                            <a:srgbClr val="FFFFFF"/>
                          </a:solidFill>
                          <a:latin typeface="Montserrat"/>
                          <a:cs typeface="Montserrat"/>
                        </a:rPr>
                        <a:t>Job</a:t>
                      </a:r>
                    </a:p>
                  </a:txBody>
                  <a:tcPr marL="91440" marR="91440" marT="36576" marB="36576" anchor="ctr">
                    <a:solidFill>
                      <a:srgbClr val="002F59"/>
                    </a:solidFill>
                  </a:tcPr>
                </a:tc>
                <a:tc>
                  <a:txBody>
                    <a:bodyPr/>
                    <a:lstStyle/>
                    <a:p>
                      <a:r>
                        <a:rPr sz="1200" b="1" i="0">
                          <a:solidFill>
                            <a:srgbClr val="FFFFFF"/>
                          </a:solidFill>
                          <a:latin typeface="Montserrat"/>
                          <a:cs typeface="Montserrat"/>
                        </a:rPr>
                        <a:t>Shape</a:t>
                      </a:r>
                    </a:p>
                  </a:txBody>
                  <a:tcPr marL="91440" marR="91440" marT="36576" marB="36576" anchor="ctr">
                    <a:solidFill>
                      <a:srgbClr val="002F59"/>
                    </a:solidFill>
                  </a:tcPr>
                </a:tc>
              </a:tr>
              <a:tr h="822960">
                <a:tc>
                  <a:txBody>
                    <a:bodyPr/>
                    <a:lstStyle/>
                    <a:p>
                      <a:pPr>
                        <a:lnSpc>
                          <a:spcPct val="105000"/>
                        </a:lnSpc>
                      </a:pPr>
                      <a:r>
                        <a:rPr sz="1200" b="1" i="0">
                          <a:solidFill>
                            <a:srgbClr val="1E1E1E"/>
                          </a:solidFill>
                          <a:latin typeface="Barlow"/>
                          <a:cs typeface="Barlow"/>
                        </a:rPr>
                        <a:t>{Client}_Assessment_{date}.docx</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The source of truth. Findings, evidence, the complete work-item menu with effort and priorities, phasing, and the commercial framing. On an Implementation this is the roadmap: same evidence work, framed as milestones toward a target state.</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.docx and PDF</a:t>
                      </a:r>
                    </a:p>
                  </a:txBody>
                  <a:tcPr marL="91440" marR="91440" marT="36576" marB="36576" anchor="ctr">
                    <a:solidFill>
                      <a:srgbClr val="EAF4FC"/>
                    </a:solidFill>
                  </a:tcPr>
                </a:tc>
              </a:tr>
              <a:tr h="822960">
                <a:tc>
                  <a:txBody>
                    <a:bodyPr/>
                    <a:lstStyle/>
                    <a:p>
                      <a:pPr>
                        <a:lnSpc>
                          <a:spcPct val="105000"/>
                        </a:lnSpc>
                      </a:pPr>
                      <a:r>
                        <a:rPr sz="1200" b="1" i="0">
                          <a:solidFill>
                            <a:srgbClr val="1E1E1E"/>
                          </a:solidFill>
                          <a:latin typeface="Barlow"/>
                          <a:cs typeface="Barlow"/>
                        </a:rPr>
                        <a:t>{Client}_Presentation_{date}.pptx</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The meeting vehicle. A twenty-page PDF cannot be reviewed live. Leads with the two or three highest-impact issues; talking points live in speaker notes.</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.pptx and PDF</a:t>
                      </a:r>
                    </a:p>
                  </a:txBody>
                  <a:tcPr marL="91440" marR="91440" marT="36576" marB="36576" anchor="ctr">
                    <a:solidFill>
                      <a:srgbClr val="FFFFFF"/>
                    </a:solidFill>
                  </a:tcPr>
                </a:tc>
              </a:tr>
              <a:tr h="822960">
                <a:tc>
                  <a:txBody>
                    <a:bodyPr/>
                    <a:lstStyle/>
                    <a:p>
                      <a:pPr>
                        <a:lnSpc>
                          <a:spcPct val="105000"/>
                        </a:lnSpc>
                      </a:pPr>
                      <a:r>
                        <a:rPr sz="1200" b="1" i="0">
                          <a:solidFill>
                            <a:srgbClr val="1E1E1E"/>
                          </a:solidFill>
                          <a:latin typeface="Barlow"/>
                          <a:cs typeface="Barlow"/>
                        </a:rPr>
                        <a:t>{Client}_Execution_Plan.md</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The technical artifact a future session builds from. Per task: problem, affected objects, build classification, steps, acceptance criteria, sandbox test plan, rollback.</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.md, internal, updated in place</a:t>
                      </a:r>
                    </a:p>
                  </a:txBody>
                  <a:tcPr marL="91440" marR="91440" marT="36576" marB="36576" anchor="ctr">
                    <a:solidFill>
                      <a:srgbClr val="EAF4FC"/>
                    </a:solidFill>
                  </a:tcPr>
                </a:tc>
              </a:tr>
            </a:tbl>
          </a:graphicData>
        </a:graphic>
      </p:graphicFrame>
      <p:sp>
        <p:nvSpPr>
          <p:cNvPr id="7" name="Rounded Rectangle 6"/>
          <p:cNvSpPr/>
          <p:nvPr/>
        </p:nvSpPr>
        <p:spPr>
          <a:xfrm>
            <a:off x="640080" y="5257800"/>
            <a:ext cx="10881360" cy="96012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Any net-new custom development, in any engagement type, also carries a Use Case the client signs before build and an FDD &amp; TDD handover when it ships. A Custom Project ships those two instead of the three above.</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Checkpoint 4: the numbers are yours</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Claude drafts every LOE figure. You own it, line by line, before anything renders. The hours review is called out explicitly, never assumed inside the draft review.</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Every line is logged in working/loe_log.md: the drafted figure, the approved figure, and a one-line reason for any change. That log is the calibration feed for LOE_BASELINES.md.</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Figures marked [no prior basis] get first attention.</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Commercial posture is a separate field from engagement type. </a:t>
            </a:r>
            <a:r>
              <a:rPr sz="1600" b="1" i="0">
                <a:solidFill>
                  <a:srgbClr val="1E1E1E"/>
                </a:solidFill>
                <a:latin typeface="Barlow"/>
                <a:cs typeface="Barlow"/>
              </a:rPr>
              <a:t>Pre-agreement</a:t>
            </a:r>
            <a:r>
              <a:rPr sz="1600" b="0" i="0">
                <a:solidFill>
                  <a:srgbClr val="1E1E1E"/>
                </a:solidFill>
                <a:latin typeface="Barlow"/>
                <a:cs typeface="Barlow"/>
              </a:rPr>
              <a:t>: LOE, phasing with hours, a recommended first phase, billing terms. </a:t>
            </a:r>
            <a:r>
              <a:rPr sz="1600" b="1" i="0">
                <a:solidFill>
                  <a:srgbClr val="1E1E1E"/>
                </a:solidFill>
                <a:latin typeface="Barlow"/>
                <a:cs typeface="Barlow"/>
              </a:rPr>
              <a:t>Under agreement</a:t>
            </a:r>
            <a:r>
              <a:rPr sz="1600" b="0" i="0">
                <a:solidFill>
                  <a:srgbClr val="1E1E1E"/>
                </a:solidFill>
                <a:latin typeface="Barlow"/>
                <a:cs typeface="Barlow"/>
              </a:rPr>
              <a:t>: none of that reaches the client; effort tracks internally only.</a:t>
            </a:r>
          </a:p>
        </p:txBody>
      </p:sp>
      <p:sp>
        <p:nvSpPr>
          <p:cNvPr id="7" name="Rounded Rectangle 6"/>
          <p:cNvSpPr/>
          <p:nvPr/>
        </p:nvSpPr>
        <p:spPr>
          <a:xfrm>
            <a:off x="640080" y="5440680"/>
            <a:ext cx="10881360" cy="8686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LOE numbers are commercially binding once sent. Claude drafts them, a human owns them.</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Client signs off. Execution builds sandbox first.</a:t>
            </a:r>
          </a:p>
        </p:txBody>
      </p:sp>
      <p:sp>
        <p:nvSpPr>
          <p:cNvPr id="6" name="TextBox 5"/>
          <p:cNvSpPr txBox="1"/>
          <p:nvPr/>
        </p:nvSpPr>
        <p:spPr>
          <a:xfrm>
            <a:off x="640080" y="1371600"/>
            <a:ext cx="6400800" cy="4572000"/>
          </a:xfrm>
          <a:prstGeom prst="rect">
            <a:avLst/>
          </a:prstGeom>
          <a:noFill/>
        </p:spPr>
        <p:txBody>
          <a:bodyPr wrap="square" anchor="t" lIns="45720" rIns="45720" tIns="18288" bIns="18288">
            <a:spAutoFit/>
          </a:bodyPr>
          <a:lstStyle/>
          <a:p>
            <a:pPr>
              <a:lnSpc>
                <a:spcPct val="106000"/>
              </a:lnSpc>
              <a:spcAft>
                <a:spcPts val="700"/>
              </a:spcAft>
            </a:pPr>
            <a:r>
              <a:rPr sz="1350" b="1" i="0">
                <a:solidFill>
                  <a:srgbClr val="31A4F3"/>
                </a:solidFill>
                <a:latin typeface="Barlow"/>
                <a:cs typeface="Barlow"/>
              </a:rPr>
              <a:t>▪  </a:t>
            </a:r>
            <a:r>
              <a:rPr sz="1350" b="0" i="0">
                <a:solidFill>
                  <a:srgbClr val="1E1E1E"/>
                </a:solidFill>
                <a:latin typeface="Barlow"/>
                <a:cs typeface="Barlow"/>
              </a:rPr>
              <a:t>Execution runs from {Client}/execution/, write-enabled, under its own guardrails. Discovery history sits one level up and stays reachable.</a:t>
            </a:r>
          </a:p>
          <a:p>
            <a:pPr>
              <a:lnSpc>
                <a:spcPct val="106000"/>
              </a:lnSpc>
              <a:spcAft>
                <a:spcPts val="700"/>
              </a:spcAft>
            </a:pPr>
            <a:r>
              <a:rPr sz="1350" b="1" i="0">
                <a:solidFill>
                  <a:srgbClr val="31A4F3"/>
                </a:solidFill>
                <a:latin typeface="Barlow"/>
                <a:cs typeface="Barlow"/>
              </a:rPr>
              <a:t>▪  </a:t>
            </a:r>
            <a:r>
              <a:rPr sz="1350" b="1" i="0">
                <a:solidFill>
                  <a:srgbClr val="1E1E1E"/>
                </a:solidFill>
                <a:latin typeface="Barlow"/>
                <a:cs typeface="Barlow"/>
              </a:rPr>
              <a:t>Gate 1, the plan.</a:t>
            </a:r>
            <a:r>
              <a:rPr sz="1350" b="0" i="0">
                <a:solidFill>
                  <a:srgbClr val="1E1E1E"/>
                </a:solidFill>
                <a:latin typeface="Barlow"/>
                <a:cs typeface="Barlow"/>
              </a:rPr>
              <a:t> A written plan per task, approved before any build. Three honest exits: build, a targeted question list for the client, or a throwaway sandbox spike. Guessing a design decision is not one of them.</a:t>
            </a:r>
          </a:p>
          <a:p>
            <a:pPr>
              <a:lnSpc>
                <a:spcPct val="106000"/>
              </a:lnSpc>
              <a:spcAft>
                <a:spcPts val="700"/>
              </a:spcAft>
            </a:pPr>
            <a:r>
              <a:rPr sz="1350" b="1" i="0">
                <a:solidFill>
                  <a:srgbClr val="31A4F3"/>
                </a:solidFill>
                <a:latin typeface="Barlow"/>
                <a:cs typeface="Barlow"/>
              </a:rPr>
              <a:t>▪  </a:t>
            </a:r>
            <a:r>
              <a:rPr sz="1350" b="1" i="0">
                <a:solidFill>
                  <a:srgbClr val="1E1E1E"/>
                </a:solidFill>
                <a:latin typeface="Barlow"/>
                <a:cs typeface="Barlow"/>
              </a:rPr>
              <a:t>Routes</a:t>
            </a:r>
            <a:r>
              <a:rPr sz="1350" b="0" i="0">
                <a:solidFill>
                  <a:srgbClr val="1E1E1E"/>
                </a:solidFill>
                <a:latin typeface="Barlow"/>
                <a:cs typeface="Barlow"/>
              </a:rPr>
              <a:t>, in preference order: SDF object (versioned, diffable, revertible), config script, integration change, data fix, and manual as the small residue that gets a click-by-click checklist.</a:t>
            </a:r>
          </a:p>
          <a:p>
            <a:pPr>
              <a:lnSpc>
                <a:spcPct val="106000"/>
              </a:lnSpc>
              <a:spcAft>
                <a:spcPts val="700"/>
              </a:spcAft>
            </a:pPr>
            <a:r>
              <a:rPr sz="1350" b="1" i="0">
                <a:solidFill>
                  <a:srgbClr val="31A4F3"/>
                </a:solidFill>
                <a:latin typeface="Barlow"/>
                <a:cs typeface="Barlow"/>
              </a:rPr>
              <a:t>▪  </a:t>
            </a:r>
            <a:r>
              <a:rPr sz="1350" b="1" i="0">
                <a:solidFill>
                  <a:srgbClr val="1E1E1E"/>
                </a:solidFill>
                <a:latin typeface="Barlow"/>
                <a:cs typeface="Barlow"/>
              </a:rPr>
              <a:t>Gate 2, production.</a:t>
            </a:r>
            <a:r>
              <a:rPr sz="1350" b="0" i="0">
                <a:solidFill>
                  <a:srgbClr val="1E1E1E"/>
                </a:solidFill>
                <a:latin typeface="Barlow"/>
                <a:cs typeface="Barlow"/>
              </a:rPr>
              <a:t> One human approval per deploy. A production write can never happen silently.</a:t>
            </a:r>
          </a:p>
          <a:p>
            <a:pPr>
              <a:lnSpc>
                <a:spcPct val="106000"/>
              </a:lnSpc>
              <a:spcAft>
                <a:spcPts val="700"/>
              </a:spcAft>
            </a:pPr>
            <a:r>
              <a:rPr sz="1350" b="1" i="0">
                <a:solidFill>
                  <a:srgbClr val="31A4F3"/>
                </a:solidFill>
                <a:latin typeface="Barlow"/>
                <a:cs typeface="Barlow"/>
              </a:rPr>
              <a:t>▪  </a:t>
            </a:r>
            <a:r>
              <a:rPr sz="1350" b="1" i="0">
                <a:solidFill>
                  <a:srgbClr val="1E1E1E"/>
                </a:solidFill>
                <a:latin typeface="Barlow"/>
                <a:cs typeface="Barlow"/>
              </a:rPr>
              <a:t>New policy.</a:t>
            </a:r>
            <a:r>
              <a:rPr sz="1350" b="0" i="0">
                <a:solidFill>
                  <a:srgbClr val="1E1E1E"/>
                </a:solidFill>
                <a:latin typeface="Barlow"/>
                <a:cs typeface="Barlow"/>
              </a:rPr>
              <a:t> No build starts until client approval is verified on the referenced Asana task. Scripted work gets a dev-team review before it comes back to you for testing.</a:t>
            </a:r>
          </a:p>
        </p:txBody>
      </p:sp>
      <p:sp>
        <p:nvSpPr>
          <p:cNvPr id="7" name="Rounded Rectangle 6"/>
          <p:cNvSpPr/>
          <p:nvPr/>
        </p:nvSpPr>
        <p:spPr>
          <a:xfrm>
            <a:off x="7315200" y="1463040"/>
            <a:ext cx="4206240" cy="448056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1645920"/>
            <a:ext cx="3749039" cy="365760"/>
          </a:xfrm>
          <a:prstGeom prst="rect">
            <a:avLst/>
          </a:prstGeom>
          <a:noFill/>
        </p:spPr>
        <p:txBody>
          <a:bodyPr wrap="square" anchor="t" lIns="45720" rIns="45720" tIns="18288" bIns="18288">
            <a:spAutoFit/>
          </a:bodyPr>
          <a:lstStyle/>
          <a:p>
            <a:r>
              <a:rPr sz="1050" b="1" i="0">
                <a:solidFill>
                  <a:srgbClr val="31A4F3"/>
                </a:solidFill>
                <a:latin typeface="Barlow"/>
                <a:cs typeface="Barlow"/>
              </a:rPr>
              <a:t>WHAT YOU SAY</a:t>
            </a:r>
          </a:p>
        </p:txBody>
      </p:sp>
      <p:sp>
        <p:nvSpPr>
          <p:cNvPr id="9" name="TextBox 8"/>
          <p:cNvSpPr txBox="1"/>
          <p:nvPr/>
        </p:nvSpPr>
        <p:spPr>
          <a:xfrm>
            <a:off x="7543800" y="2057400"/>
            <a:ext cx="3749039" cy="3749040"/>
          </a:xfrm>
          <a:prstGeom prst="rect">
            <a:avLst/>
          </a:prstGeom>
          <a:noFill/>
        </p:spPr>
        <p:txBody>
          <a:bodyPr wrap="square" anchor="t" lIns="45720" rIns="45720" tIns="18288" bIns="18288">
            <a:spAutoFit/>
          </a:bodyPr>
          <a:lstStyle/>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Let's start execution. Work on tasks O2C.3 and W.1.</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Do Phase 1.</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Pull the Asana task 'Price tag reprint bug' and plan the fix.</a:t>
            </a:r>
          </a:p>
        </p:txBody>
      </p:sp>
      <p:sp>
        <p:nvSpPr>
          <p:cNvPr id="10" name="Rectangle 9"/>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2" name="TextBox 11"/>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Retro at close: the learning loop</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Finals shipped, phase done: "Run the retro." Every learning gets walked with you and gets a decision: promote to doctrine, keep engagement-specific, or discard.</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Actual hours go back to LOE_BASELINES.md. Patterns go to NETSUITE_PLAYBOOK.md. Tool findings go to CAPABILITIES.md. Products and fit signals go to PRODUCTS.md.</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A business decision never becomes playbook best practice unless you promote it at the triage.</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Same habit at end of day: "Wrap up: update CONTEXT.md with today's decisions and what's open for next session."</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If deliverables/ holds finals and working/retro.md does not exist, the engagement owes its retro and the next session will offer it first.</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Six human gates, one screen</a:t>
            </a:r>
          </a:p>
        </p:txBody>
      </p:sp>
      <p:graphicFrame>
        <p:nvGraphicFramePr>
          <p:cNvPr id="6" name="Table 5"/>
          <p:cNvGraphicFramePr>
            <a:graphicFrameLocks noGrp="1"/>
          </p:cNvGraphicFramePr>
          <p:nvPr/>
        </p:nvGraphicFramePr>
        <p:xfrm>
          <a:off x="640080" y="1417320"/>
          <a:ext cx="10881360" cy="4617718"/>
        </p:xfrm>
        <a:graphic>
          <a:graphicData uri="http://schemas.openxmlformats.org/drawingml/2006/table">
            <a:tbl>
              <a:tblPr firstRow="1" bandRow="0"/>
              <a:tblGrid>
                <a:gridCol w="457200"/>
                <a:gridCol w="2194560"/>
                <a:gridCol w="5486400"/>
                <a:gridCol w="2743200"/>
              </a:tblGrid>
              <a:tr h="659674">
                <a:tc>
                  <a:txBody>
                    <a:bodyPr/>
                    <a:lstStyle/>
                    <a:p>
                      <a:r>
                        <a:rPr sz="1250" b="1" i="0">
                          <a:solidFill>
                            <a:srgbClr val="FFFFFF"/>
                          </a:solidFill>
                          <a:latin typeface="Montserrat"/>
                          <a:cs typeface="Montserrat"/>
                        </a:rPr>
                        <a:t>#</a:t>
                      </a:r>
                    </a:p>
                  </a:txBody>
                  <a:tcPr marL="91440" marR="91440" marT="36576" marB="36576" anchor="ctr">
                    <a:solidFill>
                      <a:srgbClr val="002F59"/>
                    </a:solidFill>
                  </a:tcPr>
                </a:tc>
                <a:tc>
                  <a:txBody>
                    <a:bodyPr/>
                    <a:lstStyle/>
                    <a:p>
                      <a:r>
                        <a:rPr sz="1250" b="1" i="0">
                          <a:solidFill>
                            <a:srgbClr val="FFFFFF"/>
                          </a:solidFill>
                          <a:latin typeface="Montserrat"/>
                          <a:cs typeface="Montserrat"/>
                        </a:rPr>
                        <a:t>Gate</a:t>
                      </a:r>
                    </a:p>
                  </a:txBody>
                  <a:tcPr marL="91440" marR="91440" marT="36576" marB="36576" anchor="ctr">
                    <a:solidFill>
                      <a:srgbClr val="002F59"/>
                    </a:solidFill>
                  </a:tcPr>
                </a:tc>
                <a:tc>
                  <a:txBody>
                    <a:bodyPr/>
                    <a:lstStyle/>
                    <a:p>
                      <a:r>
                        <a:rPr sz="1250" b="1" i="0">
                          <a:solidFill>
                            <a:srgbClr val="FFFFFF"/>
                          </a:solidFill>
                          <a:latin typeface="Montserrat"/>
                          <a:cs typeface="Montserrat"/>
                        </a:rPr>
                        <a:t>What is being approved</a:t>
                      </a:r>
                    </a:p>
                  </a:txBody>
                  <a:tcPr marL="91440" marR="91440" marT="36576" marB="36576" anchor="ctr">
                    <a:solidFill>
                      <a:srgbClr val="002F59"/>
                    </a:solidFill>
                  </a:tcPr>
                </a:tc>
                <a:tc>
                  <a:txBody>
                    <a:bodyPr/>
                    <a:lstStyle/>
                    <a:p>
                      <a:r>
                        <a:rPr sz="1250" b="1" i="0">
                          <a:solidFill>
                            <a:srgbClr val="FFFFFF"/>
                          </a:solidFill>
                          <a:latin typeface="Montserrat"/>
                          <a:cs typeface="Montserrat"/>
                        </a:rPr>
                        <a:t>Why here</a:t>
                      </a:r>
                    </a:p>
                  </a:txBody>
                  <a:tcPr marL="91440" marR="91440" marT="36576" marB="36576" anchor="ctr">
                    <a:solidFill>
                      <a:srgbClr val="002F59"/>
                    </a:solidFill>
                  </a:tcPr>
                </a:tc>
              </a:tr>
              <a:tr h="659674">
                <a:tc>
                  <a:txBody>
                    <a:bodyPr/>
                    <a:lstStyle/>
                    <a:p>
                      <a:pPr>
                        <a:lnSpc>
                          <a:spcPct val="105000"/>
                        </a:lnSpc>
                      </a:pPr>
                      <a:r>
                        <a:rPr sz="1250" b="1" i="0">
                          <a:solidFill>
                            <a:srgbClr val="1E1E1E"/>
                          </a:solidFill>
                          <a:latin typeface="Barlow"/>
                          <a:cs typeface="Barlow"/>
                        </a:rPr>
                        <a:t>1</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Agenda</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The onsite one-pager, before it reaches the client.</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First thing the client sees</a:t>
                      </a:r>
                    </a:p>
                  </a:txBody>
                  <a:tcPr marL="91440" marR="91440" marT="36576" marB="36576" anchor="ctr">
                    <a:solidFill>
                      <a:srgbClr val="EAF4FC"/>
                    </a:solidFill>
                  </a:tcPr>
                </a:tc>
              </a:tr>
              <a:tr h="659674">
                <a:tc>
                  <a:txBody>
                    <a:bodyPr/>
                    <a:lstStyle/>
                    <a:p>
                      <a:pPr>
                        <a:lnSpc>
                          <a:spcPct val="105000"/>
                        </a:lnSpc>
                      </a:pPr>
                      <a:r>
                        <a:rPr sz="1250" b="1" i="0">
                          <a:solidFill>
                            <a:srgbClr val="1E1E1E"/>
                          </a:solidFill>
                          <a:latin typeface="Barlow"/>
                          <a:cs typeface="Barlow"/>
                        </a:rPr>
                        <a:t>2</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Findings</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The complete candidate register, evidence log and verification log, before a word is drafted.</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Materiality is a human judgment</a:t>
                      </a:r>
                    </a:p>
                  </a:txBody>
                  <a:tcPr marL="91440" marR="91440" marT="36576" marB="36576" anchor="ctr">
                    <a:solidFill>
                      <a:srgbClr val="FFFFFF"/>
                    </a:solidFill>
                  </a:tcPr>
                </a:tc>
              </a:tr>
              <a:tr h="659674">
                <a:tc>
                  <a:txBody>
                    <a:bodyPr/>
                    <a:lstStyle/>
                    <a:p>
                      <a:pPr>
                        <a:lnSpc>
                          <a:spcPct val="105000"/>
                        </a:lnSpc>
                      </a:pPr>
                      <a:r>
                        <a:rPr sz="1250" b="1" i="0">
                          <a:solidFill>
                            <a:srgbClr val="1E1E1E"/>
                          </a:solidFill>
                          <a:latin typeface="Barlow"/>
                          <a:cs typeface="Barlow"/>
                        </a:rPr>
                        <a:t>3</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Draft</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The humanized drafts, reconciled against the candidate register so nothing captured has quietly vanished.</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Last look before it becomes a file</a:t>
                      </a:r>
                    </a:p>
                  </a:txBody>
                  <a:tcPr marL="91440" marR="91440" marT="36576" marB="36576" anchor="ctr">
                    <a:solidFill>
                      <a:srgbClr val="EAF4FC"/>
                    </a:solidFill>
                  </a:tcPr>
                </a:tc>
              </a:tr>
              <a:tr h="659674">
                <a:tc>
                  <a:txBody>
                    <a:bodyPr/>
                    <a:lstStyle/>
                    <a:p>
                      <a:pPr>
                        <a:lnSpc>
                          <a:spcPct val="105000"/>
                        </a:lnSpc>
                      </a:pPr>
                      <a:r>
                        <a:rPr sz="1250" b="1" i="0">
                          <a:solidFill>
                            <a:srgbClr val="1E1E1E"/>
                          </a:solidFill>
                          <a:latin typeface="Barlow"/>
                          <a:cs typeface="Barlow"/>
                        </a:rPr>
                        <a:t>4</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LOE and commercial</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Every hours figure, every priority, and the billing language, line by line.</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Numbers become binding once sent</a:t>
                      </a:r>
                    </a:p>
                  </a:txBody>
                  <a:tcPr marL="91440" marR="91440" marT="36576" marB="36576" anchor="ctr">
                    <a:solidFill>
                      <a:srgbClr val="FFFFFF"/>
                    </a:solidFill>
                  </a:tcPr>
                </a:tc>
              </a:tr>
              <a:tr h="659674">
                <a:tc>
                  <a:txBody>
                    <a:bodyPr/>
                    <a:lstStyle/>
                    <a:p>
                      <a:pPr>
                        <a:lnSpc>
                          <a:spcPct val="105000"/>
                        </a:lnSpc>
                      </a:pPr>
                      <a:r>
                        <a:rPr sz="1250" b="1" i="0">
                          <a:solidFill>
                            <a:srgbClr val="1E1E1E"/>
                          </a:solidFill>
                          <a:latin typeface="Barlow"/>
                          <a:cs typeface="Barlow"/>
                        </a:rPr>
                        <a:t>5</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Execution: plan</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The implementation plan for a task, before any build starts.</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Design risk</a:t>
                      </a:r>
                    </a:p>
                  </a:txBody>
                  <a:tcPr marL="91440" marR="91440" marT="36576" marB="36576" anchor="ctr">
                    <a:solidFill>
                      <a:srgbClr val="EAF4FC"/>
                    </a:solidFill>
                  </a:tcPr>
                </a:tc>
              </a:tr>
              <a:tr h="659674">
                <a:tc>
                  <a:txBody>
                    <a:bodyPr/>
                    <a:lstStyle/>
                    <a:p>
                      <a:pPr>
                        <a:lnSpc>
                          <a:spcPct val="105000"/>
                        </a:lnSpc>
                      </a:pPr>
                      <a:r>
                        <a:rPr sz="1250" b="1" i="0">
                          <a:solidFill>
                            <a:srgbClr val="1E1E1E"/>
                          </a:solidFill>
                          <a:latin typeface="Barlow"/>
                          <a:cs typeface="Barlow"/>
                        </a:rPr>
                        <a:t>6</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Execution: production</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Each production deploy, individually.</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Live-account risk</a:t>
                      </a:r>
                    </a:p>
                  </a:txBody>
                  <a:tcPr marL="91440" marR="91440" marT="36576" marB="36576" anchor="ctr">
                    <a:solidFill>
                      <a:srgbClr val="FFFFFF"/>
                    </a:solidFill>
                  </a:tcPr>
                </a:tc>
              </a:tr>
            </a:tbl>
          </a:graphicData>
        </a:graphic>
      </p:graphicFrame>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the arc is actually doing</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700" b="1" i="0">
                <a:solidFill>
                  <a:srgbClr val="31A4F3"/>
                </a:solidFill>
                <a:latin typeface="Barlow"/>
                <a:cs typeface="Barlow"/>
              </a:rPr>
              <a:t>▪  </a:t>
            </a:r>
            <a:r>
              <a:rPr sz="1700" b="0" i="0">
                <a:solidFill>
                  <a:srgbClr val="1E1E1E"/>
                </a:solidFill>
                <a:latin typeface="Barlow"/>
                <a:cs typeface="Barlow"/>
              </a:rPr>
              <a:t>Read it as a whole and one pattern repeats at every stage: </a:t>
            </a:r>
            <a:r>
              <a:rPr sz="1700" b="1" i="0">
                <a:solidFill>
                  <a:srgbClr val="1E1E1E"/>
                </a:solidFill>
                <a:latin typeface="Barlow"/>
                <a:cs typeface="Barlow"/>
              </a:rPr>
              <a:t>capture exhaustively and cheaply, then put a human at the point where judgment or liability sits.</a:t>
            </a:r>
          </a:p>
          <a:p>
            <a:pPr>
              <a:lnSpc>
                <a:spcPct val="106000"/>
              </a:lnSpc>
              <a:spcAft>
                <a:spcPts val="800"/>
              </a:spcAft>
            </a:pPr>
            <a:r>
              <a:rPr sz="1700" b="1" i="0">
                <a:solidFill>
                  <a:srgbClr val="31A4F3"/>
                </a:solidFill>
                <a:latin typeface="Barlow"/>
                <a:cs typeface="Barlow"/>
              </a:rPr>
              <a:t>▪  </a:t>
            </a:r>
            <a:r>
              <a:rPr sz="1700" b="0" i="0">
                <a:solidFill>
                  <a:srgbClr val="1E1E1E"/>
                </a:solidFill>
                <a:latin typeface="Barlow"/>
                <a:cs typeface="Barlow"/>
              </a:rPr>
              <a:t>The machine's job is to make sure nothing is missing. The person's job is to decide what matters, what it costs, and what goes to the client.</a:t>
            </a:r>
          </a:p>
          <a:p>
            <a:pPr>
              <a:lnSpc>
                <a:spcPct val="106000"/>
              </a:lnSpc>
              <a:spcAft>
                <a:spcPts val="800"/>
              </a:spcAft>
            </a:pPr>
            <a:r>
              <a:rPr sz="1700" b="1" i="0">
                <a:solidFill>
                  <a:srgbClr val="31A4F3"/>
                </a:solidFill>
                <a:latin typeface="Barlow"/>
                <a:cs typeface="Barlow"/>
              </a:rPr>
              <a:t>▪  </a:t>
            </a:r>
            <a:r>
              <a:rPr sz="1700" b="0" i="0">
                <a:solidFill>
                  <a:srgbClr val="1E1E1E"/>
                </a:solidFill>
                <a:latin typeface="Barlow"/>
                <a:cs typeface="Barlow"/>
              </a:rPr>
              <a:t>The same shape governs candidate work items, LOE figures and practice learnings alike. Nothing is dropped silently; a human disposes of a complete list.</a:t>
            </a:r>
          </a:p>
          <a:p>
            <a:pPr>
              <a:lnSpc>
                <a:spcPct val="106000"/>
              </a:lnSpc>
              <a:spcAft>
                <a:spcPts val="800"/>
              </a:spcAft>
            </a:pPr>
            <a:r>
              <a:rPr sz="1700" b="1" i="0">
                <a:solidFill>
                  <a:srgbClr val="31A4F3"/>
                </a:solidFill>
                <a:latin typeface="Barlow"/>
                <a:cs typeface="Barlow"/>
              </a:rPr>
              <a:t>▪  </a:t>
            </a:r>
            <a:r>
              <a:rPr sz="1700" b="0" i="0">
                <a:solidFill>
                  <a:srgbClr val="1E1E1E"/>
                </a:solidFill>
                <a:latin typeface="Barlow"/>
                <a:cs typeface="Barlow"/>
              </a:rPr>
              <a:t>The retro at the end is what stops the whole thing being a dozen steps that produce the same quality forever.</a:t>
            </a:r>
          </a:p>
        </p:txBody>
      </p:sp>
      <p:sp>
        <p:nvSpPr>
          <p:cNvPr id="7" name="Rounded Rectangle 6"/>
          <p:cNvSpPr/>
          <p:nvPr/>
        </p:nvSpPr>
        <p:spPr>
          <a:xfrm>
            <a:off x="640080" y="5440680"/>
            <a:ext cx="10881360" cy="8686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Capture everything. Then a human decides.</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Enforced, not trusted</a:t>
            </a:r>
          </a:p>
        </p:txBody>
      </p:sp>
      <p:graphicFrame>
        <p:nvGraphicFramePr>
          <p:cNvPr id="6" name="Table 5"/>
          <p:cNvGraphicFramePr>
            <a:graphicFrameLocks noGrp="1"/>
          </p:cNvGraphicFramePr>
          <p:nvPr/>
        </p:nvGraphicFramePr>
        <p:xfrm>
          <a:off x="640080" y="1417320"/>
          <a:ext cx="10881360" cy="4114800"/>
        </p:xfrm>
        <a:graphic>
          <a:graphicData uri="http://schemas.openxmlformats.org/drawingml/2006/table">
            <a:tbl>
              <a:tblPr firstRow="1" bandRow="0"/>
              <a:tblGrid>
                <a:gridCol w="2103120"/>
                <a:gridCol w="8778240"/>
              </a:tblGrid>
              <a:tr h="822960">
                <a:tc>
                  <a:txBody>
                    <a:bodyPr/>
                    <a:lstStyle/>
                    <a:p>
                      <a:r>
                        <a:rPr sz="1250" b="1" i="0">
                          <a:solidFill>
                            <a:srgbClr val="FFFFFF"/>
                          </a:solidFill>
                          <a:latin typeface="Montserrat"/>
                          <a:cs typeface="Montserrat"/>
                        </a:rPr>
                        <a:t>Mechanism</a:t>
                      </a:r>
                    </a:p>
                  </a:txBody>
                  <a:tcPr marL="91440" marR="91440" marT="36576" marB="36576" anchor="ctr">
                    <a:solidFill>
                      <a:srgbClr val="002F59"/>
                    </a:solidFill>
                  </a:tcPr>
                </a:tc>
                <a:tc>
                  <a:txBody>
                    <a:bodyPr/>
                    <a:lstStyle/>
                    <a:p>
                      <a:r>
                        <a:rPr sz="1250" b="1" i="0">
                          <a:solidFill>
                            <a:srgbClr val="FFFFFF"/>
                          </a:solidFill>
                          <a:latin typeface="Montserrat"/>
                          <a:cs typeface="Montserrat"/>
                        </a:rPr>
                        <a:t>What it does</a:t>
                      </a:r>
                    </a:p>
                  </a:txBody>
                  <a:tcPr marL="91440" marR="91440" marT="36576" marB="36576" anchor="ctr">
                    <a:solidFill>
                      <a:srgbClr val="002F59"/>
                    </a:solidFill>
                  </a:tcPr>
                </a:tc>
              </a:tr>
              <a:tr h="822960">
                <a:tc>
                  <a:txBody>
                    <a:bodyPr/>
                    <a:lstStyle/>
                    <a:p>
                      <a:pPr>
                        <a:lnSpc>
                          <a:spcPct val="105000"/>
                        </a:lnSpc>
                      </a:pPr>
                      <a:r>
                        <a:rPr sz="1250" b="1" i="0">
                          <a:solidFill>
                            <a:srgbClr val="1E1E1E"/>
                          </a:solidFill>
                          <a:latin typeface="Barlow"/>
                          <a:cs typeface="Barlow"/>
                        </a:rPr>
                        <a:t>Write guardrail</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Intercepts every NetSuite create, update and delete. A sandbox connection passes. A production connection forces an explicit human confirmation on every single write. A connection whose environment cannot be read from its name also stops. No production write happens silently.</a:t>
                      </a:r>
                    </a:p>
                  </a:txBody>
                  <a:tcPr marL="91440" marR="91440" marT="36576" marB="36576" anchor="ctr">
                    <a:solidFill>
                      <a:srgbClr val="EAF4FC"/>
                    </a:solidFill>
                  </a:tcPr>
                </a:tc>
              </a:tr>
              <a:tr h="822960">
                <a:tc>
                  <a:txBody>
                    <a:bodyPr/>
                    <a:lstStyle/>
                    <a:p>
                      <a:pPr>
                        <a:lnSpc>
                          <a:spcPct val="105000"/>
                        </a:lnSpc>
                      </a:pPr>
                      <a:r>
                        <a:rPr sz="1250" b="1" i="0">
                          <a:solidFill>
                            <a:srgbClr val="1E1E1E"/>
                          </a:solidFill>
                          <a:latin typeface="Barlow"/>
                          <a:cs typeface="Barlow"/>
                        </a:rPr>
                        <a:t>Render gate</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Blocks a deliverable from rendering while the client-facing drafts still carry mechanical copy tells. Installed per client folder. Fails open, because a broken gate must never stop a delivery.</a:t>
                      </a:r>
                    </a:p>
                  </a:txBody>
                  <a:tcPr marL="91440" marR="91440" marT="36576" marB="36576" anchor="ctr">
                    <a:solidFill>
                      <a:srgbClr val="FFFFFF"/>
                    </a:solidFill>
                  </a:tcPr>
                </a:tc>
              </a:tr>
              <a:tr h="822960">
                <a:tc>
                  <a:txBody>
                    <a:bodyPr/>
                    <a:lstStyle/>
                    <a:p>
                      <a:pPr>
                        <a:lnSpc>
                          <a:spcPct val="105000"/>
                        </a:lnSpc>
                      </a:pPr>
                      <a:r>
                        <a:rPr sz="1250" b="1" i="0">
                          <a:solidFill>
                            <a:srgbClr val="1E1E1E"/>
                          </a:solidFill>
                          <a:latin typeface="Barlow"/>
                          <a:cs typeface="Barlow"/>
                        </a:rPr>
                        <a:t>Copy scanner</a:t>
                      </a:r>
                    </a:p>
                  </a:txBody>
                  <a:tcPr marL="91440" marR="91440" marT="36576" marB="36576" anchor="ctr">
                    <a:solidFill>
                      <a:srgbClr val="EAF4FC"/>
                    </a:solidFill>
                  </a:tcPr>
                </a:tc>
                <a:tc>
                  <a:txBody>
                    <a:bodyPr/>
                    <a:lstStyle/>
                    <a:p>
                      <a:pPr>
                        <a:lnSpc>
                          <a:spcPct val="105000"/>
                        </a:lnSpc>
                      </a:pPr>
                      <a:r>
                        <a:rPr sz="1250" b="0" i="0">
                          <a:solidFill>
                            <a:srgbClr val="1E1E1E"/>
                          </a:solidFill>
                          <a:latin typeface="Barlow"/>
                          <a:cs typeface="Barlow"/>
                        </a:rPr>
                        <a:t>A deterministic scan behind the humanize pass. Every hit is cleared or consciously waived with a reason, and waived hits get raised at the review.</a:t>
                      </a:r>
                    </a:p>
                  </a:txBody>
                  <a:tcPr marL="91440" marR="91440" marT="36576" marB="36576" anchor="ctr">
                    <a:solidFill>
                      <a:srgbClr val="EAF4FC"/>
                    </a:solidFill>
                  </a:tcPr>
                </a:tc>
              </a:tr>
              <a:tr h="822960">
                <a:tc>
                  <a:txBody>
                    <a:bodyPr/>
                    <a:lstStyle/>
                    <a:p>
                      <a:pPr>
                        <a:lnSpc>
                          <a:spcPct val="105000"/>
                        </a:lnSpc>
                      </a:pPr>
                      <a:r>
                        <a:rPr sz="1250" b="1" i="0">
                          <a:solidFill>
                            <a:srgbClr val="1E1E1E"/>
                          </a:solidFill>
                          <a:latin typeface="Barlow"/>
                          <a:cs typeface="Barlow"/>
                        </a:rPr>
                        <a:t>Engagement log</a:t>
                      </a:r>
                    </a:p>
                  </a:txBody>
                  <a:tcPr marL="91440" marR="91440" marT="36576" marB="36576" anchor="ctr">
                    <a:solidFill>
                      <a:srgbClr val="FFFFFF"/>
                    </a:solidFill>
                  </a:tcPr>
                </a:tc>
                <a:tc>
                  <a:txBody>
                    <a:bodyPr/>
                    <a:lstStyle/>
                    <a:p>
                      <a:pPr>
                        <a:lnSpc>
                          <a:spcPct val="105000"/>
                        </a:lnSpc>
                      </a:pPr>
                      <a:r>
                        <a:rPr sz="1250" b="0" i="0">
                          <a:solidFill>
                            <a:srgbClr val="1E1E1E"/>
                          </a:solidFill>
                          <a:latin typeface="Barlow"/>
                          <a:cs typeface="Barlow"/>
                        </a:rPr>
                        <a:t>Generated from what each engagement actually wrote to disk. Status reflects work done, and folders that drift from the standard shape get flagged.</a:t>
                      </a:r>
                    </a:p>
                  </a:txBody>
                  <a:tcPr marL="91440" marR="91440" marT="36576" marB="36576" anchor="ctr">
                    <a:solidFill>
                      <a:srgbClr val="FFFFFF"/>
                    </a:solidFill>
                  </a:tcPr>
                </a:tc>
              </a:tr>
            </a:tbl>
          </a:graphicData>
        </a:graphic>
      </p:graphicFrame>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058400" cy="914400"/>
          </a:xfrm>
          <a:prstGeom prst="rect">
            <a:avLst/>
          </a:prstGeom>
          <a:noFill/>
        </p:spPr>
        <p:txBody>
          <a:bodyPr wrap="square" anchor="t" lIns="45720" rIns="45720" tIns="18288" bIns="18288">
            <a:spAutoFit/>
          </a:bodyPr>
          <a:lstStyle/>
          <a:p>
            <a:r>
              <a:rPr sz="6000" b="1" i="0">
                <a:solidFill>
                  <a:srgbClr val="31A4F3"/>
                </a:solidFill>
                <a:latin typeface="Montserrat"/>
                <a:cs typeface="Montserrat"/>
              </a:rPr>
              <a:t>03</a:t>
            </a:r>
          </a:p>
        </p:txBody>
      </p:sp>
      <p:sp>
        <p:nvSpPr>
          <p:cNvPr id="5" name="TextBox 4"/>
          <p:cNvSpPr txBox="1"/>
          <p:nvPr/>
        </p:nvSpPr>
        <p:spPr>
          <a:xfrm>
            <a:off x="914400" y="2651760"/>
            <a:ext cx="10058400" cy="2286000"/>
          </a:xfrm>
          <a:prstGeom prst="rect">
            <a:avLst/>
          </a:prstGeom>
          <a:noFill/>
        </p:spPr>
        <p:txBody>
          <a:bodyPr wrap="square" anchor="t" lIns="45720" rIns="45720" tIns="18288" bIns="18288">
            <a:spAutoFit/>
          </a:bodyPr>
          <a:lstStyle/>
          <a:p>
            <a:r>
              <a:rPr sz="4000" b="1" i="0">
                <a:solidFill>
                  <a:srgbClr val="FFFFFF"/>
                </a:solidFill>
                <a:latin typeface="Montserrat"/>
                <a:cs typeface="Montserrat"/>
              </a:rPr>
              <a:t>The weekly executive summary</a:t>
            </a:r>
          </a:p>
          <a:p>
            <a:pPr>
              <a:spcBef>
                <a:spcPts val="1400"/>
              </a:spcBef>
            </a:pPr>
            <a:r>
              <a:rPr sz="1800" b="0" i="0">
                <a:solidFill>
                  <a:srgbClr val="FFFFFF"/>
                </a:solidFill>
                <a:latin typeface="Barlow"/>
                <a:cs typeface="Barlow"/>
              </a:rPr>
              <a:t>The status document that catches what slipped. Run before every status call, from the client's folder. Narrative live to the minute; hours as of the Monday morning pull.</a:t>
            </a:r>
          </a:p>
        </p:txBody>
      </p:sp>
      <p:sp>
        <p:nvSpPr>
          <p:cNvPr id="6" name="Rounded Rectangle 5"/>
          <p:cNvSpPr/>
          <p:nvPr/>
        </p:nvSpPr>
        <p:spPr>
          <a:xfrm>
            <a:off x="9814255" y="5806440"/>
            <a:ext cx="20116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wercloud_Logo-01.png"/>
          <p:cNvPicPr>
            <a:picLocks noChangeAspect="1"/>
          </p:cNvPicPr>
          <p:nvPr/>
        </p:nvPicPr>
        <p:blipFill>
          <a:blip r:embed="rId2"/>
          <a:stretch>
            <a:fillRect/>
          </a:stretch>
        </p:blipFill>
        <p:spPr>
          <a:xfrm>
            <a:off x="9997135" y="5646376"/>
            <a:ext cx="1645920" cy="1097367"/>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it is</a:t>
            </a:r>
          </a:p>
        </p:txBody>
      </p:sp>
      <p:sp>
        <p:nvSpPr>
          <p:cNvPr id="6" name="TextBox 5"/>
          <p:cNvSpPr txBox="1"/>
          <p:nvPr/>
        </p:nvSpPr>
        <p:spPr>
          <a:xfrm>
            <a:off x="640080" y="1371600"/>
            <a:ext cx="6400800" cy="4572000"/>
          </a:xfrm>
          <a:prstGeom prst="rect">
            <a:avLst/>
          </a:prstGeom>
          <a:noFill/>
        </p:spPr>
        <p:txBody>
          <a:bodyPr wrap="square" anchor="t" lIns="45720" rIns="45720" tIns="18288" bIns="18288">
            <a:spAutoFit/>
          </a:bodyPr>
          <a:lstStyle/>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Run from the client's folder, on the client's cadence, before every status call.</a:t>
            </a:r>
          </a:p>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Five sources: Asana, NetSuite hours, Gmail, the client's Drive folder, and meeting notes. Ask for a summary and it goes and gets all five.</a:t>
            </a:r>
          </a:p>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The recap is not the point. </a:t>
            </a:r>
            <a:r>
              <a:rPr sz="1400" b="1" i="0">
                <a:solidFill>
                  <a:srgbClr val="1E1E1E"/>
                </a:solidFill>
                <a:latin typeface="Barlow"/>
                <a:cs typeface="Barlow"/>
              </a:rPr>
              <a:t>The cross-reference is</a:t>
            </a:r>
            <a:r>
              <a:rPr sz="1400" b="0" i="0">
                <a:solidFill>
                  <a:srgbClr val="1E1E1E"/>
                </a:solidFill>
                <a:latin typeface="Barlow"/>
                <a:cs typeface="Barlow"/>
              </a:rPr>
              <a:t>: every meeting action item checked against the Asana open-task list, and the commitments that never became tasks listed with owner and meeting date. That is consistently where work slips.</a:t>
            </a:r>
          </a:p>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Output: a client-ready summary you review, plus the two follow-ups that turn it into action: a Gmail draft to the client contacts, and the missing Asana tasks created.</a:t>
            </a:r>
          </a:p>
          <a:p>
            <a:pPr>
              <a:lnSpc>
                <a:spcPct val="106000"/>
              </a:lnSpc>
              <a:spcAft>
                <a:spcPts val="700"/>
              </a:spcAft>
            </a:pPr>
            <a:r>
              <a:rPr sz="1400" b="1" i="0">
                <a:solidFill>
                  <a:srgbClr val="31A4F3"/>
                </a:solidFill>
                <a:latin typeface="Barlow"/>
                <a:cs typeface="Barlow"/>
              </a:rPr>
              <a:t>▪  </a:t>
            </a:r>
            <a:r>
              <a:rPr sz="1400" b="0" i="0">
                <a:solidFill>
                  <a:srgbClr val="1E1E1E"/>
                </a:solidFill>
                <a:latin typeface="Barlow"/>
                <a:cs typeface="Barlow"/>
              </a:rPr>
              <a:t>No client folder, no summary. It says so and offers to set the client up rather than inventing a record.</a:t>
            </a:r>
          </a:p>
        </p:txBody>
      </p:sp>
      <p:sp>
        <p:nvSpPr>
          <p:cNvPr id="7" name="Rounded Rectangle 6"/>
          <p:cNvSpPr/>
          <p:nvPr/>
        </p:nvSpPr>
        <p:spPr>
          <a:xfrm>
            <a:off x="7315200" y="1463040"/>
            <a:ext cx="4206240" cy="448056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1645920"/>
            <a:ext cx="3749039" cy="365760"/>
          </a:xfrm>
          <a:prstGeom prst="rect">
            <a:avLst/>
          </a:prstGeom>
          <a:noFill/>
        </p:spPr>
        <p:txBody>
          <a:bodyPr wrap="square" anchor="t" lIns="45720" rIns="45720" tIns="18288" bIns="18288">
            <a:spAutoFit/>
          </a:bodyPr>
          <a:lstStyle/>
          <a:p>
            <a:r>
              <a:rPr sz="1050" b="1" i="0">
                <a:solidFill>
                  <a:srgbClr val="31A4F3"/>
                </a:solidFill>
                <a:latin typeface="Barlow"/>
                <a:cs typeface="Barlow"/>
              </a:rPr>
              <a:t>WHAT YOU SAY</a:t>
            </a:r>
          </a:p>
        </p:txBody>
      </p:sp>
      <p:sp>
        <p:nvSpPr>
          <p:cNvPr id="9" name="TextBox 8"/>
          <p:cNvSpPr txBox="1"/>
          <p:nvPr/>
        </p:nvSpPr>
        <p:spPr>
          <a:xfrm>
            <a:off x="7543800" y="2057400"/>
            <a:ext cx="3749039" cy="3749040"/>
          </a:xfrm>
          <a:prstGeom prst="rect">
            <a:avLst/>
          </a:prstGeom>
          <a:noFill/>
        </p:spPr>
        <p:txBody>
          <a:bodyPr wrap="square" anchor="t" lIns="45720" rIns="45720" tIns="18288" bIns="18288">
            <a:spAutoFit/>
          </a:bodyPr>
          <a:lstStyle/>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Run the weekly executive summary for Teppermans.</a:t>
            </a:r>
          </a:p>
          <a:p>
            <a:pPr>
              <a:lnSpc>
                <a:spcPct val="110000"/>
              </a:lnSpc>
              <a:spcAft>
                <a:spcPts val="1400"/>
              </a:spcAft>
            </a:pPr>
            <a:r>
              <a:rPr sz="1300" b="1" i="0">
                <a:solidFill>
                  <a:srgbClr val="41B946"/>
                </a:solidFill>
                <a:latin typeface="Consolas"/>
                <a:cs typeface="Consolas"/>
              </a:rPr>
              <a:t>&gt; </a:t>
            </a:r>
            <a:r>
              <a:rPr sz="1300" b="0" i="0">
                <a:solidFill>
                  <a:srgbClr val="FFFFFF"/>
                </a:solidFill>
                <a:latin typeface="Consolas"/>
                <a:cs typeface="Consolas"/>
              </a:rPr>
              <a:t>What happened on 44 Pro in the last two weeks?</a:t>
            </a:r>
          </a:p>
        </p:txBody>
      </p:sp>
      <p:sp>
        <p:nvSpPr>
          <p:cNvPr id="10" name="Rectangle 9"/>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2" name="TextBox 11"/>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Two windows, both stated on the page</a:t>
            </a:r>
          </a:p>
        </p:txBody>
      </p:sp>
      <p:sp>
        <p:nvSpPr>
          <p:cNvPr id="6" name="Rounded Rectangle 5"/>
          <p:cNvSpPr/>
          <p:nvPr/>
        </p:nvSpPr>
        <p:spPr>
          <a:xfrm>
            <a:off x="64008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Narrative window: through today</a:t>
            </a:r>
          </a:p>
        </p:txBody>
      </p:sp>
      <p:sp>
        <p:nvSpPr>
          <p:cNvPr id="10" name="TextBox 9"/>
          <p:cNvSpPr txBox="1"/>
          <p:nvPr/>
        </p:nvSpPr>
        <p:spPr>
          <a:xfrm>
            <a:off x="822959"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350" b="1" i="0">
                <a:solidFill>
                  <a:srgbClr val="31A4F3"/>
                </a:solidFill>
                <a:latin typeface="Barlow"/>
                <a:cs typeface="Barlow"/>
              </a:rPr>
              <a:t>▪  </a:t>
            </a:r>
            <a:r>
              <a:rPr sz="1350" b="0" i="0">
                <a:solidFill>
                  <a:srgbClr val="1E1E1E"/>
                </a:solidFill>
                <a:latin typeface="Barlow"/>
                <a:cs typeface="Barlow"/>
              </a:rPr>
              <a:t>Asana, Gmail, Drive and meeting notes are live to the minute.</a:t>
            </a:r>
          </a:p>
          <a:p>
            <a:pPr>
              <a:lnSpc>
                <a:spcPct val="106000"/>
              </a:lnSpc>
              <a:spcAft>
                <a:spcPts val="600"/>
              </a:spcAft>
            </a:pPr>
            <a:r>
              <a:rPr sz="1350" b="1" i="0">
                <a:solidFill>
                  <a:srgbClr val="31A4F3"/>
                </a:solidFill>
                <a:latin typeface="Barlow"/>
                <a:cs typeface="Barlow"/>
              </a:rPr>
              <a:t>▪  </a:t>
            </a:r>
            <a:r>
              <a:rPr sz="1350" b="0" i="0">
                <a:solidFill>
                  <a:srgbClr val="1E1E1E"/>
                </a:solidFill>
                <a:latin typeface="Barlow"/>
                <a:cs typeface="Barlow"/>
              </a:rPr>
              <a:t>What happened, up to the moment of writing.</a:t>
            </a:r>
          </a:p>
          <a:p>
            <a:pPr>
              <a:lnSpc>
                <a:spcPct val="106000"/>
              </a:lnSpc>
              <a:spcAft>
                <a:spcPts val="600"/>
              </a:spcAft>
            </a:pPr>
            <a:r>
              <a:rPr sz="1350" b="1" i="0">
                <a:solidFill>
                  <a:srgbClr val="31A4F3"/>
                </a:solidFill>
                <a:latin typeface="Barlow"/>
                <a:cs typeface="Barlow"/>
              </a:rPr>
              <a:t>▪  </a:t>
            </a:r>
            <a:r>
              <a:rPr sz="1350" b="0" i="0">
                <a:solidFill>
                  <a:srgbClr val="1E1E1E"/>
                </a:solidFill>
                <a:latin typeface="Barlow"/>
                <a:cs typeface="Barlow"/>
              </a:rPr>
              <a:t>Decisions, blockers, per-person action items, correspondence, documents delivered.</a:t>
            </a:r>
          </a:p>
        </p:txBody>
      </p:sp>
      <p:sp>
        <p:nvSpPr>
          <p:cNvPr id="11" name="Rounded Rectangle 10"/>
          <p:cNvSpPr/>
          <p:nvPr/>
        </p:nvSpPr>
        <p:spPr>
          <a:xfrm>
            <a:off x="617220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Hours window: the trailing two full weeks</a:t>
            </a:r>
          </a:p>
        </p:txBody>
      </p:sp>
      <p:sp>
        <p:nvSpPr>
          <p:cNvPr id="15" name="TextBox 14"/>
          <p:cNvSpPr txBox="1"/>
          <p:nvPr/>
        </p:nvSpPr>
        <p:spPr>
          <a:xfrm>
            <a:off x="6355080"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350" b="1" i="0">
                <a:solidFill>
                  <a:srgbClr val="31A4F3"/>
                </a:solidFill>
                <a:latin typeface="Barlow"/>
                <a:cs typeface="Barlow"/>
              </a:rPr>
              <a:t>▪  </a:t>
            </a:r>
            <a:r>
              <a:rPr sz="1350" b="0" i="0">
                <a:solidFill>
                  <a:srgbClr val="1E1E1E"/>
                </a:solidFill>
                <a:latin typeface="Barlow"/>
                <a:cs typeface="Barlow"/>
              </a:rPr>
              <a:t>Monday through the most recent completed Sunday.</a:t>
            </a:r>
          </a:p>
          <a:p>
            <a:pPr>
              <a:lnSpc>
                <a:spcPct val="106000"/>
              </a:lnSpc>
              <a:spcAft>
                <a:spcPts val="600"/>
              </a:spcAft>
            </a:pPr>
            <a:r>
              <a:rPr sz="1350" b="1" i="0">
                <a:solidFill>
                  <a:srgbClr val="31A4F3"/>
                </a:solidFill>
                <a:latin typeface="Barlow"/>
                <a:cs typeface="Barlow"/>
              </a:rPr>
              <a:t>▪  </a:t>
            </a:r>
            <a:r>
              <a:rPr sz="1350" b="1" i="0">
                <a:solidFill>
                  <a:srgbClr val="1E1E1E"/>
                </a:solidFill>
                <a:latin typeface="Barlow"/>
                <a:cs typeface="Barlow"/>
              </a:rPr>
              <a:t>Where the hours come from.</a:t>
            </a:r>
            <a:r>
              <a:rPr sz="1350" b="0" i="0">
                <a:solidFill>
                  <a:srgbClr val="1E1E1E"/>
                </a:solidFill>
                <a:latin typeface="Barlow"/>
                <a:cs typeface="Barlow"/>
              </a:rPr>
              <a:t> A scheduled job reads Power Cloud's own NetSuite every </a:t>
            </a:r>
            <a:r>
              <a:rPr sz="1350" b="1" i="0">
                <a:solidFill>
                  <a:srgbClr val="1E1E1E"/>
                </a:solidFill>
                <a:latin typeface="Barlow"/>
                <a:cs typeface="Barlow"/>
              </a:rPr>
              <a:t>Monday at 09:30 ET</a:t>
            </a:r>
            <a:r>
              <a:rPr sz="1350" b="0" i="0">
                <a:solidFill>
                  <a:srgbClr val="1E1E1E"/>
                </a:solidFill>
                <a:latin typeface="Barlow"/>
                <a:cs typeface="Barlow"/>
              </a:rPr>
              <a:t> and writes each client's time entries into that client's folder. The summary reads that file, never NetSuite live.</a:t>
            </a:r>
          </a:p>
          <a:p>
            <a:pPr>
              <a:lnSpc>
                <a:spcPct val="106000"/>
              </a:lnSpc>
              <a:spcAft>
                <a:spcPts val="600"/>
              </a:spcAft>
            </a:pPr>
            <a:r>
              <a:rPr sz="1350" b="1" i="0">
                <a:solidFill>
                  <a:srgbClr val="31A4F3"/>
                </a:solidFill>
                <a:latin typeface="Barlow"/>
                <a:cs typeface="Barlow"/>
              </a:rPr>
              <a:t>▪  </a:t>
            </a:r>
            <a:r>
              <a:rPr sz="1350" b="1" i="0">
                <a:solidFill>
                  <a:srgbClr val="1E1E1E"/>
                </a:solidFill>
                <a:latin typeface="Barlow"/>
                <a:cs typeface="Barlow"/>
              </a:rPr>
              <a:t>So the hours are only as current as what was logged in NetSuite when that Monday job last ran.</a:t>
            </a:r>
            <a:r>
              <a:rPr sz="1350" b="0" i="0">
                <a:solidFill>
                  <a:srgbClr val="1E1E1E"/>
                </a:solidFill>
                <a:latin typeface="Barlow"/>
                <a:cs typeface="Barlow"/>
              </a:rPr>
              <a:t> Time entered on Tuesday shows up the following Monday. Time never entered shows up never.</a:t>
            </a:r>
          </a:p>
          <a:p>
            <a:pPr>
              <a:lnSpc>
                <a:spcPct val="106000"/>
              </a:lnSpc>
              <a:spcAft>
                <a:spcPts val="600"/>
              </a:spcAft>
            </a:pPr>
            <a:r>
              <a:rPr sz="1350" b="1" i="0">
                <a:solidFill>
                  <a:srgbClr val="31A4F3"/>
                </a:solidFill>
                <a:latin typeface="Barlow"/>
                <a:cs typeface="Barlow"/>
              </a:rPr>
              <a:t>▪  </a:t>
            </a:r>
            <a:r>
              <a:rPr sz="1350" b="0" i="0">
                <a:solidFill>
                  <a:srgbClr val="1E1E1E"/>
                </a:solidFill>
                <a:latin typeface="Barlow"/>
                <a:cs typeface="Barlow"/>
              </a:rPr>
              <a:t>Every summary states its hours as-of date on the page. Never extend the window to today: a partial week reads as a real number while being understated.</a:t>
            </a:r>
          </a:p>
        </p:txBody>
      </p:sp>
      <p:sp>
        <p:nvSpPr>
          <p:cNvPr id="16" name="Rounded Rectangle 15"/>
          <p:cNvSpPr/>
          <p:nvPr/>
        </p:nvSpPr>
        <p:spPr>
          <a:xfrm>
            <a:off x="640080" y="5303520"/>
            <a:ext cx="10881360" cy="91440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Hours are stamped at the Monday 09:30 ET pull, and only what was in NetSuite by then. Never read a Friday summary's hours as current.</a:t>
            </a:r>
          </a:p>
        </p:txBody>
      </p:sp>
      <p:sp>
        <p:nvSpPr>
          <p:cNvPr id="17" name="Rectangle 1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9" name="TextBox 1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Two documents, not one</a:t>
            </a:r>
          </a:p>
        </p:txBody>
      </p:sp>
      <p:sp>
        <p:nvSpPr>
          <p:cNvPr id="6" name="Rounded Rectangle 5"/>
          <p:cNvSpPr/>
          <p:nvPr/>
        </p:nvSpPr>
        <p:spPr>
          <a:xfrm>
            <a:off x="64008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working/exec_summary_{date}.md: internal, never sent</a:t>
            </a:r>
          </a:p>
        </p:txBody>
      </p:sp>
      <p:sp>
        <p:nvSpPr>
          <p:cNvPr id="10" name="TextBox 9"/>
          <p:cNvSpPr txBox="1"/>
          <p:nvPr/>
        </p:nvSpPr>
        <p:spPr>
          <a:xfrm>
            <a:off x="822959"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The full picture: the blunt health assessment, anything mined from internal-only meetings, every gap the cross-reference found.</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Every material claim tiered: Verified, Reported, Inferred. The health verdict is Inferred and says so.</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States which hours path was used and the data's as-of date, every time.</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Drafted first and reviewed with you before anything renders.</a:t>
            </a:r>
          </a:p>
        </p:txBody>
      </p:sp>
      <p:sp>
        <p:nvSpPr>
          <p:cNvPr id="11" name="Rounded Rectangle 10"/>
          <p:cNvSpPr/>
          <p:nvPr/>
        </p:nvSpPr>
        <p:spPr>
          <a:xfrm>
            <a:off x="6172200" y="1417320"/>
            <a:ext cx="5349240" cy="365760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417320"/>
            <a:ext cx="5349240" cy="54864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691640"/>
            <a:ext cx="5349240" cy="27432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17320"/>
            <a:ext cx="5029200" cy="548640"/>
          </a:xfrm>
          <a:prstGeom prst="rect">
            <a:avLst/>
          </a:prstGeom>
          <a:noFill/>
        </p:spPr>
        <p:txBody>
          <a:bodyPr wrap="square" anchor="ctr" lIns="45720" rIns="45720" tIns="18288" bIns="18288">
            <a:spAutoFit/>
          </a:bodyPr>
          <a:lstStyle/>
          <a:p>
            <a:r>
              <a:rPr sz="1500" b="1" i="0">
                <a:solidFill>
                  <a:srgbClr val="FFFFFF"/>
                </a:solidFill>
                <a:latin typeface="Montserrat"/>
                <a:cs typeface="Montserrat"/>
              </a:rPr>
              <a:t>deliverables/{Client}_Executive_Summary_{date}.docx: client-facing</a:t>
            </a:r>
          </a:p>
        </p:txBody>
      </p:sp>
      <p:sp>
        <p:nvSpPr>
          <p:cNvPr id="15" name="TextBox 14"/>
          <p:cNvSpPr txBox="1"/>
          <p:nvPr/>
        </p:nvSpPr>
        <p:spPr>
          <a:xfrm>
            <a:off x="6355080" y="2103120"/>
            <a:ext cx="4983480" cy="2880360"/>
          </a:xfrm>
          <a:prstGeom prst="rect">
            <a:avLst/>
          </a:prstGeom>
          <a:noFill/>
        </p:spPr>
        <p:txBody>
          <a:bodyPr wrap="square" anchor="t" lIns="45720" rIns="45720" tIns="18288" bIns="18288">
            <a:spAutoFit/>
          </a:bodyPr>
          <a:lstStyle/>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Drafted from the internal one after you decide what carries: the health assessment as written, softened, or out.</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Rendered branded through the OS toolchain, humanized, QA'd before delivery.</a:t>
            </a:r>
          </a:p>
          <a:p>
            <a:pPr>
              <a:lnSpc>
                <a:spcPct val="106000"/>
              </a:lnSpc>
              <a:spcAft>
                <a:spcPts val="600"/>
              </a:spcAft>
            </a:pPr>
            <a:r>
              <a:rPr sz="1450" b="1" i="0">
                <a:solidFill>
                  <a:srgbClr val="31A4F3"/>
                </a:solidFill>
                <a:latin typeface="Barlow"/>
                <a:cs typeface="Barlow"/>
              </a:rPr>
              <a:t>▪  </a:t>
            </a:r>
            <a:r>
              <a:rPr sz="1450" b="0" i="0">
                <a:solidFill>
                  <a:srgbClr val="1E1E1E"/>
                </a:solidFill>
                <a:latin typeface="Barlow"/>
                <a:cs typeface="Barlow"/>
              </a:rPr>
              <a:t>Safe by construction: separating the two means nothing candid reaches a client by accident.</a:t>
            </a:r>
          </a:p>
        </p:txBody>
      </p:sp>
      <p:sp>
        <p:nvSpPr>
          <p:cNvPr id="16" name="Rounded Rectangle 15"/>
          <p:cNvSpPr/>
          <p:nvPr/>
        </p:nvSpPr>
        <p:spPr>
          <a:xfrm>
            <a:off x="640080" y="5303520"/>
            <a:ext cx="10881360" cy="91440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No exec summary reaches a client without a consultant reading and approving it first. Permanent policy, not a training-wheels phase.</a:t>
            </a:r>
          </a:p>
        </p:txBody>
      </p:sp>
      <p:sp>
        <p:nvSpPr>
          <p:cNvPr id="17" name="Rectangle 1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9" name="TextBox 1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It also shows you your own data quality</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"No next steps recorded" is the Asana hygiene talking, not the client's project. Absence in Asana is verified absence in Asana, nothing more, and the summary says so instead of reporting an artifact.</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A blank status update reads as stalled and produces a false at-risk health call. Post the update.</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A completed week inside the hours window with no entries from someone who normally logs to that client is a finding, flagged by name, before anyone invoices. An absent current week is not; that is the submission rhythm.</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The cross-reference is unflattering on purpose. A commitment made in a meeting and never logged as a task is exactly what it exists to catch.</a:t>
            </a:r>
          </a:p>
          <a:p>
            <a:pPr>
              <a:lnSpc>
                <a:spcPct val="106000"/>
              </a:lnSpc>
              <a:spcAft>
                <a:spcPts val="800"/>
              </a:spcAft>
            </a:pPr>
            <a:r>
              <a:rPr sz="1600" b="1" i="0">
                <a:solidFill>
                  <a:srgbClr val="31A4F3"/>
                </a:solidFill>
                <a:latin typeface="Barlow"/>
                <a:cs typeface="Barlow"/>
              </a:rPr>
              <a:t>▪  </a:t>
            </a:r>
            <a:r>
              <a:rPr sz="1600" b="0" i="0">
                <a:solidFill>
                  <a:srgbClr val="1E1E1E"/>
                </a:solidFill>
                <a:latin typeface="Barlow"/>
                <a:cs typeface="Barlow"/>
              </a:rPr>
              <a:t>ASANA_CONVENTIONS.md is the minimum hygiene the summary depends on: a task per commitment, an owner, a due date, a status update posted.</a:t>
            </a:r>
          </a:p>
        </p:txBody>
      </p:sp>
      <p:sp>
        <p:nvSpPr>
          <p:cNvPr id="7" name="Rounded Rectangle 6"/>
          <p:cNvSpPr/>
          <p:nvPr/>
        </p:nvSpPr>
        <p:spPr>
          <a:xfrm>
            <a:off x="640080" y="5440680"/>
            <a:ext cx="10881360" cy="868680"/>
          </a:xfrm>
          <a:prstGeom prst="roundRect">
            <a:avLst>
              <a:gd name="adj" fmla="val 8000"/>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600" b="1" i="0">
                <a:solidFill>
                  <a:srgbClr val="FFFFFF"/>
                </a:solidFill>
                <a:latin typeface="Montserrat"/>
                <a:cs typeface="Montserrat"/>
              </a:rPr>
              <a:t>The summary is only as good as what you logged that week.</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How a run goes</a:t>
            </a:r>
          </a:p>
        </p:txBody>
      </p:sp>
      <p:sp>
        <p:nvSpPr>
          <p:cNvPr id="6" name="Rounded Rectangle 5"/>
          <p:cNvSpPr/>
          <p:nvPr/>
        </p:nvSpPr>
        <p:spPr>
          <a:xfrm>
            <a:off x="640080" y="1417320"/>
            <a:ext cx="3474720" cy="16687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1</a:t>
            </a:r>
          </a:p>
        </p:txBody>
      </p:sp>
      <p:sp>
        <p:nvSpPr>
          <p:cNvPr id="8" name="TextBox 7"/>
          <p:cNvSpPr txBox="1"/>
          <p:nvPr/>
        </p:nvSpPr>
        <p:spPr>
          <a:xfrm>
            <a:off x="777240" y="2103120"/>
            <a:ext cx="3200400" cy="89154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Say the line</a:t>
            </a:r>
          </a:p>
          <a:p>
            <a:pPr>
              <a:lnSpc>
                <a:spcPct val="105000"/>
              </a:lnSpc>
              <a:spcBef>
                <a:spcPts val="400"/>
              </a:spcBef>
            </a:pPr>
            <a:r>
              <a:rPr sz="1200" b="0" i="0">
                <a:solidFill>
                  <a:srgbClr val="1E1E1E"/>
                </a:solidFill>
                <a:latin typeface="Barlow"/>
                <a:cs typeface="Barlow"/>
              </a:rPr>
              <a:t>From inside the client's folder, in a named session.</a:t>
            </a:r>
          </a:p>
        </p:txBody>
      </p:sp>
      <p:sp>
        <p:nvSpPr>
          <p:cNvPr id="9" name="Rounded Rectangle 8"/>
          <p:cNvSpPr/>
          <p:nvPr/>
        </p:nvSpPr>
        <p:spPr>
          <a:xfrm>
            <a:off x="4343400" y="1417320"/>
            <a:ext cx="3474720" cy="16687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80560"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2</a:t>
            </a:r>
          </a:p>
        </p:txBody>
      </p:sp>
      <p:sp>
        <p:nvSpPr>
          <p:cNvPr id="11" name="TextBox 10"/>
          <p:cNvSpPr txBox="1"/>
          <p:nvPr/>
        </p:nvSpPr>
        <p:spPr>
          <a:xfrm>
            <a:off x="4480560" y="2103120"/>
            <a:ext cx="3200400" cy="89154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It gathers</a:t>
            </a:r>
          </a:p>
          <a:p>
            <a:pPr>
              <a:lnSpc>
                <a:spcPct val="105000"/>
              </a:lnSpc>
              <a:spcBef>
                <a:spcPts val="400"/>
              </a:spcBef>
            </a:pPr>
            <a:r>
              <a:rPr sz="1200" b="0" i="0">
                <a:solidFill>
                  <a:srgbClr val="1E1E1E"/>
                </a:solidFill>
                <a:latin typeface="Barlow"/>
                <a:cs typeface="Barlow"/>
              </a:rPr>
              <a:t>Five sources. States the hours path and the as-of date.</a:t>
            </a:r>
          </a:p>
        </p:txBody>
      </p:sp>
      <p:sp>
        <p:nvSpPr>
          <p:cNvPr id="12" name="Rounded Rectangle 11"/>
          <p:cNvSpPr/>
          <p:nvPr/>
        </p:nvSpPr>
        <p:spPr>
          <a:xfrm>
            <a:off x="8046720" y="1417320"/>
            <a:ext cx="3474720" cy="16687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183880" y="155448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3</a:t>
            </a:r>
          </a:p>
        </p:txBody>
      </p:sp>
      <p:sp>
        <p:nvSpPr>
          <p:cNvPr id="14" name="TextBox 13"/>
          <p:cNvSpPr txBox="1"/>
          <p:nvPr/>
        </p:nvSpPr>
        <p:spPr>
          <a:xfrm>
            <a:off x="8183880" y="2103120"/>
            <a:ext cx="3200400" cy="89154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Internal draft</a:t>
            </a:r>
          </a:p>
          <a:p>
            <a:pPr>
              <a:lnSpc>
                <a:spcPct val="105000"/>
              </a:lnSpc>
              <a:spcBef>
                <a:spcPts val="400"/>
              </a:spcBef>
            </a:pPr>
            <a:r>
              <a:rPr sz="1200" b="0" i="0">
                <a:solidFill>
                  <a:srgbClr val="1E1E1E"/>
                </a:solidFill>
                <a:latin typeface="Barlow"/>
                <a:cs typeface="Barlow"/>
              </a:rPr>
              <a:t>working/exec_summary_{date}.md, tiered, with the cross-reference.</a:t>
            </a:r>
          </a:p>
        </p:txBody>
      </p:sp>
      <p:sp>
        <p:nvSpPr>
          <p:cNvPr id="15" name="Rounded Rectangle 14"/>
          <p:cNvSpPr/>
          <p:nvPr/>
        </p:nvSpPr>
        <p:spPr>
          <a:xfrm>
            <a:off x="640080" y="3314700"/>
            <a:ext cx="3474720" cy="16687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7240" y="345186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4</a:t>
            </a:r>
          </a:p>
        </p:txBody>
      </p:sp>
      <p:sp>
        <p:nvSpPr>
          <p:cNvPr id="17" name="TextBox 16"/>
          <p:cNvSpPr txBox="1"/>
          <p:nvPr/>
        </p:nvSpPr>
        <p:spPr>
          <a:xfrm>
            <a:off x="777240" y="4000500"/>
            <a:ext cx="3200400" cy="89154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You review</a:t>
            </a:r>
          </a:p>
          <a:p>
            <a:pPr>
              <a:lnSpc>
                <a:spcPct val="105000"/>
              </a:lnSpc>
              <a:spcBef>
                <a:spcPts val="400"/>
              </a:spcBef>
            </a:pPr>
            <a:r>
              <a:rPr sz="1200" b="0" i="0">
                <a:solidFill>
                  <a:srgbClr val="1E1E1E"/>
                </a:solidFill>
                <a:latin typeface="Barlow"/>
                <a:cs typeface="Barlow"/>
              </a:rPr>
              <a:t>Health verdict as written, softened, or out. What carries to the client.</a:t>
            </a:r>
          </a:p>
        </p:txBody>
      </p:sp>
      <p:sp>
        <p:nvSpPr>
          <p:cNvPr id="18" name="Rounded Rectangle 17"/>
          <p:cNvSpPr/>
          <p:nvPr/>
        </p:nvSpPr>
        <p:spPr>
          <a:xfrm>
            <a:off x="4343400" y="3314700"/>
            <a:ext cx="3474720" cy="16687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80560" y="345186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5</a:t>
            </a:r>
          </a:p>
        </p:txBody>
      </p:sp>
      <p:sp>
        <p:nvSpPr>
          <p:cNvPr id="20" name="TextBox 19"/>
          <p:cNvSpPr txBox="1"/>
          <p:nvPr/>
        </p:nvSpPr>
        <p:spPr>
          <a:xfrm>
            <a:off x="4480560" y="4000500"/>
            <a:ext cx="3200400" cy="89154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Client version renders</a:t>
            </a:r>
          </a:p>
          <a:p>
            <a:pPr>
              <a:lnSpc>
                <a:spcPct val="105000"/>
              </a:lnSpc>
              <a:spcBef>
                <a:spcPts val="400"/>
              </a:spcBef>
            </a:pPr>
            <a:r>
              <a:rPr sz="1200" b="0" i="0">
                <a:solidFill>
                  <a:srgbClr val="1E1E1E"/>
                </a:solidFill>
                <a:latin typeface="Barlow"/>
                <a:cs typeface="Barlow"/>
              </a:rPr>
              <a:t>Branded .docx to deliverables/, humanized, QA'd.</a:t>
            </a:r>
          </a:p>
        </p:txBody>
      </p:sp>
      <p:sp>
        <p:nvSpPr>
          <p:cNvPr id="21" name="Rounded Rectangle 20"/>
          <p:cNvSpPr/>
          <p:nvPr/>
        </p:nvSpPr>
        <p:spPr>
          <a:xfrm>
            <a:off x="8046720" y="3314700"/>
            <a:ext cx="3474720" cy="16687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83880" y="3451860"/>
            <a:ext cx="457200" cy="457200"/>
          </a:xfrm>
          <a:prstGeom prst="ellipse">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Montserrat"/>
                <a:cs typeface="Montserrat"/>
              </a:rPr>
              <a:t>6</a:t>
            </a:r>
          </a:p>
        </p:txBody>
      </p:sp>
      <p:sp>
        <p:nvSpPr>
          <p:cNvPr id="23" name="TextBox 22"/>
          <p:cNvSpPr txBox="1"/>
          <p:nvPr/>
        </p:nvSpPr>
        <p:spPr>
          <a:xfrm>
            <a:off x="8183880" y="4000500"/>
            <a:ext cx="3200400" cy="891540"/>
          </a:xfrm>
          <a:prstGeom prst="rect">
            <a:avLst/>
          </a:prstGeom>
          <a:noFill/>
        </p:spPr>
        <p:txBody>
          <a:bodyPr wrap="square" anchor="t" lIns="45720" rIns="45720" tIns="18288" bIns="18288">
            <a:spAutoFit/>
          </a:bodyPr>
          <a:lstStyle/>
          <a:p>
            <a:r>
              <a:rPr sz="1300" b="1" i="0">
                <a:solidFill>
                  <a:srgbClr val="002F59"/>
                </a:solidFill>
                <a:latin typeface="Montserrat"/>
                <a:cs typeface="Montserrat"/>
              </a:rPr>
              <a:t>Send, then act</a:t>
            </a:r>
          </a:p>
          <a:p>
            <a:pPr>
              <a:lnSpc>
                <a:spcPct val="105000"/>
              </a:lnSpc>
              <a:spcBef>
                <a:spcPts val="400"/>
              </a:spcBef>
            </a:pPr>
            <a:r>
              <a:rPr sz="1200" b="0" i="0">
                <a:solidFill>
                  <a:srgbClr val="1E1E1E"/>
                </a:solidFill>
                <a:latin typeface="Barlow"/>
                <a:cs typeface="Barlow"/>
              </a:rPr>
              <a:t>Gmail draft to the client. Missing Asana tasks created.</a:t>
            </a:r>
          </a:p>
        </p:txBody>
      </p:sp>
      <p:sp>
        <p:nvSpPr>
          <p:cNvPr id="24" name="Rounded Rectangle 23"/>
          <p:cNvSpPr/>
          <p:nvPr/>
        </p:nvSpPr>
        <p:spPr>
          <a:xfrm>
            <a:off x="640080" y="5212080"/>
            <a:ext cx="10881360" cy="100584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Live option: open a recent internal draft in working/ next to its client-facing .docx in deliverables/ and show what did and did not carry across.</a:t>
            </a:r>
          </a:p>
        </p:txBody>
      </p:sp>
      <p:sp>
        <p:nvSpPr>
          <p:cNvPr id="25" name="Rectangle 24"/>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27" name="TextBox 26"/>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058400" cy="914400"/>
          </a:xfrm>
          <a:prstGeom prst="rect">
            <a:avLst/>
          </a:prstGeom>
          <a:noFill/>
        </p:spPr>
        <p:txBody>
          <a:bodyPr wrap="square" anchor="t" lIns="45720" rIns="45720" tIns="18288" bIns="18288">
            <a:spAutoFit/>
          </a:bodyPr>
          <a:lstStyle/>
          <a:p>
            <a:r>
              <a:rPr sz="6000" b="1" i="0">
                <a:solidFill>
                  <a:srgbClr val="31A4F3"/>
                </a:solidFill>
                <a:latin typeface="Montserrat"/>
                <a:cs typeface="Montserrat"/>
              </a:rPr>
              <a:t>04</a:t>
            </a:r>
          </a:p>
        </p:txBody>
      </p:sp>
      <p:sp>
        <p:nvSpPr>
          <p:cNvPr id="5" name="TextBox 4"/>
          <p:cNvSpPr txBox="1"/>
          <p:nvPr/>
        </p:nvSpPr>
        <p:spPr>
          <a:xfrm>
            <a:off x="914400" y="2651760"/>
            <a:ext cx="10058400" cy="2286000"/>
          </a:xfrm>
          <a:prstGeom prst="rect">
            <a:avLst/>
          </a:prstGeom>
          <a:noFill/>
        </p:spPr>
        <p:txBody>
          <a:bodyPr wrap="square" anchor="t" lIns="45720" rIns="45720" tIns="18288" bIns="18288">
            <a:spAutoFit/>
          </a:bodyPr>
          <a:lstStyle/>
          <a:p>
            <a:r>
              <a:rPr sz="4000" b="1" i="0">
                <a:solidFill>
                  <a:srgbClr val="FFFFFF"/>
                </a:solidFill>
                <a:latin typeface="Montserrat"/>
                <a:cs typeface="Montserrat"/>
              </a:rPr>
              <a:t>Case studies</a:t>
            </a:r>
          </a:p>
          <a:p>
            <a:pPr>
              <a:spcBef>
                <a:spcPts val="1400"/>
              </a:spcBef>
            </a:pPr>
            <a:r>
              <a:rPr sz="1800" b="0" i="0">
                <a:solidFill>
                  <a:srgbClr val="FFFFFF"/>
                </a:solidFill>
                <a:latin typeface="Barlow"/>
                <a:cs typeface="Barlow"/>
              </a:rPr>
              <a:t>Real professional-services work, one client, one problem, ten minutes each. Handed off to the presenters. Four questions each story answers: the customer problem, how Claude helped solve it, how it helped implement, what was better than before.</a:t>
            </a:r>
          </a:p>
        </p:txBody>
      </p:sp>
      <p:sp>
        <p:nvSpPr>
          <p:cNvPr id="6" name="Rounded Rectangle 5"/>
          <p:cNvSpPr/>
          <p:nvPr/>
        </p:nvSpPr>
        <p:spPr>
          <a:xfrm>
            <a:off x="9814255" y="5806440"/>
            <a:ext cx="20116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wercloud_Logo-01.png"/>
          <p:cNvPicPr>
            <a:picLocks noChangeAspect="1"/>
          </p:cNvPicPr>
          <p:nvPr/>
        </p:nvPicPr>
        <p:blipFill>
          <a:blip r:embed="rId2"/>
          <a:stretch>
            <a:fillRect/>
          </a:stretch>
        </p:blipFill>
        <p:spPr>
          <a:xfrm>
            <a:off x="9997135" y="5646376"/>
            <a:ext cx="1645920" cy="1097367"/>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058400" cy="914400"/>
          </a:xfrm>
          <a:prstGeom prst="rect">
            <a:avLst/>
          </a:prstGeom>
          <a:noFill/>
        </p:spPr>
        <p:txBody>
          <a:bodyPr wrap="square" anchor="t" lIns="45720" rIns="45720" tIns="18288" bIns="18288">
            <a:spAutoFit/>
          </a:bodyPr>
          <a:lstStyle/>
          <a:p>
            <a:r>
              <a:rPr sz="6000" b="1" i="0">
                <a:solidFill>
                  <a:srgbClr val="31A4F3"/>
                </a:solidFill>
                <a:latin typeface="Montserrat"/>
                <a:cs typeface="Montserrat"/>
              </a:rPr>
              <a:t>05</a:t>
            </a:r>
          </a:p>
        </p:txBody>
      </p:sp>
      <p:sp>
        <p:nvSpPr>
          <p:cNvPr id="5" name="TextBox 4"/>
          <p:cNvSpPr txBox="1"/>
          <p:nvPr/>
        </p:nvSpPr>
        <p:spPr>
          <a:xfrm>
            <a:off x="914400" y="2651760"/>
            <a:ext cx="10058400" cy="2286000"/>
          </a:xfrm>
          <a:prstGeom prst="rect">
            <a:avLst/>
          </a:prstGeom>
          <a:noFill/>
        </p:spPr>
        <p:txBody>
          <a:bodyPr wrap="square" anchor="t" lIns="45720" rIns="45720" tIns="18288" bIns="18288">
            <a:spAutoFit/>
          </a:bodyPr>
          <a:lstStyle/>
          <a:p>
            <a:r>
              <a:rPr sz="4000" b="1" i="0">
                <a:solidFill>
                  <a:srgbClr val="FFFFFF"/>
                </a:solidFill>
                <a:latin typeface="Montserrat"/>
                <a:cs typeface="Montserrat"/>
              </a:rPr>
              <a:t>Six announcements</a:t>
            </a:r>
          </a:p>
          <a:p>
            <a:pPr>
              <a:spcBef>
                <a:spcPts val="1400"/>
              </a:spcBef>
            </a:pPr>
            <a:r>
              <a:rPr sz="1800" b="0" i="0">
                <a:solidFill>
                  <a:srgbClr val="FFFFFF"/>
                </a:solidFill>
                <a:latin typeface="Barlow"/>
                <a:cs typeface="Barlow"/>
              </a:rPr>
              <a:t>One or two sentences each. The how-to guide carries the detail.</a:t>
            </a:r>
          </a:p>
        </p:txBody>
      </p:sp>
      <p:sp>
        <p:nvSpPr>
          <p:cNvPr id="6" name="Rounded Rectangle 5"/>
          <p:cNvSpPr/>
          <p:nvPr/>
        </p:nvSpPr>
        <p:spPr>
          <a:xfrm>
            <a:off x="9814255" y="5806440"/>
            <a:ext cx="20116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wercloud_Logo-01.png"/>
          <p:cNvPicPr>
            <a:picLocks noChangeAspect="1"/>
          </p:cNvPicPr>
          <p:nvPr/>
        </p:nvPicPr>
        <p:blipFill>
          <a:blip r:embed="rId2"/>
          <a:stretch>
            <a:fillRect/>
          </a:stretch>
        </p:blipFill>
        <p:spPr>
          <a:xfrm>
            <a:off x="9997135" y="5646376"/>
            <a:ext cx="1645920" cy="1097367"/>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changed</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1. The deck is the Presentation, not the Proposal.</a:t>
            </a:r>
            <a:r>
              <a:rPr sz="1450" b="0" i="0">
                <a:solidFill>
                  <a:srgbClr val="1E1E1E"/>
                </a:solidFill>
                <a:latin typeface="Barlow"/>
                <a:cs typeface="Barlow"/>
              </a:rPr>
              <a:t> We already have the work; the deck walks the client through findings. Filenames and documents now say Presentation.</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2. Exec summaries are always human-reviewed.</a:t>
            </a:r>
            <a:r>
              <a:rPr sz="1450" b="0" i="0">
                <a:solidFill>
                  <a:srgbClr val="1E1E1E"/>
                </a:solidFill>
                <a:latin typeface="Barlow"/>
                <a:cs typeface="Barlow"/>
              </a:rPr>
              <a:t> No exec summary reaches a client without a consultant reading and approving it first. Permanent policy, not a training-wheels phase.</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3. Client approval before build, dev review before testing.</a:t>
            </a:r>
            <a:r>
              <a:rPr sz="1450" b="0" i="0">
                <a:solidFill>
                  <a:srgbClr val="1E1E1E"/>
                </a:solidFill>
                <a:latin typeface="Barlow"/>
                <a:cs typeface="Barlow"/>
              </a:rPr>
              <a:t> No build starts until client approval is verified on the referenced Asana task; an email approval gets pasted onto the task with the source cited. Scripted work gets a dev-team review before it comes back to you for testing. Policy in effect now; the tool will enforce the gate soon.</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What changed, continued</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4. Hours in exec summaries are stamped Monday morning.</a:t>
            </a:r>
            <a:r>
              <a:rPr sz="1450" b="0" i="0">
                <a:solidFill>
                  <a:srgbClr val="1E1E1E"/>
                </a:solidFill>
                <a:latin typeface="Barlow"/>
                <a:cs typeface="Barlow"/>
              </a:rPr>
              <a:t> A job reads our NetSuite every Monday at 09:30 ET and writes each client's hours into their folder; summaries read that file. So the hours are only as current as what was logged in NetSuite by that Monday pull, and the window stops at the last completed Sunday. The narrative is live to the minute. Never read a Friday summary's hours as current, and log your time before Monday.</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5. Feedback: when the tool annoys you, say so.</a:t>
            </a:r>
            <a:r>
              <a:rPr sz="1450" b="0" i="0">
                <a:solidFill>
                  <a:srgbClr val="1E1E1E"/>
                </a:solidFill>
                <a:latin typeface="Barlow"/>
                <a:cs typeface="Barlow"/>
              </a:rPr>
              <a:t> Type /feedback or say "log this as feedback" in any session; Claude writes the entry from what just happened and asks only what it cannot work out: time cost, blocked or not, every time or once. Everything gets triaged; nothing is silently deleted.</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6. Session norms, the three that matter most.</a:t>
            </a:r>
            <a:r>
              <a:rPr sz="1450" b="0" i="0">
                <a:solidFill>
                  <a:srgbClr val="1E1E1E"/>
                </a:solidFill>
                <a:latin typeface="Barlow"/>
                <a:cs typeface="Barlow"/>
              </a:rPr>
              <a:t> One task, one session, started inside the client's folder. Name sessions client plus environment; paste the /rename line. You do not need the frontier model to write a PDF: escalate only when the default fails, and check your effort setting when a session feels slow. Hitting the $25 monthly credit limit is a signal, not a failure. Tell Mike.</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ask: by end of next week, every consultant</a:t>
            </a:r>
          </a:p>
        </p:txBody>
      </p:sp>
      <p:sp>
        <p:nvSpPr>
          <p:cNvPr id="6" name="TextBox 5"/>
          <p:cNvSpPr txBox="1"/>
          <p:nvPr/>
        </p:nvSpPr>
        <p:spPr>
          <a:xfrm>
            <a:off x="640080" y="1371600"/>
            <a:ext cx="10881360" cy="3840480"/>
          </a:xfrm>
          <a:prstGeom prst="rect">
            <a:avLst/>
          </a:prstGeom>
          <a:noFill/>
        </p:spPr>
        <p:txBody>
          <a:bodyPr wrap="square" anchor="t" lIns="45720" rIns="45720" tIns="18288" bIns="18288">
            <a:spAutoFit/>
          </a:bodyPr>
          <a:lstStyle/>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Step zero verified on your machine.</a:t>
            </a:r>
            <a:r>
              <a:rPr sz="1600" b="0" i="0">
                <a:solidFill>
                  <a:srgbClr val="1E1E1E"/>
                </a:solidFill>
                <a:latin typeface="Barlow"/>
                <a:cs typeface="Barlow"/>
              </a:rPr>
              <a:t> Drive for desktop opening the new path, Git, Python with the four packages, brand fonts installed for all users, Claude Code signed into your Power Cloud account with the workspace opened once. Already a prerequisite for today; if it is not done, grab time on my calendar and we do it together.</a:t>
            </a:r>
          </a:p>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One of your own clients brought into the OS</a:t>
            </a:r>
            <a:r>
              <a:rPr sz="1600" b="0" i="0">
                <a:solidFill>
                  <a:srgbClr val="1E1E1E"/>
                </a:solidFill>
                <a:latin typeface="Barlow"/>
                <a:cs typeface="Barlow"/>
              </a:rPr>
              <a:t>: create the folder, drop in what you have, run session start, review the fact sheet and the consent pack it drafts. Then one real task in that folder, in a properly named session. An exec summary before your next status call is the natural one.</a:t>
            </a:r>
          </a:p>
          <a:p>
            <a:pPr>
              <a:lnSpc>
                <a:spcPct val="106000"/>
              </a:lnSpc>
              <a:spcAft>
                <a:spcPts val="800"/>
              </a:spcAft>
            </a:pPr>
            <a:r>
              <a:rPr sz="1600" b="1" i="0">
                <a:solidFill>
                  <a:srgbClr val="31A4F3"/>
                </a:solidFill>
                <a:latin typeface="Barlow"/>
                <a:cs typeface="Barlow"/>
              </a:rPr>
              <a:t>▪  </a:t>
            </a:r>
            <a:r>
              <a:rPr sz="1600" b="1" i="0">
                <a:solidFill>
                  <a:srgbClr val="1E1E1E"/>
                </a:solidFill>
                <a:latin typeface="Barlow"/>
                <a:cs typeface="Barlow"/>
              </a:rPr>
              <a:t>At least one /feedback entry</a:t>
            </a:r>
            <a:r>
              <a:rPr sz="1600" b="0" i="0">
                <a:solidFill>
                  <a:srgbClr val="1E1E1E"/>
                </a:solidFill>
                <a:latin typeface="Barlow"/>
                <a:cs typeface="Barlow"/>
              </a:rPr>
              <a:t> if anything got in the way. The tool only improves from what gets reported.</a:t>
            </a:r>
          </a:p>
        </p:txBody>
      </p:sp>
      <p:sp>
        <p:nvSpPr>
          <p:cNvPr id="7" name="Rounded Rectangle 6"/>
          <p:cNvSpPr/>
          <p:nvPr/>
        </p:nvSpPr>
        <p:spPr>
          <a:xfrm>
            <a:off x="640080" y="5440680"/>
            <a:ext cx="10881360" cy="868680"/>
          </a:xfrm>
          <a:prstGeom prst="roundRect">
            <a:avLst>
              <a:gd name="adj" fmla="val 8000"/>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0" i="0">
                <a:solidFill>
                  <a:srgbClr val="002F59"/>
                </a:solidFill>
                <a:latin typeface="Barlow"/>
                <a:cs typeface="Barlow"/>
              </a:rPr>
              <a:t>"Proofread everything before it leaves the building. 'The AI wrote it' is the failure, not the defense."</a:t>
            </a:r>
          </a:p>
        </p:txBody>
      </p:sp>
      <p:sp>
        <p:nvSpPr>
          <p:cNvPr id="8" name="Rectangle 7"/>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10" name="TextBox 9"/>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822960"/>
            <a:ext cx="10241280" cy="4480560"/>
          </a:xfrm>
          <a:prstGeom prst="rect">
            <a:avLst/>
          </a:prstGeom>
          <a:noFill/>
        </p:spPr>
        <p:txBody>
          <a:bodyPr wrap="square" anchor="t" lIns="45720" rIns="45720" tIns="18288" bIns="18288">
            <a:spAutoFit/>
          </a:bodyPr>
          <a:lstStyle/>
          <a:p>
            <a:r>
              <a:rPr sz="3000" b="1" i="0">
                <a:solidFill>
                  <a:srgbClr val="FFFFFF"/>
                </a:solidFill>
                <a:latin typeface="Montserrat"/>
                <a:cs typeface="Montserrat"/>
              </a:rPr>
              <a:t>Questions</a:t>
            </a:r>
          </a:p>
          <a:p>
            <a:pPr>
              <a:spcBef>
                <a:spcPts val="900"/>
              </a:spcBef>
            </a:pPr>
            <a:r>
              <a:rPr sz="1600" b="1" i="0">
                <a:solidFill>
                  <a:srgbClr val="31A4F3"/>
                </a:solidFill>
                <a:latin typeface="Barlow"/>
                <a:cs typeface="Barlow"/>
              </a:rPr>
              <a:t>▪  </a:t>
            </a:r>
            <a:r>
              <a:rPr sz="1600" b="0" i="0">
                <a:solidFill>
                  <a:srgbClr val="FFFFFF"/>
                </a:solidFill>
                <a:latin typeface="Barlow"/>
                <a:cs typeface="Barlow"/>
              </a:rPr>
              <a:t>The workspace: G:\Shared drives\Power Cloud OS. Every session starts inside a client's folder there.</a:t>
            </a:r>
          </a:p>
          <a:p>
            <a:pPr>
              <a:spcBef>
                <a:spcPts val="900"/>
              </a:spcBef>
            </a:pPr>
            <a:r>
              <a:rPr sz="1600" b="1" i="0">
                <a:solidFill>
                  <a:srgbClr val="31A4F3"/>
                </a:solidFill>
                <a:latin typeface="Barlow"/>
                <a:cs typeface="Barlow"/>
              </a:rPr>
              <a:t>▪  </a:t>
            </a:r>
            <a:r>
              <a:rPr sz="1600" b="0" i="0">
                <a:solidFill>
                  <a:srgbClr val="FFFFFF"/>
                </a:solidFill>
                <a:latin typeface="Barlow"/>
                <a:cs typeface="Barlow"/>
              </a:rPr>
              <a:t>The how-to guide: "How to Work in the Power Cloud OS" (PDF at the root). Part 5 is the menu of what to say.</a:t>
            </a:r>
          </a:p>
          <a:p>
            <a:pPr>
              <a:spcBef>
                <a:spcPts val="900"/>
              </a:spcBef>
            </a:pPr>
            <a:r>
              <a:rPr sz="1600" b="1" i="0">
                <a:solidFill>
                  <a:srgbClr val="31A4F3"/>
                </a:solidFill>
                <a:latin typeface="Barlow"/>
                <a:cs typeface="Barlow"/>
              </a:rPr>
              <a:t>▪  </a:t>
            </a:r>
            <a:r>
              <a:rPr sz="1600" b="0" i="0">
                <a:solidFill>
                  <a:srgbClr val="FFFFFF"/>
                </a:solidFill>
                <a:latin typeface="Barlow"/>
                <a:cs typeface="Barlow"/>
              </a:rPr>
              <a:t>The longer capabilities guide: "The Power Cloud OS", linked from the how-to email.</a:t>
            </a:r>
          </a:p>
          <a:p>
            <a:pPr>
              <a:spcBef>
                <a:spcPts val="900"/>
              </a:spcBef>
            </a:pPr>
            <a:r>
              <a:rPr sz="1600" b="1" i="0">
                <a:solidFill>
                  <a:srgbClr val="31A4F3"/>
                </a:solidFill>
                <a:latin typeface="Barlow"/>
                <a:cs typeface="Barlow"/>
              </a:rPr>
              <a:t>▪  </a:t>
            </a:r>
            <a:r>
              <a:rPr sz="1600" b="0" i="0">
                <a:solidFill>
                  <a:srgbClr val="FFFFFF"/>
                </a:solidFill>
                <a:latin typeface="Barlow"/>
                <a:cs typeface="Barlow"/>
              </a:rPr>
              <a:t>What is in flight: ENGAGEMENT_LOG.md. What is wrong with the tool: FEEDBACK.md. Both generated, read them, never edit them.</a:t>
            </a:r>
          </a:p>
          <a:p>
            <a:pPr>
              <a:spcBef>
                <a:spcPts val="900"/>
              </a:spcBef>
            </a:pPr>
            <a:r>
              <a:rPr sz="1600" b="1" i="0">
                <a:solidFill>
                  <a:srgbClr val="31A4F3"/>
                </a:solidFill>
                <a:latin typeface="Barlow"/>
                <a:cs typeface="Barlow"/>
              </a:rPr>
              <a:t>▪  </a:t>
            </a:r>
            <a:r>
              <a:rPr sz="1600" b="0" i="0">
                <a:solidFill>
                  <a:srgbClr val="FFFFFF"/>
                </a:solidFill>
                <a:latin typeface="Barlow"/>
                <a:cs typeface="Barlow"/>
              </a:rPr>
              <a:t>Blocked on setup or access: Mike's calendar is open.</a:t>
            </a:r>
          </a:p>
          <a:p>
            <a:pPr>
              <a:spcBef>
                <a:spcPts val="1600"/>
              </a:spcBef>
            </a:pPr>
            <a:r>
              <a:rPr sz="1500" b="1" i="0">
                <a:solidFill>
                  <a:srgbClr val="41B946"/>
                </a:solidFill>
                <a:latin typeface="Montserrat"/>
                <a:cs typeface="Montserrat"/>
              </a:rPr>
              <a:t>The folder is the memory. You own what reaches the client.</a:t>
            </a:r>
          </a:p>
        </p:txBody>
      </p:sp>
      <p:sp>
        <p:nvSpPr>
          <p:cNvPr id="5" name="Rectangle 4"/>
          <p:cNvSpPr/>
          <p:nvPr/>
        </p:nvSpPr>
        <p:spPr>
          <a:xfrm>
            <a:off x="0" y="5760720"/>
            <a:ext cx="12191695" cy="1097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owercloud_Logo-01.png"/>
          <p:cNvPicPr>
            <a:picLocks noChangeAspect="1"/>
          </p:cNvPicPr>
          <p:nvPr/>
        </p:nvPicPr>
        <p:blipFill>
          <a:blip r:embed="rId2"/>
          <a:stretch>
            <a:fillRect/>
          </a:stretch>
        </p:blipFill>
        <p:spPr>
          <a:xfrm>
            <a:off x="10225833" y="5897880"/>
            <a:ext cx="1234341" cy="82296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41B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058400" cy="914400"/>
          </a:xfrm>
          <a:prstGeom prst="rect">
            <a:avLst/>
          </a:prstGeom>
          <a:noFill/>
        </p:spPr>
        <p:txBody>
          <a:bodyPr wrap="square" anchor="t" lIns="45720" rIns="45720" tIns="18288" bIns="18288">
            <a:spAutoFit/>
          </a:bodyPr>
          <a:lstStyle/>
          <a:p>
            <a:r>
              <a:rPr sz="6000" b="1" i="0">
                <a:solidFill>
                  <a:srgbClr val="31A4F3"/>
                </a:solidFill>
                <a:latin typeface="Montserrat"/>
                <a:cs typeface="Montserrat"/>
              </a:rPr>
              <a:t>A</a:t>
            </a:r>
          </a:p>
        </p:txBody>
      </p:sp>
      <p:sp>
        <p:nvSpPr>
          <p:cNvPr id="5" name="TextBox 4"/>
          <p:cNvSpPr txBox="1"/>
          <p:nvPr/>
        </p:nvSpPr>
        <p:spPr>
          <a:xfrm>
            <a:off x="914400" y="2651760"/>
            <a:ext cx="10058400" cy="2286000"/>
          </a:xfrm>
          <a:prstGeom prst="rect">
            <a:avLst/>
          </a:prstGeom>
          <a:noFill/>
        </p:spPr>
        <p:txBody>
          <a:bodyPr wrap="square" anchor="t" lIns="45720" rIns="45720" tIns="18288" bIns="18288">
            <a:spAutoFit/>
          </a:bodyPr>
          <a:lstStyle/>
          <a:p>
            <a:r>
              <a:rPr sz="4000" b="1" i="0">
                <a:solidFill>
                  <a:srgbClr val="FFFFFF"/>
                </a:solidFill>
                <a:latin typeface="Montserrat"/>
                <a:cs typeface="Montserrat"/>
              </a:rPr>
              <a:t>Appendix</a:t>
            </a:r>
          </a:p>
          <a:p>
            <a:pPr>
              <a:spcBef>
                <a:spcPts val="1400"/>
              </a:spcBef>
            </a:pPr>
            <a:r>
              <a:rPr sz="1800" b="0" i="0">
                <a:solidFill>
                  <a:srgbClr val="FFFFFF"/>
                </a:solidFill>
                <a:latin typeface="Barlow"/>
                <a:cs typeface="Barlow"/>
              </a:rPr>
              <a:t>Reference slides for the open floor and for reading later.</a:t>
            </a:r>
          </a:p>
        </p:txBody>
      </p:sp>
      <p:sp>
        <p:nvSpPr>
          <p:cNvPr id="6" name="Rounded Rectangle 5"/>
          <p:cNvSpPr/>
          <p:nvPr/>
        </p:nvSpPr>
        <p:spPr>
          <a:xfrm>
            <a:off x="9814255" y="5806440"/>
            <a:ext cx="201168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wercloud_Logo-01.png"/>
          <p:cNvPicPr>
            <a:picLocks noChangeAspect="1"/>
          </p:cNvPicPr>
          <p:nvPr/>
        </p:nvPicPr>
        <p:blipFill>
          <a:blip r:embed="rId2"/>
          <a:stretch>
            <a:fillRect/>
          </a:stretch>
        </p:blipFill>
        <p:spPr>
          <a:xfrm>
            <a:off x="9997135" y="5646376"/>
            <a:ext cx="1645920" cy="1097367"/>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menu, functions 1 to 6: what to say</a:t>
            </a:r>
          </a:p>
        </p:txBody>
      </p:sp>
      <p:graphicFrame>
        <p:nvGraphicFramePr>
          <p:cNvPr id="6" name="Table 5"/>
          <p:cNvGraphicFramePr>
            <a:graphicFrameLocks noGrp="1"/>
          </p:cNvGraphicFramePr>
          <p:nvPr/>
        </p:nvGraphicFramePr>
        <p:xfrm>
          <a:off x="640080" y="1417320"/>
          <a:ext cx="10881360" cy="4617718"/>
        </p:xfrm>
        <a:graphic>
          <a:graphicData uri="http://schemas.openxmlformats.org/drawingml/2006/table">
            <a:tbl>
              <a:tblPr firstRow="1" bandRow="0"/>
              <a:tblGrid>
                <a:gridCol w="2377440"/>
                <a:gridCol w="3840480"/>
                <a:gridCol w="4663440"/>
              </a:tblGrid>
              <a:tr h="659674">
                <a:tc>
                  <a:txBody>
                    <a:bodyPr/>
                    <a:lstStyle/>
                    <a:p>
                      <a:r>
                        <a:rPr sz="1200" b="1" i="0">
                          <a:solidFill>
                            <a:srgbClr val="FFFFFF"/>
                          </a:solidFill>
                          <a:latin typeface="Montserrat"/>
                          <a:cs typeface="Montserrat"/>
                        </a:rPr>
                        <a:t>Function</a:t>
                      </a:r>
                    </a:p>
                  </a:txBody>
                  <a:tcPr marL="91440" marR="91440" marT="36576" marB="36576" anchor="ctr">
                    <a:solidFill>
                      <a:srgbClr val="002F59"/>
                    </a:solidFill>
                  </a:tcPr>
                </a:tc>
                <a:tc>
                  <a:txBody>
                    <a:bodyPr/>
                    <a:lstStyle/>
                    <a:p>
                      <a:r>
                        <a:rPr sz="1200" b="1" i="0">
                          <a:solidFill>
                            <a:srgbClr val="FFFFFF"/>
                          </a:solidFill>
                          <a:latin typeface="Montserrat"/>
                          <a:cs typeface="Montserrat"/>
                        </a:rPr>
                        <a:t>When</a:t>
                      </a:r>
                    </a:p>
                  </a:txBody>
                  <a:tcPr marL="91440" marR="91440" marT="36576" marB="36576" anchor="ctr">
                    <a:solidFill>
                      <a:srgbClr val="002F59"/>
                    </a:solidFill>
                  </a:tcPr>
                </a:tc>
                <a:tc>
                  <a:txBody>
                    <a:bodyPr/>
                    <a:lstStyle/>
                    <a:p>
                      <a:r>
                        <a:rPr sz="1200" b="1" i="0">
                          <a:solidFill>
                            <a:srgbClr val="FFFFFF"/>
                          </a:solidFill>
                          <a:latin typeface="Montserrat"/>
                          <a:cs typeface="Montserrat"/>
                        </a:rPr>
                        <a:t>What you say</a:t>
                      </a:r>
                    </a:p>
                  </a:txBody>
                  <a:tcPr marL="91440" marR="91440" marT="36576" marB="36576" anchor="ctr">
                    <a:solidFill>
                      <a:srgbClr val="002F59"/>
                    </a:solidFill>
                  </a:tcPr>
                </a:tc>
              </a:tr>
              <a:tr h="659674">
                <a:tc>
                  <a:txBody>
                    <a:bodyPr/>
                    <a:lstStyle/>
                    <a:p>
                      <a:pPr>
                        <a:lnSpc>
                          <a:spcPct val="105000"/>
                        </a:lnSpc>
                      </a:pPr>
                      <a:r>
                        <a:rPr sz="1200" b="1" i="0">
                          <a:solidFill>
                            <a:srgbClr val="1E1E1E"/>
                          </a:solidFill>
                          <a:latin typeface="Barlow"/>
                          <a:cs typeface="Barlow"/>
                        </a:rPr>
                        <a:t>1. Set up a client</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No folder here yet; new client or first new work for an old one.</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"New client. Run session start."</a:t>
                      </a:r>
                    </a:p>
                  </a:txBody>
                  <a:tcPr marL="91440" marR="91440" marT="36576" marB="36576" anchor="ctr">
                    <a:solidFill>
                      <a:srgbClr val="EAF4FC"/>
                    </a:solidFill>
                  </a:tcPr>
                </a:tc>
              </a:tr>
              <a:tr h="659674">
                <a:tc>
                  <a:txBody>
                    <a:bodyPr/>
                    <a:lstStyle/>
                    <a:p>
                      <a:pPr>
                        <a:lnSpc>
                          <a:spcPct val="105000"/>
                        </a:lnSpc>
                      </a:pPr>
                      <a:r>
                        <a:rPr sz="1200" b="1" i="0">
                          <a:solidFill>
                            <a:srgbClr val="1E1E1E"/>
                          </a:solidFill>
                          <a:latin typeface="Barlow"/>
                          <a:cs typeface="Barlow"/>
                        </a:rPr>
                        <a:t>2. Prep a kickoff or onsite</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After the sales handoff, before you are in front of the client.</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"Prep me for the kickoff call, and draft the questions we should send in advance."</a:t>
                      </a:r>
                    </a:p>
                  </a:txBody>
                  <a:tcPr marL="91440" marR="91440" marT="36576" marB="36576" anchor="ctr">
                    <a:solidFill>
                      <a:srgbClr val="FFFFFF"/>
                    </a:solidFill>
                  </a:tcPr>
                </a:tc>
              </a:tr>
              <a:tr h="659674">
                <a:tc>
                  <a:txBody>
                    <a:bodyPr/>
                    <a:lstStyle/>
                    <a:p>
                      <a:pPr>
                        <a:lnSpc>
                          <a:spcPct val="105000"/>
                        </a:lnSpc>
                      </a:pPr>
                      <a:r>
                        <a:rPr sz="1200" b="1" i="0">
                          <a:solidFill>
                            <a:srgbClr val="1E1E1E"/>
                          </a:solidFill>
                          <a:latin typeface="Barlow"/>
                          <a:cs typeface="Barlow"/>
                        </a:rPr>
                        <a:t>3. Run the assessment</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Discovery sessions done, transcripts in source/.</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"The interviews are complete. Produce the handover docs."</a:t>
                      </a:r>
                    </a:p>
                  </a:txBody>
                  <a:tcPr marL="91440" marR="91440" marT="36576" marB="36576" anchor="ctr">
                    <a:solidFill>
                      <a:srgbClr val="EAF4FC"/>
                    </a:solidFill>
                  </a:tcPr>
                </a:tc>
              </a:tr>
              <a:tr h="659674">
                <a:tc>
                  <a:txBody>
                    <a:bodyPr/>
                    <a:lstStyle/>
                    <a:p>
                      <a:pPr>
                        <a:lnSpc>
                          <a:spcPct val="105000"/>
                        </a:lnSpc>
                      </a:pPr>
                      <a:r>
                        <a:rPr sz="1200" b="1" i="0">
                          <a:solidFill>
                            <a:srgbClr val="1E1E1E"/>
                          </a:solidFill>
                          <a:latin typeface="Barlow"/>
                          <a:cs typeface="Barlow"/>
                        </a:rPr>
                        <a:t>4. Execute approved work</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The client signed off; time to build.</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"Let's start execution. Work on tasks O2C.3 and W.1."</a:t>
                      </a:r>
                    </a:p>
                  </a:txBody>
                  <a:tcPr marL="91440" marR="91440" marT="36576" marB="36576" anchor="ctr">
                    <a:solidFill>
                      <a:srgbClr val="FFFFFF"/>
                    </a:solidFill>
                  </a:tcPr>
                </a:tc>
              </a:tr>
              <a:tr h="659674">
                <a:tc>
                  <a:txBody>
                    <a:bodyPr/>
                    <a:lstStyle/>
                    <a:p>
                      <a:pPr>
                        <a:lnSpc>
                          <a:spcPct val="105000"/>
                        </a:lnSpc>
                      </a:pPr>
                      <a:r>
                        <a:rPr sz="1200" b="1" i="0">
                          <a:solidFill>
                            <a:srgbClr val="1E1E1E"/>
                          </a:solidFill>
                          <a:latin typeface="Barlow"/>
                          <a:cs typeface="Barlow"/>
                        </a:rPr>
                        <a:t>5. Work a support ticket</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Ongoing clients, one-off fixes, the daily queue.</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"Pull the Asana task 'Price tag reprint bug' and plan the fix."</a:t>
                      </a:r>
                    </a:p>
                  </a:txBody>
                  <a:tcPr marL="91440" marR="91440" marT="36576" marB="36576" anchor="ctr">
                    <a:solidFill>
                      <a:srgbClr val="EAF4FC"/>
                    </a:solidFill>
                  </a:tcPr>
                </a:tc>
              </a:tr>
              <a:tr h="659674">
                <a:tc>
                  <a:txBody>
                    <a:bodyPr/>
                    <a:lstStyle/>
                    <a:p>
                      <a:pPr>
                        <a:lnSpc>
                          <a:spcPct val="105000"/>
                        </a:lnSpc>
                      </a:pPr>
                      <a:r>
                        <a:rPr sz="1200" b="1" i="0">
                          <a:solidFill>
                            <a:srgbClr val="1E1E1E"/>
                          </a:solidFill>
                          <a:latin typeface="Barlow"/>
                          <a:cs typeface="Barlow"/>
                        </a:rPr>
                        <a:t>6. Generate the exec summary</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Before every status call, on the client's cadence.</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"Run the weekly executive summary for Teppermans."</a:t>
                      </a:r>
                    </a:p>
                  </a:txBody>
                  <a:tcPr marL="91440" marR="91440" marT="36576" marB="36576" anchor="ctr">
                    <a:solidFill>
                      <a:srgbClr val="FFFFFF"/>
                    </a:solidFill>
                  </a:tcPr>
                </a:tc>
              </a:tr>
            </a:tbl>
          </a:graphicData>
        </a:graphic>
      </p:graphicFrame>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menu, functions 7 to 11</a:t>
            </a:r>
          </a:p>
        </p:txBody>
      </p:sp>
      <p:graphicFrame>
        <p:nvGraphicFramePr>
          <p:cNvPr id="6" name="Table 5"/>
          <p:cNvGraphicFramePr>
            <a:graphicFrameLocks noGrp="1"/>
          </p:cNvGraphicFramePr>
          <p:nvPr/>
        </p:nvGraphicFramePr>
        <p:xfrm>
          <a:off x="640080" y="1417320"/>
          <a:ext cx="10881360" cy="4617720"/>
        </p:xfrm>
        <a:graphic>
          <a:graphicData uri="http://schemas.openxmlformats.org/drawingml/2006/table">
            <a:tbl>
              <a:tblPr firstRow="1" bandRow="0"/>
              <a:tblGrid>
                <a:gridCol w="2377440"/>
                <a:gridCol w="4206240"/>
                <a:gridCol w="4297680"/>
              </a:tblGrid>
              <a:tr h="769620">
                <a:tc>
                  <a:txBody>
                    <a:bodyPr/>
                    <a:lstStyle/>
                    <a:p>
                      <a:r>
                        <a:rPr sz="1200" b="1" i="0">
                          <a:solidFill>
                            <a:srgbClr val="FFFFFF"/>
                          </a:solidFill>
                          <a:latin typeface="Montserrat"/>
                          <a:cs typeface="Montserrat"/>
                        </a:rPr>
                        <a:t>Function</a:t>
                      </a:r>
                    </a:p>
                  </a:txBody>
                  <a:tcPr marL="91440" marR="91440" marT="36576" marB="36576" anchor="ctr">
                    <a:solidFill>
                      <a:srgbClr val="002F59"/>
                    </a:solidFill>
                  </a:tcPr>
                </a:tc>
                <a:tc>
                  <a:txBody>
                    <a:bodyPr/>
                    <a:lstStyle/>
                    <a:p>
                      <a:r>
                        <a:rPr sz="1200" b="1" i="0">
                          <a:solidFill>
                            <a:srgbClr val="FFFFFF"/>
                          </a:solidFill>
                          <a:latin typeface="Montserrat"/>
                          <a:cs typeface="Montserrat"/>
                        </a:rPr>
                        <a:t>When</a:t>
                      </a:r>
                    </a:p>
                  </a:txBody>
                  <a:tcPr marL="91440" marR="91440" marT="36576" marB="36576" anchor="ctr">
                    <a:solidFill>
                      <a:srgbClr val="002F59"/>
                    </a:solidFill>
                  </a:tcPr>
                </a:tc>
                <a:tc>
                  <a:txBody>
                    <a:bodyPr/>
                    <a:lstStyle/>
                    <a:p>
                      <a:r>
                        <a:rPr sz="1200" b="1" i="0">
                          <a:solidFill>
                            <a:srgbClr val="FFFFFF"/>
                          </a:solidFill>
                          <a:latin typeface="Montserrat"/>
                          <a:cs typeface="Montserrat"/>
                        </a:rPr>
                        <a:t>What you say</a:t>
                      </a:r>
                    </a:p>
                  </a:txBody>
                  <a:tcPr marL="91440" marR="91440" marT="36576" marB="36576" anchor="ctr">
                    <a:solidFill>
                      <a:srgbClr val="002F59"/>
                    </a:solidFill>
                  </a:tcPr>
                </a:tc>
              </a:tr>
              <a:tr h="769620">
                <a:tc>
                  <a:txBody>
                    <a:bodyPr/>
                    <a:lstStyle/>
                    <a:p>
                      <a:pPr>
                        <a:lnSpc>
                          <a:spcPct val="105000"/>
                        </a:lnSpc>
                      </a:pPr>
                      <a:r>
                        <a:rPr sz="1200" b="1" i="0">
                          <a:solidFill>
                            <a:srgbClr val="1E1E1E"/>
                          </a:solidFill>
                          <a:latin typeface="Barlow"/>
                          <a:cs typeface="Barlow"/>
                        </a:rPr>
                        <a:t>7. Draft client communications</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Status updates, proceed-gates, billable-rework notices: wording with commercial weight. You send; it drafts.</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"Draft a billable-rework notice for the reprint change. Factual, not apologetic."</a:t>
                      </a:r>
                    </a:p>
                  </a:txBody>
                  <a:tcPr marL="91440" marR="91440" marT="36576" marB="36576" anchor="ctr">
                    <a:solidFill>
                      <a:srgbClr val="EAF4FC"/>
                    </a:solidFill>
                  </a:tcPr>
                </a:tc>
              </a:tr>
              <a:tr h="769620">
                <a:tc>
                  <a:txBody>
                    <a:bodyPr/>
                    <a:lstStyle/>
                    <a:p>
                      <a:pPr>
                        <a:lnSpc>
                          <a:spcPct val="105000"/>
                        </a:lnSpc>
                      </a:pPr>
                      <a:r>
                        <a:rPr sz="1200" b="1" i="0">
                          <a:solidFill>
                            <a:srgbClr val="1E1E1E"/>
                          </a:solidFill>
                          <a:latin typeface="Barlow"/>
                          <a:cs typeface="Barlow"/>
                        </a:rPr>
                        <a:t>8. Do data work</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Shopify or QuickBooks in the stack, or a migration on the table. Profile, design decisions, mapping spec, dry run, gated load.</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"They sent their item master export. Profile it and flag the design decisions before we map anything."</a:t>
                      </a:r>
                    </a:p>
                  </a:txBody>
                  <a:tcPr marL="91440" marR="91440" marT="36576" marB="36576" anchor="ctr">
                    <a:solidFill>
                      <a:srgbClr val="FFFFFF"/>
                    </a:solidFill>
                  </a:tcPr>
                </a:tc>
              </a:tr>
              <a:tr h="769620">
                <a:tc>
                  <a:txBody>
                    <a:bodyPr/>
                    <a:lstStyle/>
                    <a:p>
                      <a:pPr>
                        <a:lnSpc>
                          <a:spcPct val="105000"/>
                        </a:lnSpc>
                      </a:pPr>
                      <a:r>
                        <a:rPr sz="1200" b="1" i="0">
                          <a:solidFill>
                            <a:srgbClr val="1E1E1E"/>
                          </a:solidFill>
                          <a:latin typeface="Barlow"/>
                          <a:cs typeface="Barlow"/>
                        </a:rPr>
                        <a:t>9. Ask anything with full context</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Constantly. This is what folder-as-memory exists for.</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"Based on everything in this folder, what should I know before tomorrow's call with their CFO?"</a:t>
                      </a:r>
                    </a:p>
                  </a:txBody>
                  <a:tcPr marL="91440" marR="91440" marT="36576" marB="36576" anchor="ctr">
                    <a:solidFill>
                      <a:srgbClr val="EAF4FC"/>
                    </a:solidFill>
                  </a:tcPr>
                </a:tc>
              </a:tr>
              <a:tr h="769620">
                <a:tc>
                  <a:txBody>
                    <a:bodyPr/>
                    <a:lstStyle/>
                    <a:p>
                      <a:pPr>
                        <a:lnSpc>
                          <a:spcPct val="105000"/>
                        </a:lnSpc>
                      </a:pPr>
                      <a:r>
                        <a:rPr sz="1200" b="1" i="0">
                          <a:solidFill>
                            <a:srgbClr val="1E1E1E"/>
                          </a:solidFill>
                          <a:latin typeface="Barlow"/>
                          <a:cs typeface="Barlow"/>
                        </a:rPr>
                        <a:t>10. Close out and learn</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Finals shipped, phase done, or end of day.</a:t>
                      </a:r>
                    </a:p>
                  </a:txBody>
                  <a:tcPr marL="91440" marR="91440" marT="36576" marB="36576" anchor="ctr">
                    <a:solidFill>
                      <a:srgbClr val="FFFFFF"/>
                    </a:solidFill>
                  </a:tcPr>
                </a:tc>
                <a:tc>
                  <a:txBody>
                    <a:bodyPr/>
                    <a:lstStyle/>
                    <a:p>
                      <a:pPr>
                        <a:lnSpc>
                          <a:spcPct val="105000"/>
                        </a:lnSpc>
                      </a:pPr>
                      <a:r>
                        <a:rPr sz="1200" b="0" i="0">
                          <a:solidFill>
                            <a:srgbClr val="1E1E1E"/>
                          </a:solidFill>
                          <a:latin typeface="Barlow"/>
                          <a:cs typeface="Barlow"/>
                        </a:rPr>
                        <a:t>"Finals shipped. Run the retro."</a:t>
                      </a:r>
                    </a:p>
                  </a:txBody>
                  <a:tcPr marL="91440" marR="91440" marT="36576" marB="36576" anchor="ctr">
                    <a:solidFill>
                      <a:srgbClr val="FFFFFF"/>
                    </a:solidFill>
                  </a:tcPr>
                </a:tc>
              </a:tr>
              <a:tr h="769620">
                <a:tc>
                  <a:txBody>
                    <a:bodyPr/>
                    <a:lstStyle/>
                    <a:p>
                      <a:pPr>
                        <a:lnSpc>
                          <a:spcPct val="105000"/>
                        </a:lnSpc>
                      </a:pPr>
                      <a:r>
                        <a:rPr sz="1200" b="1" i="0">
                          <a:solidFill>
                            <a:srgbClr val="1E1E1E"/>
                          </a:solidFill>
                          <a:latin typeface="Barlow"/>
                          <a:cs typeface="Barlow"/>
                        </a:rPr>
                        <a:t>11. Tell us the tool got in your way</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The moment it happens. The annoyance is forgotten by end of day.</a:t>
                      </a:r>
                    </a:p>
                  </a:txBody>
                  <a:tcPr marL="91440" marR="91440" marT="36576" marB="36576" anchor="ctr">
                    <a:solidFill>
                      <a:srgbClr val="EAF4FC"/>
                    </a:solidFill>
                  </a:tcPr>
                </a:tc>
                <a:tc>
                  <a:txBody>
                    <a:bodyPr/>
                    <a:lstStyle/>
                    <a:p>
                      <a:pPr>
                        <a:lnSpc>
                          <a:spcPct val="105000"/>
                        </a:lnSpc>
                      </a:pPr>
                      <a:r>
                        <a:rPr sz="1200" b="0" i="0">
                          <a:solidFill>
                            <a:srgbClr val="1E1E1E"/>
                          </a:solidFill>
                          <a:latin typeface="Barlow"/>
                          <a:cs typeface="Barlow"/>
                        </a:rPr>
                        <a:t>"Log this as feedback."  or  /feedback</a:t>
                      </a:r>
                    </a:p>
                  </a:txBody>
                  <a:tcPr marL="91440" marR="91440" marT="36576" marB="36576" anchor="ctr">
                    <a:solidFill>
                      <a:srgbClr val="EAF4FC"/>
                    </a:solidFill>
                  </a:tcPr>
                </a:tc>
              </a:tr>
            </a:tbl>
          </a:graphicData>
        </a:graphic>
      </p:graphicFrame>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Session habits that separate the people who get a lot out of it</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One task, one session.</a:t>
            </a:r>
            <a:r>
              <a:rPr sz="1450" b="0" i="0">
                <a:solidFill>
                  <a:srgbClr val="1E1E1E"/>
                </a:solidFill>
                <a:latin typeface="Barlow"/>
                <a:cs typeface="Barlow"/>
              </a:rPr>
              <a:t> Files always survive; clearing erases conversation memory, never work.</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Name your sessions</a:t>
            </a:r>
            <a:r>
              <a:rPr sz="1450" b="0" i="0">
                <a:solidFill>
                  <a:srgbClr val="1E1E1E"/>
                </a:solidFill>
                <a:latin typeface="Barlow"/>
                <a:cs typeface="Barlow"/>
              </a:rPr>
              <a:t> and </a:t>
            </a:r>
            <a:r>
              <a:rPr sz="1450" b="1" i="0">
                <a:solidFill>
                  <a:srgbClr val="1E1E1E"/>
                </a:solidFill>
                <a:latin typeface="Barlow"/>
                <a:cs typeface="Barlow"/>
              </a:rPr>
              <a:t>run several at once</a:t>
            </a:r>
            <a:r>
              <a:rPr sz="1450" b="0" i="0">
                <a:solidFill>
                  <a:srgbClr val="1E1E1E"/>
                </a:solidFill>
                <a:latin typeface="Barlow"/>
                <a:cs typeface="Barlow"/>
              </a:rPr>
              <a:t>: different clients, one task each. Named sessions are what make that manageable.</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Brainstorm and plan together first.</a:t>
            </a:r>
            <a:r>
              <a:rPr sz="1450" b="0" i="0">
                <a:solidFill>
                  <a:srgbClr val="1E1E1E"/>
                </a:solidFill>
                <a:latin typeface="Barlow"/>
                <a:cs typeface="Barlow"/>
              </a:rPr>
              <a:t> Talk through the problem, challenge its approach, let it interview you. Your judgment matters most in the plan.</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Then give it a chunk and walk away.</a:t>
            </a:r>
            <a:r>
              <a:rPr sz="1450" b="0" i="0">
                <a:solidFill>
                  <a:srgbClr val="1E1E1E"/>
                </a:solidFill>
                <a:latin typeface="Barlow"/>
                <a:cs typeface="Barlow"/>
              </a:rPr>
              <a:t> "I'm away for two hours; work the plan, and where you'd normally ask me, use your best judgment and log the decision." Never watch it type; waiting is not billable.</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Correct it out loud</a:t>
            </a:r>
            <a:r>
              <a:rPr sz="1450" b="0" i="0">
                <a:solidFill>
                  <a:srgbClr val="1E1E1E"/>
                </a:solidFill>
                <a:latin typeface="Barlow"/>
                <a:cs typeface="Barlow"/>
              </a:rPr>
              <a:t> and tell it to remember. That is how a correction becomes a rule instead of next week's repeat.</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Read everything before you trust it.</a:t>
            </a:r>
            <a:r>
              <a:rPr sz="1450" b="0" i="0">
                <a:solidFill>
                  <a:srgbClr val="1E1E1E"/>
                </a:solidFill>
                <a:latin typeface="Barlow"/>
                <a:cs typeface="Barlow"/>
              </a:rPr>
              <a:t> Polished output at speed is exactly what makes skipping review tempting. When a guardrail prompt appears, read it.</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Asking in a way that gets honest answers</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500" b="1" i="0">
                <a:solidFill>
                  <a:srgbClr val="31A4F3"/>
                </a:solidFill>
                <a:latin typeface="Barlow"/>
                <a:cs typeface="Barlow"/>
              </a:rPr>
              <a:t>▪  </a:t>
            </a:r>
            <a:r>
              <a:rPr sz="1500" b="1" i="0">
                <a:solidFill>
                  <a:srgbClr val="1E1E1E"/>
                </a:solidFill>
                <a:latin typeface="Barlow"/>
                <a:cs typeface="Barlow"/>
              </a:rPr>
              <a:t>Context without leading.</a:t>
            </a:r>
            <a:r>
              <a:rPr sz="1500" b="0" i="0">
                <a:solidFill>
                  <a:srgbClr val="1E1E1E"/>
                </a:solidFill>
                <a:latin typeface="Barlow"/>
                <a:cs typeface="Barlow"/>
              </a:rPr>
              <a:t> Give everything you know, but not your preferred answer. Once your idea is in the prompt, the objectivity is gone.</a:t>
            </a:r>
          </a:p>
          <a:p>
            <a:pPr>
              <a:lnSpc>
                <a:spcPct val="106000"/>
              </a:lnSpc>
              <a:spcAft>
                <a:spcPts val="800"/>
              </a:spcAft>
            </a:pPr>
            <a:r>
              <a:rPr sz="1500" b="1" i="0">
                <a:solidFill>
                  <a:srgbClr val="31A4F3"/>
                </a:solidFill>
                <a:latin typeface="Barlow"/>
                <a:cs typeface="Barlow"/>
              </a:rPr>
              <a:t>▪  </a:t>
            </a:r>
            <a:r>
              <a:rPr sz="1500" b="1" i="0">
                <a:solidFill>
                  <a:srgbClr val="1E1E1E"/>
                </a:solidFill>
                <a:latin typeface="Barlow"/>
                <a:cs typeface="Barlow"/>
              </a:rPr>
              <a:t>Current state before design.</a:t>
            </a:r>
            <a:r>
              <a:rPr sz="1500" b="0" i="0">
                <a:solidFill>
                  <a:srgbClr val="1E1E1E"/>
                </a:solidFill>
                <a:latin typeface="Barlow"/>
                <a:cs typeface="Barlow"/>
              </a:rPr>
              <a:t> Make it explain how the thing works today before it proposes anything.</a:t>
            </a:r>
          </a:p>
          <a:p>
            <a:pPr>
              <a:lnSpc>
                <a:spcPct val="106000"/>
              </a:lnSpc>
              <a:spcAft>
                <a:spcPts val="800"/>
              </a:spcAft>
            </a:pPr>
            <a:r>
              <a:rPr sz="1500" b="1" i="0">
                <a:solidFill>
                  <a:srgbClr val="31A4F3"/>
                </a:solidFill>
                <a:latin typeface="Barlow"/>
                <a:cs typeface="Barlow"/>
              </a:rPr>
              <a:t>▪  </a:t>
            </a:r>
            <a:r>
              <a:rPr sz="1500" b="1" i="0">
                <a:solidFill>
                  <a:srgbClr val="1E1E1E"/>
                </a:solidFill>
                <a:latin typeface="Barlow"/>
                <a:cs typeface="Barlow"/>
              </a:rPr>
              <a:t>"What's your source?"</a:t>
            </a:r>
            <a:r>
              <a:rPr sz="1500" b="0" i="0">
                <a:solidFill>
                  <a:srgbClr val="1E1E1E"/>
                </a:solidFill>
                <a:latin typeface="Barlow"/>
                <a:cs typeface="Barlow"/>
              </a:rPr>
              <a:t> for any claim that smells off. Never "are you sure?", which just invites an apologetic reversal.</a:t>
            </a:r>
          </a:p>
          <a:p>
            <a:pPr>
              <a:lnSpc>
                <a:spcPct val="106000"/>
              </a:lnSpc>
              <a:spcAft>
                <a:spcPts val="800"/>
              </a:spcAft>
            </a:pPr>
            <a:r>
              <a:rPr sz="1500" b="1" i="0">
                <a:solidFill>
                  <a:srgbClr val="31A4F3"/>
                </a:solidFill>
                <a:latin typeface="Barlow"/>
                <a:cs typeface="Barlow"/>
              </a:rPr>
              <a:t>▪  </a:t>
            </a:r>
            <a:r>
              <a:rPr sz="1500" b="1" i="0">
                <a:solidFill>
                  <a:srgbClr val="1E1E1E"/>
                </a:solidFill>
                <a:latin typeface="Barlow"/>
                <a:cs typeface="Barlow"/>
              </a:rPr>
              <a:t>Do not hand it the escape hatch.</a:t>
            </a:r>
            <a:r>
              <a:rPr sz="1500" b="0" i="0">
                <a:solidFill>
                  <a:srgbClr val="1E1E1E"/>
                </a:solidFill>
                <a:latin typeface="Barlow"/>
                <a:cs typeface="Barlow"/>
              </a:rPr>
              <a:t> Say "we can always check with the customer" and it will take that exit instead of reasoning. Make it commit; you decide afterward whether the client weighs in.</a:t>
            </a:r>
          </a:p>
          <a:p>
            <a:pPr>
              <a:lnSpc>
                <a:spcPct val="106000"/>
              </a:lnSpc>
              <a:spcAft>
                <a:spcPts val="800"/>
              </a:spcAft>
            </a:pPr>
            <a:r>
              <a:rPr sz="1500" b="1" i="0">
                <a:solidFill>
                  <a:srgbClr val="31A4F3"/>
                </a:solidFill>
                <a:latin typeface="Barlow"/>
                <a:cs typeface="Barlow"/>
              </a:rPr>
              <a:t>▪  </a:t>
            </a:r>
            <a:r>
              <a:rPr sz="1500" b="1" i="0">
                <a:solidFill>
                  <a:srgbClr val="1E1E1E"/>
                </a:solidFill>
                <a:latin typeface="Barlow"/>
                <a:cs typeface="Barlow"/>
              </a:rPr>
              <a:t>Steelman the alternative.</a:t>
            </a:r>
            <a:r>
              <a:rPr sz="1500" b="0" i="0">
                <a:solidFill>
                  <a:srgbClr val="1E1E1E"/>
                </a:solidFill>
                <a:latin typeface="Barlow"/>
                <a:cs typeface="Barlow"/>
              </a:rPr>
              <a:t> After it proposes one approach, ask for the strongest case for a completely different one.</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For the developers in the room</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350" b="1" i="0">
                <a:solidFill>
                  <a:srgbClr val="31A4F3"/>
                </a:solidFill>
                <a:latin typeface="Barlow"/>
                <a:cs typeface="Barlow"/>
              </a:rPr>
              <a:t>▪  </a:t>
            </a:r>
            <a:r>
              <a:rPr sz="1350" b="0" i="0">
                <a:solidFill>
                  <a:srgbClr val="1E1E1E"/>
                </a:solidFill>
                <a:latin typeface="Barlow"/>
                <a:cs typeface="Barlow"/>
              </a:rPr>
              <a:t>Same folder, same guardrails. Build work lives in {Client}/execution/, sandbox first, SDF objects by default because they are versioned, diffable and revertible.</a:t>
            </a:r>
          </a:p>
          <a:p>
            <a:pPr>
              <a:lnSpc>
                <a:spcPct val="106000"/>
              </a:lnSpc>
              <a:spcAft>
                <a:spcPts val="800"/>
              </a:spcAft>
            </a:pPr>
            <a:r>
              <a:rPr sz="1350" b="1" i="0">
                <a:solidFill>
                  <a:srgbClr val="31A4F3"/>
                </a:solidFill>
                <a:latin typeface="Barlow"/>
                <a:cs typeface="Barlow"/>
              </a:rPr>
              <a:t>▪  </a:t>
            </a:r>
            <a:r>
              <a:rPr sz="1350" b="1" i="0">
                <a:solidFill>
                  <a:srgbClr val="1E1E1E"/>
                </a:solidFill>
                <a:latin typeface="Barlow"/>
                <a:cs typeface="Barlow"/>
              </a:rPr>
              <a:t>sdf-scaffold</a:t>
            </a:r>
            <a:r>
              <a:rPr sz="1350" b="0" i="0">
                <a:solidFill>
                  <a:srgbClr val="1E1E1E"/>
                </a:solidFill>
                <a:latin typeface="Barlow"/>
                <a:cs typeface="Barlow"/>
              </a:rPr>
              <a:t> stands up a SuiteCloud project to house standards; </a:t>
            </a:r>
            <a:r>
              <a:rPr sz="1350" b="1" i="0">
                <a:solidFill>
                  <a:srgbClr val="1E1E1E"/>
                </a:solidFill>
                <a:latin typeface="Barlow"/>
                <a:cs typeface="Barlow"/>
              </a:rPr>
              <a:t>sdf-deploy</a:t>
            </a:r>
            <a:r>
              <a:rPr sz="1350" b="0" i="0">
                <a:solidFill>
                  <a:srgbClr val="1E1E1E"/>
                </a:solidFill>
                <a:latin typeface="Barlow"/>
                <a:cs typeface="Barlow"/>
              </a:rPr>
              <a:t> validates and deploys with the account identity check and the two gates. SDF deploys on its own token, separate from the MCP connection.</a:t>
            </a:r>
          </a:p>
          <a:p>
            <a:pPr>
              <a:lnSpc>
                <a:spcPct val="106000"/>
              </a:lnSpc>
              <a:spcAft>
                <a:spcPts val="800"/>
              </a:spcAft>
            </a:pPr>
            <a:r>
              <a:rPr sz="1350" b="1" i="0">
                <a:solidFill>
                  <a:srgbClr val="31A4F3"/>
                </a:solidFill>
                <a:latin typeface="Barlow"/>
                <a:cs typeface="Barlow"/>
              </a:rPr>
              <a:t>▪  </a:t>
            </a:r>
            <a:r>
              <a:rPr sz="1350" b="1" i="0">
                <a:solidFill>
                  <a:srgbClr val="1E1E1E"/>
                </a:solidFill>
                <a:latin typeface="Barlow"/>
                <a:cs typeface="Barlow"/>
              </a:rPr>
              <a:t>ScriptReader</a:t>
            </a:r>
            <a:r>
              <a:rPr sz="1350" b="0" i="0">
                <a:solidFill>
                  <a:srgbClr val="1E1E1E"/>
                </a:solidFill>
                <a:latin typeface="Barlow"/>
                <a:cs typeface="Barlow"/>
              </a:rPr>
              <a:t>: four read-only tools (readScriptSource, listScripts, getScriptDeployments, readFile) plus the standardized MCP connection role. Standard install on every engagement, with the client's go-ahead, never deployed without it.</a:t>
            </a:r>
          </a:p>
          <a:p>
            <a:pPr>
              <a:lnSpc>
                <a:spcPct val="106000"/>
              </a:lnSpc>
              <a:spcAft>
                <a:spcPts val="800"/>
              </a:spcAft>
            </a:pPr>
            <a:r>
              <a:rPr sz="1350" b="1" i="0">
                <a:solidFill>
                  <a:srgbClr val="31A4F3"/>
                </a:solidFill>
                <a:latin typeface="Barlow"/>
                <a:cs typeface="Barlow"/>
              </a:rPr>
              <a:t>▪  </a:t>
            </a:r>
            <a:r>
              <a:rPr sz="1350" b="0" i="0">
                <a:solidFill>
                  <a:srgbClr val="1E1E1E"/>
                </a:solidFill>
                <a:latin typeface="Barlow"/>
                <a:cs typeface="Barlow"/>
              </a:rPr>
              <a:t>Any net-new script, application or integration owes a </a:t>
            </a:r>
            <a:r>
              <a:rPr sz="1350" b="1" i="0">
                <a:solidFill>
                  <a:srgbClr val="1E1E1E"/>
                </a:solidFill>
                <a:latin typeface="Barlow"/>
                <a:cs typeface="Barlow"/>
              </a:rPr>
              <a:t>Use Case</a:t>
            </a:r>
            <a:r>
              <a:rPr sz="1350" b="0" i="0">
                <a:solidFill>
                  <a:srgbClr val="1E1E1E"/>
                </a:solidFill>
                <a:latin typeface="Barlow"/>
                <a:cs typeface="Barlow"/>
              </a:rPr>
              <a:t> before build and an </a:t>
            </a:r>
            <a:r>
              <a:rPr sz="1350" b="1" i="0">
                <a:solidFill>
                  <a:srgbClr val="1E1E1E"/>
                </a:solidFill>
                <a:latin typeface="Barlow"/>
                <a:cs typeface="Barlow"/>
              </a:rPr>
              <a:t>FDD &amp; TDD</a:t>
            </a:r>
            <a:r>
              <a:rPr sz="1350" b="0" i="0">
                <a:solidFill>
                  <a:srgbClr val="1E1E1E"/>
                </a:solidFill>
                <a:latin typeface="Barlow"/>
                <a:cs typeface="Barlow"/>
              </a:rPr>
              <a:t> handover at ship. The customization-docs skill writes both, from any engagement type.</a:t>
            </a:r>
          </a:p>
          <a:p>
            <a:pPr>
              <a:lnSpc>
                <a:spcPct val="106000"/>
              </a:lnSpc>
              <a:spcAft>
                <a:spcPts val="800"/>
              </a:spcAft>
            </a:pPr>
            <a:r>
              <a:rPr sz="1350" b="1" i="0">
                <a:solidFill>
                  <a:srgbClr val="31A4F3"/>
                </a:solidFill>
                <a:latin typeface="Barlow"/>
                <a:cs typeface="Barlow"/>
              </a:rPr>
              <a:t>▪  </a:t>
            </a:r>
            <a:r>
              <a:rPr sz="1350" b="1" i="0">
                <a:solidFill>
                  <a:srgbClr val="1E1E1E"/>
                </a:solidFill>
                <a:latin typeface="Barlow"/>
                <a:cs typeface="Barlow"/>
              </a:rPr>
              <a:t>Dev review.</a:t>
            </a:r>
            <a:r>
              <a:rPr sz="1350" b="0" i="0">
                <a:solidFill>
                  <a:srgbClr val="1E1E1E"/>
                </a:solidFill>
                <a:latin typeface="Barlow"/>
                <a:cs typeface="Barlow"/>
              </a:rPr>
              <a:t> Scripted work gets a build-quality review before it returns to the consultant for testing. Policy now, tooling to follow.</a:t>
            </a:r>
          </a:p>
          <a:p>
            <a:pPr>
              <a:lnSpc>
                <a:spcPct val="106000"/>
              </a:lnSpc>
              <a:spcAft>
                <a:spcPts val="800"/>
              </a:spcAft>
            </a:pPr>
            <a:r>
              <a:rPr sz="1350" b="1" i="0">
                <a:solidFill>
                  <a:srgbClr val="31A4F3"/>
                </a:solidFill>
                <a:latin typeface="Barlow"/>
                <a:cs typeface="Barlow"/>
              </a:rPr>
              <a:t>▪  </a:t>
            </a:r>
            <a:r>
              <a:rPr sz="1350" b="1" i="0">
                <a:solidFill>
                  <a:srgbClr val="1E1E1E"/>
                </a:solidFill>
                <a:latin typeface="Barlow"/>
                <a:cs typeface="Barlow"/>
              </a:rPr>
              <a:t>Celigo</a:t>
            </a:r>
            <a:r>
              <a:rPr sz="1350" b="0" i="0">
                <a:solidFill>
                  <a:srgbClr val="1E1E1E"/>
                </a:solidFill>
                <a:latin typeface="Barlow"/>
                <a:cs typeface="Barlow"/>
              </a:rPr>
              <a:t> has its own skill: read-only flow inventory in discovery, error triage, and flow changes under the production gate. Shopify's own seventeen skills are installed rather than rewritten.</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Gotchas and quick fixes</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Paths</a:t>
            </a:r>
            <a:r>
              <a:rPr sz="1400" b="0" i="0">
                <a:solidFill>
                  <a:srgbClr val="1E1E1E"/>
                </a:solidFill>
                <a:latin typeface="Barlow"/>
                <a:cs typeface="Barlow"/>
              </a:rPr>
              <a:t>: quote them; the workspace path has spaces.</a:t>
            </a:r>
          </a:p>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File looks empty</a:t>
            </a:r>
            <a:r>
              <a:rPr sz="1400" b="0" i="0">
                <a:solidFill>
                  <a:srgbClr val="1E1E1E"/>
                </a:solidFill>
                <a:latin typeface="Barlow"/>
                <a:cs typeface="Barlow"/>
              </a:rPr>
              <a:t>: Drive has not synced. Right-click, "Available offline".</a:t>
            </a:r>
          </a:p>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python or git not recognized</a:t>
            </a:r>
            <a:r>
              <a:rPr sz="1400" b="0" i="0">
                <a:solidFill>
                  <a:srgbClr val="1E1E1E"/>
                </a:solidFill>
                <a:latin typeface="Barlow"/>
                <a:cs typeface="Barlow"/>
              </a:rPr>
              <a:t>: PATH issue; new PowerShell window or reinstall with the PATH box checked.</a:t>
            </a:r>
          </a:p>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Wrong fonts in a render</a:t>
            </a:r>
            <a:r>
              <a:rPr sz="1400" b="0" i="0">
                <a:solidFill>
                  <a:srgbClr val="1E1E1E"/>
                </a:solidFill>
                <a:latin typeface="Barlow"/>
                <a:cs typeface="Barlow"/>
              </a:rPr>
              <a:t>: fonts installed per-user only. Install for all users; the variable Montserrat font substitutes unreliably, use the static weights.</a:t>
            </a:r>
          </a:p>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Wrong NetSuite account</a:t>
            </a:r>
            <a:r>
              <a:rPr sz="1400" b="0" i="0">
                <a:solidFill>
                  <a:srgbClr val="1E1E1E"/>
                </a:solidFill>
                <a:latin typeface="Barlow"/>
                <a:cs typeface="Barlow"/>
              </a:rPr>
              <a:t>: Claude stops and asks. Do not override; fix the connection.</a:t>
            </a:r>
          </a:p>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Sandbox looks quiet</a:t>
            </a:r>
            <a:r>
              <a:rPr sz="1400" b="0" i="0">
                <a:solidFill>
                  <a:srgbClr val="1E1E1E"/>
                </a:solidFill>
                <a:latin typeface="Barlow"/>
                <a:cs typeface="Barlow"/>
              </a:rPr>
              <a:t>: sandbox data is frozen at the last refresh. Not evidence of a production problem.</a:t>
            </a:r>
          </a:p>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Never put client data in a web search.</a:t>
            </a:r>
            <a:r>
              <a:rPr sz="1400" b="0" i="0">
                <a:solidFill>
                  <a:srgbClr val="1E1E1E"/>
                </a:solidFill>
                <a:latin typeface="Barlow"/>
                <a:cs typeface="Barlow"/>
              </a:rPr>
              <a:t> Public identity (their website, history) is fine and expected; account data, configs and financials are not.</a:t>
            </a:r>
          </a:p>
          <a:p>
            <a:pPr>
              <a:lnSpc>
                <a:spcPct val="106000"/>
              </a:lnSpc>
              <a:spcAft>
                <a:spcPts val="800"/>
              </a:spcAft>
            </a:pPr>
            <a:r>
              <a:rPr sz="1400" b="1" i="0">
                <a:solidFill>
                  <a:srgbClr val="31A4F3"/>
                </a:solidFill>
                <a:latin typeface="Barlow"/>
                <a:cs typeface="Barlow"/>
              </a:rPr>
              <a:t>▪  </a:t>
            </a:r>
            <a:r>
              <a:rPr sz="1400" b="1" i="0">
                <a:solidFill>
                  <a:srgbClr val="1E1E1E"/>
                </a:solidFill>
                <a:latin typeface="Barlow"/>
                <a:cs typeface="Barlow"/>
              </a:rPr>
              <a:t>Usage limit reached</a:t>
            </a:r>
            <a:r>
              <a:rPr sz="1400" b="0" i="0">
                <a:solidFill>
                  <a:srgbClr val="1E1E1E"/>
                </a:solidFill>
                <a:latin typeface="Barlow"/>
                <a:cs typeface="Barlow"/>
              </a:rPr>
              <a:t>: tell Mike. Not a failure; it is how seat sizes get right-sized.</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2F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91440"/>
          </a:xfrm>
          <a:prstGeom prst="rect">
            <a:avLst/>
          </a:prstGeom>
          <a:solidFill>
            <a:srgbClr val="31A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868680"/>
          </a:xfrm>
          <a:prstGeom prst="rect">
            <a:avLst/>
          </a:prstGeom>
          <a:noFill/>
        </p:spPr>
        <p:txBody>
          <a:bodyPr wrap="square" anchor="ctr" lIns="45720" rIns="45720" tIns="18288" bIns="18288">
            <a:spAutoFit/>
          </a:bodyPr>
          <a:lstStyle/>
          <a:p>
            <a:r>
              <a:rPr sz="2600" b="1" i="0">
                <a:solidFill>
                  <a:srgbClr val="FFFFFF"/>
                </a:solidFill>
                <a:latin typeface="Montserrat"/>
                <a:cs typeface="Montserrat"/>
              </a:rPr>
              <a:t>The rules that never bend</a:t>
            </a:r>
          </a:p>
        </p:txBody>
      </p:sp>
      <p:sp>
        <p:nvSpPr>
          <p:cNvPr id="6" name="TextBox 5"/>
          <p:cNvSpPr txBox="1"/>
          <p:nvPr/>
        </p:nvSpPr>
        <p:spPr>
          <a:xfrm>
            <a:off x="640080" y="1371600"/>
            <a:ext cx="10881360" cy="4572000"/>
          </a:xfrm>
          <a:prstGeom prst="rect">
            <a:avLst/>
          </a:prstGeom>
          <a:noFill/>
        </p:spPr>
        <p:txBody>
          <a:bodyPr wrap="square" anchor="t" lIns="45720" rIns="45720" tIns="18288" bIns="18288">
            <a:spAutoFit/>
          </a:bodyPr>
          <a:lstStyle/>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1. Read-only during discovery.</a:t>
            </a:r>
            <a:r>
              <a:rPr sz="1450" b="0" i="0">
                <a:solidFill>
                  <a:srgbClr val="1E1E1E"/>
                </a:solidFill>
                <a:latin typeface="Barlow"/>
                <a:cs typeface="Barlow"/>
              </a:rPr>
              <a:t> No writes to any client system during assessment or discovery. Writes happen in execution, sandbox first, human-gated.</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2. No production write ever happens silently.</a:t>
            </a:r>
            <a:r>
              <a:rPr sz="1450" b="0" i="0">
                <a:solidFill>
                  <a:srgbClr val="1E1E1E"/>
                </a:solidFill>
                <a:latin typeface="Barlow"/>
                <a:cs typeface="Barlow"/>
              </a:rPr>
              <a:t> Every prod write forces an explicit confirmation. During discovery, the answer is decline.</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3. Credentials never touch this Drive.</a:t>
            </a:r>
            <a:r>
              <a:rPr sz="1450" b="0" i="0">
                <a:solidFill>
                  <a:srgbClr val="1E1E1E"/>
                </a:solidFill>
                <a:latin typeface="Barlow"/>
                <a:cs typeface="Barlow"/>
              </a:rPr>
              <a:t> Tokens and secrets live on the connection holder's machine.</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4. Everything client-facing gets human eyes before it ships.</a:t>
            </a:r>
            <a:r>
              <a:rPr sz="1450" b="0" i="0">
                <a:solidFill>
                  <a:srgbClr val="1E1E1E"/>
                </a:solidFill>
                <a:latin typeface="Barlow"/>
                <a:cs typeface="Barlow"/>
              </a:rPr>
              <a:t> You own what you send.</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5. LOE numbers are commercially binding once sent.</a:t>
            </a:r>
            <a:r>
              <a:rPr sz="1450" b="0" i="0">
                <a:solidFill>
                  <a:srgbClr val="1E1E1E"/>
                </a:solidFill>
                <a:latin typeface="Barlow"/>
                <a:cs typeface="Barlow"/>
              </a:rPr>
              <a:t> Claude drafts them, a human owns them, line by line.</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6. Consent is a record.</a:t>
            </a:r>
            <a:r>
              <a:rPr sz="1450" b="0" i="0">
                <a:solidFill>
                  <a:srgbClr val="1E1E1E"/>
                </a:solidFill>
                <a:latin typeface="Barlow"/>
                <a:cs typeface="Barlow"/>
              </a:rPr>
              <a:t> AI/MCP disclosure, installs and write authorizations get logged in CONTEXT.md with dates.</a:t>
            </a:r>
          </a:p>
          <a:p>
            <a:pPr>
              <a:lnSpc>
                <a:spcPct val="106000"/>
              </a:lnSpc>
              <a:spcAft>
                <a:spcPts val="800"/>
              </a:spcAft>
            </a:pPr>
            <a:r>
              <a:rPr sz="1450" b="1" i="0">
                <a:solidFill>
                  <a:srgbClr val="31A4F3"/>
                </a:solidFill>
                <a:latin typeface="Barlow"/>
                <a:cs typeface="Barlow"/>
              </a:rPr>
              <a:t>▪  </a:t>
            </a:r>
            <a:r>
              <a:rPr sz="1450" b="1" i="0">
                <a:solidFill>
                  <a:srgbClr val="1E1E1E"/>
                </a:solidFill>
                <a:latin typeface="Barlow"/>
                <a:cs typeface="Barlow"/>
              </a:rPr>
              <a:t>7. Check before create.</a:t>
            </a:r>
            <a:r>
              <a:rPr sz="1450" b="0" i="0">
                <a:solidFill>
                  <a:srgbClr val="1E1E1E"/>
                </a:solidFill>
                <a:latin typeface="Barlow"/>
                <a:cs typeface="Barlow"/>
              </a:rPr>
              <a:t> Folders, Asana projects, email groups: look for the existing one first.</a:t>
            </a:r>
          </a:p>
        </p:txBody>
      </p:sp>
      <p:sp>
        <p:nvSpPr>
          <p:cNvPr id="7" name="Rectangle 6"/>
          <p:cNvSpPr/>
          <p:nvPr/>
        </p:nvSpPr>
        <p:spPr>
          <a:xfrm>
            <a:off x="0" y="6473952"/>
            <a:ext cx="12191695" cy="384048"/>
          </a:xfrm>
          <a:prstGeom prst="rect">
            <a:avLst/>
          </a:prstGeom>
          <a:solidFill>
            <a:srgbClr val="EA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601200" cy="384048"/>
          </a:xfrm>
          <a:prstGeom prst="rect">
            <a:avLst/>
          </a:prstGeom>
          <a:noFill/>
        </p:spPr>
        <p:txBody>
          <a:bodyPr wrap="square" anchor="ctr" lIns="45720" rIns="45720" tIns="18288" bIns="18288">
            <a:spAutoFit/>
          </a:bodyPr>
          <a:lstStyle/>
          <a:p>
            <a:r>
              <a:rPr sz="850" b="0" i="0">
                <a:solidFill>
                  <a:srgbClr val="707070"/>
                </a:solidFill>
                <a:latin typeface="Barlow"/>
                <a:cs typeface="Barlow"/>
              </a:rPr>
              <a:t>Power Cloud Consulting   |   PowerCloud roll out, all-hands, September 3, 2026   |   Internal</a:t>
            </a:r>
          </a:p>
        </p:txBody>
      </p:sp>
      <p:sp>
        <p:nvSpPr>
          <p:cNvPr id="9" name="TextBox 8"/>
          <p:cNvSpPr txBox="1"/>
          <p:nvPr/>
        </p:nvSpPr>
        <p:spPr>
          <a:xfrm>
            <a:off x="11094415" y="6473952"/>
            <a:ext cx="640080" cy="384048"/>
          </a:xfrm>
          <a:prstGeom prst="rect">
            <a:avLst/>
          </a:prstGeom>
          <a:noFill/>
        </p:spPr>
        <p:txBody>
          <a:bodyPr wrap="square" anchor="ctr" lIns="45720" rIns="45720" tIns="18288" bIns="18288">
            <a:spAutoFit/>
          </a:bodyPr>
          <a:lstStyle/>
          <a:p>
            <a:pPr algn="r"/>
            <a:r>
              <a:rPr sz="900" b="0" i="0">
                <a:solidFill>
                  <a:srgbClr val="707070"/>
                </a:solidFill>
                <a:latin typeface="Barlow"/>
                <a:cs typeface="Barlow"/>
              </a:rPr>
              <a:t>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